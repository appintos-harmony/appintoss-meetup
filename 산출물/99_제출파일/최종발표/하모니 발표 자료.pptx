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41"/>
  </p:notesMasterIdLst>
  <p:sldIdLst>
    <p:sldId id="290" r:id="rId2"/>
    <p:sldId id="291" r:id="rId3"/>
    <p:sldId id="324"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256" r:id="rId23"/>
    <p:sldId id="257" r:id="rId24"/>
    <p:sldId id="258" r:id="rId25"/>
    <p:sldId id="323" r:id="rId26"/>
    <p:sldId id="310" r:id="rId27"/>
    <p:sldId id="259"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4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16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50229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앱인토스 미니앱 하모니 팀입니다. 하모니는 코드를 몰라도 악기를 쌓아 혼자서도 합주를 만들고, 공유 코드 한 줄로 친구 연주 위에 내 악기를 얹는 음악 합주 앱입니다. 저희 팀은 기획·정책의 이상혁, UX·프론트 곽소정, 백엔드·데이터 김민혁, QA·릴리즈 양록빈 네 명입니다.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부분으로 진행합니다. 먼저 제품과 기능을 시연으로 보여드리고, 시스템 아키텍처, 그리고 교수님께서 강조하신 AI 활용 파이프라인을 자세히 다룬 뒤, 프로젝트 후기로 마무리합니다.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제품과 기능을 직접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하모니의 출발점은 저희가 직접 만들었던 손 제스처 AI입니다. 클로드로 만든 수어를 소리로 바꿔주는 번역기였는데, MediaPipe 온디바이스 손 인식을 카메라만으로 처리했습니다. 이 경험이 '카메라로 악기를 연주한다'는 하모니의 핵심 아이디어로 이어졌습니다.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해결은 네 가지입니다. 첫째, 피아노 기타 베이스 드럼을 터치하거나 카메라 제스처로 연주합니다. 둘째, 코드를 몰라도 코드 매트릭스에서 원하는 코드를 골라 반주합니다. 셋째, 한 사람이 여러 악기를 트랙으로 쌓아 혼자서도 합주를 완성합니다. 넷째, 공유 코드 한 줄로 다른 사람 트랙을 가져와 내 트랙 위에 얹습니다. 1.5초 폴링으로 음질과 싱크 문제 없이 비동기로 합쳐집니다.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합주는 사람, 장소, 악기, 시간이 동시에 맞아야 성립합니다. 오프라인 합주는 진입장벽이 높고, 온라인 실시간 합주는 네트워크 지연이 곧 음질과 싱크 붕괴로 이어져 7일 안에 안정화하기 어렵습니다. 그래서 저희는 실시간을 빼고, 비동기로 트랙을 얹는 방식으로 풀었습니다.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스튜디오는 곡을 만드는 작업 공간입니다. 손가락으로 누르거나 카메라 제스처로 연주하고, 코드 모드와 멜로디 모드를 오갑니다. 악기는 피아노 기타 베이스 드럼 네 종류입니다. 가운데는 기본 팝 4코드인 C, Am, F, G 패드이고, 오른쪽은 카메라로 손을 인식해 연주하는 제스처 모드, 그리고 멜로디 건반입니다.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커뮤니티에서는 다른 사람이 만든 합주를 들어보고, 좋아요와 댓글로 반응합니다. 마음에 드는 트랙은 내 작업에 가져와 그 위에 내 악기를 얹을 수 있고, 내 합주도 보드에 올릴 수 있습니다. 최신순과 인기순으로 둘러봅니다.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라이브로 보여드리겠습니다. 흐름은 다섯 단계입니다. 연주하고 녹음한 뒤 트랙을 추가하고, 여섯 자리 공유 코드를 발급받아, 다른 사람이 그 코드로 가져와 얹으면, 합주가 합쳐져 재생됩니다. 정직하게 말씀드리면, 토스 앱은 정식 등록과 심사 제출을 마쳤고 현재 검토 중입니다. 그래서 오늘 시연은 토스 WebView 안이 아니라 브라우저 HTTPS 주소에서 진행합니다. 백업으로 3분 녹화와 화면 캡처를 준비했습니다.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기획 단계에서 손으로 화면을 그렸습니다. 코드 매트릭스 와이어프레임을 보면, 실제 앱의 코드 고르기 화면이 그 스케치 그대로 구현된 걸 볼 수 있습니다. 손으로 그린 일곱 장의 와이어프레임이 화면과 흐름으로 그대로 살아있습니다. 전체 스케치는 부록에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시스템 아키텍처입니다. 외부 의존성 없이 단순하게 설계했고, 품질은 추정이 아니라 실측으로 보고합니다.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아키텍처의 핵심은 단순함입니다. 혼자 연주하는 솔로는 클라이언트 안에서 완결되고, 서버는 합주를 공유할 때만 씁니다. 토스 WebView 미니앱은 React 18, 타입스크립트, Vite 6, Granite 위에서 돌고, 오디오는 Tone.js, 손 인식은 MediaPipe, 내가 만든 곡은 localStorage에 기기에만 저장됩니다. 서버는 AWS EC2 한 대에 nginx와 node, SQLite뿐입니다. API의 외부 의존성은 0이고, 합주는 1.5초 폴링으로 반영되며, API는 127.0.0.1에만 바인드해 외부에 직접 노출되지 않습니다. 사용자 식별은 토스에선 getAnonymousKey를 실제 호출하고 브라우저에선 익명키를 쓰는 두 갈래입니다.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그리고 이건 추정이 아니라 실기기 증거입니다. 갤럭시 S23 홈 화면에 토스, 미니앱과 함께 하모니가 등록돼 있습니다. 설정 화면을 보면 실행 환경은 sandbox이고, 식별키는 toss_로 시작하는 실제 토스 익명키입니다. 토스 WebView에서 getAnonymousKey를 진짜로 호출한다는 증거입니다. TDS 렌더도 OK이고, 하모니는 익명 식별만 쓰고 개인정보는 수집하지 않습니다. 정직하게, 앱인토스는 정식 등록과 심사 제출을 마쳤고 현재 검토 중이라 승인은 아직입니다.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추정이 아니라 실측만 기록했습니다. 단위 테스트 58개 전부 통과, 통합 테스트 34개 전부 통과했고 그 안에 API 12, 보안 7, 클라이언트 6, 실기기 9가 들어갑니다. 블랙박스 보안은 7개 모두 통과, 프로덕션 빌드는 645.87 킬로바이트입니다. 도메인 로직과 API, 보안은 헤드리스로 자동 검증했고, 실기기 9건은 갤럭시 S23 울트라에서 사람이 눈으로 확인했습니다. 증빙은 EV-201부터 209까지 보유하고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교수님께서 강조하신 AI 활용 파이프라인입니다. 사람이 통제하는 자동화를 어떻게 구현했는지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활용의 원칙은 세 가지 역할 분리입니다. ChatGPT Pro와 Gemini Pro가 요구사항과 정책, 독립 감사와 출시 판정을 맡는 통제 역할, Claude Code가 저장소와 아키텍처, 통합 구현을 맡는 오케스트레이션, Codex가 격리 브랜치에서 구현하고 자동 테스트하는 역할입니다. 그리고 머지와 배포, 최종 책임은 사람이 집니다. 핵심은 구현하는 AI와 검토하는 AI를 다른 계열로 강제 분리해 자기 코드를 자기가 합격시키지 못하게 한 것, 그리고 AI끼리 직접 대화하지 않고 git 문서를 메시지 버스로 쓴 것입니다.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요구사항 한 줄이 배포까지 자동으로 흐릅니다. 요구사항은 작업지시서가 되고, 구현된 코드는 자동 검사기 여섯 가지를 통과해야 하며, 다른 계열 AI의 독립 검토를 거쳐 사람이 승인하면 커밋과 배포로 이어집니다. 어느 단계든 실패하면 라인이 멈추고 되돌립니다. 그리고 이 모든 게 말이 아니라 파일로 증명됩니다. 작업지시서 20건, 독립검토서 27건, 그리고 검증_전체 스크립트가 GitHub CI에서도 매번 재실행됩니다.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단계에서 AI 네 명을 회의실에 넣고 서로 반박시켰습니다. 각자 설계안을 내고, 서로의 약점을 공격하고, 합의안으로 통합한 뒤, 다른 AI가 독립 검수했습니다. 이 과정에서 화면 열세 개 이상이던 설계가 라우트 세 개로 줄었고, 전면 다크 테마는 비게임 심사 위험을 피하려고 라이트로 바뀌었습니다. 정직하게 말씀드리면, AI끼리 직접 대화한 게 아니라 사람이 같은 질문지를 각 실제 모델에 입력해 답을 붙여 토의시킨 것입니다.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 교수님께서 강조하신 부분입니다. Loop Engineering은 코드가 강제하는 자율 엔지니어링 루프입니다. 작업 하나를 고르고, 가드 게이트로 진행 여부를 판정하고, 허용된 경로 안에서만 구현하고, 타입체크와 테스트로 검증합니다. 검증이 실패하면 최대 두 번까지 자동 수리하고 다시 검증하며, 통과하지 못하면 라인이 멈춥니다. 통과하면 커밋하고, Codex가 독립 검토한 뒤, 사람을 기다리며 멈춥니다. 핵심은 안전 게이트가 프롬프트 재량이 아니라 종료코드로 강제된다는 점입니다. 실제로 1차 빌드에서 자동 게이트가 사람 눈 전에 구현 오류 두 건을 차단했습니다.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Engineering은 git을 메시지 버스로 쓰는 자동 평가 하네스입니다. 세 단계 방어로 보시면 됩니다. 가장 먼저 git 훅이 비밀값 커밋과 main 직접 push를 막습니다. 그 다음 검증_전체 스크립트가 여섯 가지 검사를 AND 게이트로 묶어 종료코드 하나로 판정합니다. 비밀값, 내부 링크, 산출물 15종, 작업지시서의 구현자와 검토자가 다른지, 팀 공유문서, 그리고 코드의 타입체크와 테스트입니다. 마지막으로 사람 승인 게이트입니다. main 병합은 조장 승인, 검증_전체 strict 통과, 독립검토서 세 조건을 모두 만족해야 합니다. 핵심은 AI가 자기 권한이나 게이트를 스스로 넓힐 수 없다는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앱인토스 미니앱 하모니 팀입니다. 하모니는 코드를 몰라도 악기를 쌓아 혼자서도 합주를 만들고, 공유 코드 한 줄로 친구 연주 위에 내 악기를 얹는 음악 합주 앱입니다. 저희 팀은 기획·정책의 이상혁, UX·프론트 곽소정, 백엔드·데이터 김민혁, QA·릴리즈 양록빈 네 명입니다.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제품과 기능을 직접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부분으로 진행합니다. 먼저 제품과 기능을 시연으로 보여드리고, 시스템 아키텍처, 그리고 교수님께서 강조하신 AI 활용 파이프라인을 자세히 다룬 뒤, 프로젝트 후기로 마무리합니다.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협업이 말이 아니라 파일로 남았다는 증거입니다. ChatGPT Pro가 발행한 작업지시서 20건, 다른 계열 AI가 교차 검토한 독립검토서 27건, 4-AI 적대적 토론 기록 2건, 그리고 루프 실행 로그와 결정 기록이 모두 git에 추적됩니다.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활용이 진짜인지 보여주는 사례입니다. 독립 검토가 블랙박스로 보안 결함 세 건을 찾아냈습니다. REVIEW-038이 No-Go 판정을 내려 머지를 막았고, 인가와 키 회전, XFF 처리를 수정한 뒤 REVIEW-040에서 보안 7대 7 통과와 사람 승인으로 Go가 됐습니다. 잡아낸 건 공개 세션 트랙 오염, 신고 키 회전으로 자동숨김 우회, X-Forwarded-For 위조로 레이트리밋 우회였습니다. AI 티가 안 나게 하는 답은 화려한 프롬프트가 아니라, 사람이 통제하는 검증 게이트입니다.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하모니의 출발점은 저희가 직접 만들었던 손 제스처 AI입니다. 클로드로 만든 수어를 소리로 바꿔주는 번역기였는데, MediaPipe 온디바이스 손 인식을 카메라만으로 처리했습니다. 이 경험이 '카메라로 악기를 연주한다'는 하모니의 핵심 아이디어로 이어졌습니다.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 만든 건 앱 하나가 아니라, 다음 앱을 반나절에 차릴 수 있는 AI 개발 공장 한 세트입니다. AI 작업자 설명서 11개, 자동화 스킬 10개, 규칙서 4개, 점검 스크립트 12개, git 훅 2개, CI 1개, 헌장 3개가 남았습니다. 다음 앱은 이걸 복사하고 이름만 치환한 뒤 git init하고 검증_전체를 통과시키면, 빈 공장이 아니라 첫날부터 가동되는 상태에서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결과와 한계, 배운 것을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솔직하게 정리하겠습니다. 한 것과 안 한 것을 섞지 않는 게 저희 원칙입니다. 완료한 것은 AWS HTTPS 운영과 스모크 통과, 단위 58과 보안 7, 타입체크 0 에러와 빌드 통과, 필수 산출물 15종입니다. 아직 남은 것은 토스 심사 승인 대기, TDS 부분 적용, 번들 코드 스플리팅입니다. 다음 단계는 심사 결과를 기다리며 실기기 자동 회귀와 표준 화면의 TDS 교체를 진행하는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프로젝트를 통해 배운 것을 정리합니다. 하네스 엔지니어링으로 역할별 권한을 나누고, 각자 자기 역할에 필요한 프롬프트를 직접 작성해 세부를 조정했으며, 역할 경계가 명확해 충돌 없이 빠르게 개발할 수 있었습니다. AI 시대에는 SNS로 트렌드를 점검하며 고객이 선호하면서도 차별화된 서비스를 만드는 감각이 필요하다고 느꼈습니다. 그리고 앱인토스 플랫폼 이해, 사람이 통제하는 AI 개발, 정직한 품질 보고, 기획부터 배포까지 전 사이클을 직접 경험했습니다.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질문 받겠습니다. 데이터 모델, 배포 인프라, 신뢰경계 DFD, 서비스 흐름도, 라이프사이클 상태도, AWS 아키텍처, 기획 와이어프레임, AI 협업 증거를 부록으로 준비했습니다.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부록입니다. 데이터 모델 ERD입니다. node와 sqlite 단일 파일로, sessions와 tracks, reactions, comments, comment_reports 다섯 엔터티이며 users나 auth 개체는 없습니다.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 인프라 구성도입니다. GitHub Actions 검증을 거쳐 사람 게이트를 통과하면, 프론트는 앱인토스 콘솔로, 백엔드는 AWS EC2로 두 갈래로 배포됩니다.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신뢰경계 데이터 흐름, DFD입니다. 기기에서 nginx로 TLS를 종단하고, node API는 127.0.0.1에서만 인가를 처리하며, SQLite가 데이터를 보관합니다. 유일한 공개 면은 nginx입니다.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합주 공유 서비스 흐름도입니다. 원작자가 공유 코드를 발급하면, 참여자가 그 코드로 받아 자기 트랙을 얹고, 1.5초 폴링으로 합주가 합쳐집니다. 솔로 연주는 로컬에서 완결되고 공유부터만 서버를 씁니다.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라이프사이클 상태도입니다. 곡 세션은 로컬 초안에서 게시, 숨김으로 이어지고, 댓글은 신고가 세 번 누적되면 시스템이 자동으로 숨깁니다.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배포 아키텍처입니다. 서울 리전 EC2 한 대에 nginx, node, SQLite를 올렸고, 백업 터널과 관리 경로를 점선으로 표시했습니다.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 단계에서 손으로 그린 와이어프레임 전체입니다. 코드 매트릭스, 악기와 스타일 선택, 멜로디 건반, 드럼, 기타까지 화면과 흐름을 손으로 먼저 설계했고, 실제 앱이 이 스케치를 그대로 따랐습니다.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Pretendard"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Pretendard"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Pretendard"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Pretendard"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32.jfif"/><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820" y="11430"/>
            <a:ext cx="18288000" cy="10287000"/>
          </a:xfrm>
          <a:prstGeom prst="rect">
            <a:avLst/>
          </a:prstGeom>
          <a:solidFill>
            <a:srgbClr val="3182F6"/>
          </a:solidFill>
          <a:ln/>
        </p:spPr>
        <p:txBody>
          <a:bodyPr/>
          <a:lstStyle/>
          <a:p>
            <a:endParaRPr lang="ko-KR" altLang="en-US" dirty="0"/>
          </a:p>
        </p:txBody>
      </p:sp>
      <p:sp>
        <p:nvSpPr>
          <p:cNvPr id="3" name="Shape 1"/>
          <p:cNvSpPr/>
          <p:nvPr/>
        </p:nvSpPr>
        <p:spPr>
          <a:xfrm>
            <a:off x="1238250" y="1143000"/>
            <a:ext cx="723900" cy="723900"/>
          </a:xfrm>
          <a:prstGeom prst="roundRect">
            <a:avLst>
              <a:gd name="adj" fmla="val 25000"/>
            </a:avLst>
          </a:prstGeom>
          <a:ln/>
          <a:effectLst>
            <a:outerShdw blurRad="228600" dist="76200" dir="5400000" algn="bl" rotWithShape="0">
              <a:srgbClr val="000000">
                <a:alpha val="22000"/>
              </a:srgbClr>
            </a:outerShdw>
          </a:effectLst>
        </p:spPr>
        <p:txBody>
          <a:bodyPr/>
          <a:lstStyle/>
          <a:p>
            <a:endParaRPr lang="ko-KR" altLang="en-US"/>
          </a:p>
        </p:txBody>
      </p:sp>
      <p:pic>
        <p:nvPicPr>
          <p:cNvPr id="4" name="Image 0" descr="preencoded.png"/>
          <p:cNvPicPr>
            <a:picLocks noChangeAspect="1"/>
          </p:cNvPicPr>
          <p:nvPr/>
        </p:nvPicPr>
        <p:blipFill>
          <a:blip r:embed="rId3"/>
          <a:stretch>
            <a:fillRect/>
          </a:stretch>
        </p:blipFill>
        <p:spPr>
          <a:xfrm>
            <a:off x="1238250" y="1143000"/>
            <a:ext cx="723900" cy="723900"/>
          </a:xfrm>
          <a:prstGeom prst="rect">
            <a:avLst/>
          </a:prstGeom>
        </p:spPr>
      </p:pic>
      <p:sp>
        <p:nvSpPr>
          <p:cNvPr id="5" name="Text 2"/>
          <p:cNvSpPr/>
          <p:nvPr/>
        </p:nvSpPr>
        <p:spPr>
          <a:xfrm>
            <a:off x="2152650" y="1312069"/>
            <a:ext cx="2309388" cy="423863"/>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alpha val="95000"/>
                  </a:srgbClr>
                </a:solidFill>
                <a:latin typeface="Pretendard" pitchFamily="34" charset="0"/>
                <a:ea typeface="Pretendard" panose="02000000000000000000" pitchFamily="2" charset="-127"/>
                <a:cs typeface="Pretendard" pitchFamily="34" charset="-120"/>
              </a:rPr>
              <a:t>하모니 · harmony</a:t>
            </a:r>
            <a:endParaRPr lang="en-US" sz="2100" dirty="0"/>
          </a:p>
        </p:txBody>
      </p:sp>
      <p:sp>
        <p:nvSpPr>
          <p:cNvPr id="6" name="Text 3"/>
          <p:cNvSpPr/>
          <p:nvPr/>
        </p:nvSpPr>
        <p:spPr>
          <a:xfrm>
            <a:off x="1238250" y="3143250"/>
            <a:ext cx="8591550" cy="466725"/>
          </a:xfrm>
          <a:prstGeom prst="rect">
            <a:avLst/>
          </a:prstGeom>
          <a:noFill/>
          <a:ln/>
        </p:spPr>
        <p:txBody>
          <a:bodyPr wrap="square" lIns="25400" tIns="25400" rIns="25400" bIns="25400" rtlCol="0" anchor="t">
            <a:normAutofit/>
          </a:bodyPr>
          <a:lstStyle/>
          <a:p>
            <a:pPr marL="0" indent="0" algn="l">
              <a:buNone/>
            </a:pPr>
            <a:r>
              <a:rPr lang="en-US" sz="2325" b="1" dirty="0">
                <a:solidFill>
                  <a:srgbClr val="FFFFFF">
                    <a:alpha val="8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앱인토스 미니앱 프로젝트 · with AI</a:t>
            </a:r>
            <a:endParaRPr lang="en-US" sz="232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7" name="Text 4"/>
          <p:cNvSpPr/>
          <p:nvPr/>
        </p:nvSpPr>
        <p:spPr>
          <a:xfrm>
            <a:off x="1238250" y="4025265"/>
            <a:ext cx="10229850" cy="2589163"/>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9300" b="1" kern="0" spc="-279"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혼자도 </a:t>
            </a:r>
            <a:r>
              <a:rPr lang="en-US" sz="9300" b="1" kern="0" spc="-279" dirty="0" err="1">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합주</a:t>
            </a:r>
            <a:r>
              <a:rPr lang="en-US" sz="9300" b="1" kern="0" spc="-279"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a:t>
            </a:r>
          </a:p>
          <a:p>
            <a:pPr marL="0" indent="0" algn="l">
              <a:lnSpc>
                <a:spcPct val="108000"/>
              </a:lnSpc>
              <a:buNone/>
            </a:pPr>
            <a:r>
              <a:rPr lang="en-US" sz="9300" b="1" kern="0" spc="-279" dirty="0" err="1">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코드로</a:t>
            </a:r>
            <a:r>
              <a:rPr lang="en-US" sz="9300" b="1" kern="0" spc="-279"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 합주</a:t>
            </a:r>
            <a:endParaRPr lang="en-US" sz="9300" b="1"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8" name="Text 5"/>
          <p:cNvSpPr/>
          <p:nvPr/>
        </p:nvSpPr>
        <p:spPr>
          <a:xfrm>
            <a:off x="1250950" y="6630938"/>
            <a:ext cx="8044815" cy="9525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FFFFFF">
                    <a:alpha val="9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코드 몰라도 악기를 쌓아 한 곡을 </a:t>
            </a:r>
            <a:r>
              <a:rPr lang="en-US" sz="2400" dirty="0" err="1">
                <a:solidFill>
                  <a:srgbClr val="FFFFFF">
                    <a:alpha val="9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만들고</a:t>
            </a:r>
            <a:r>
              <a:rPr lang="en-US" sz="2400" dirty="0">
                <a:solidFill>
                  <a:srgbClr val="FFFFFF">
                    <a:alpha val="9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a:t>
            </a:r>
          </a:p>
          <a:p>
            <a:pPr marL="0" indent="0" algn="l">
              <a:lnSpc>
                <a:spcPct val="150000"/>
              </a:lnSpc>
              <a:buNone/>
            </a:pPr>
            <a:r>
              <a:rPr lang="en-US" sz="2400" dirty="0" err="1">
                <a:solidFill>
                  <a:srgbClr val="FFFFFF">
                    <a:alpha val="9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공유</a:t>
            </a:r>
            <a:r>
              <a:rPr lang="en-US" sz="2400" dirty="0">
                <a:solidFill>
                  <a:srgbClr val="FFFFFF">
                    <a:alpha val="90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 코드 한 줄로 친구 연주 위에 내 악기를 얹는 앱</a:t>
            </a:r>
            <a:endParaRPr lang="en-US" sz="240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pic>
        <p:nvPicPr>
          <p:cNvPr id="20" name="그림 19">
            <a:extLst>
              <a:ext uri="{FF2B5EF4-FFF2-40B4-BE49-F238E27FC236}">
                <a16:creationId xmlns:a16="http://schemas.microsoft.com/office/drawing/2014/main" id="{96AF21F8-3F89-4D70-CAC4-4BA41179DE62}"/>
              </a:ext>
            </a:extLst>
          </p:cNvPr>
          <p:cNvPicPr>
            <a:picLocks noChangeAspect="1"/>
          </p:cNvPicPr>
          <p:nvPr/>
        </p:nvPicPr>
        <p:blipFill>
          <a:blip r:embed="rId4"/>
          <a:stretch>
            <a:fillRect/>
          </a:stretch>
        </p:blipFill>
        <p:spPr>
          <a:xfrm>
            <a:off x="12053887" y="1524000"/>
            <a:ext cx="5391151" cy="5359438"/>
          </a:xfrm>
          <a:prstGeom prst="rect">
            <a:avLst/>
          </a:prstGeom>
        </p:spPr>
      </p:pic>
    </p:spTree>
    <p:extLst>
      <p:ext uri="{BB962C8B-B14F-4D97-AF65-F5344CB8AC3E}">
        <p14:creationId xmlns:p14="http://schemas.microsoft.com/office/powerpoint/2010/main" val="3693017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3" name="Text 1"/>
          <p:cNvSpPr/>
          <p:nvPr/>
        </p:nvSpPr>
        <p:spPr>
          <a:xfrm>
            <a:off x="1238250" y="914400"/>
            <a:ext cx="17392650" cy="696441"/>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800" b="1" kern="0" spc="-144"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오늘 발표 순서</a:t>
            </a:r>
            <a:endParaRPr lang="en-US" sz="48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4" name="Shape 2"/>
          <p:cNvSpPr/>
          <p:nvPr/>
        </p:nvSpPr>
        <p:spPr>
          <a:xfrm>
            <a:off x="1238250" y="2937078"/>
            <a:ext cx="15811500" cy="9525"/>
          </a:xfrm>
          <a:prstGeom prst="rect">
            <a:avLst/>
          </a:prstGeom>
          <a:solidFill>
            <a:srgbClr val="E5E8EB"/>
          </a:solidFill>
          <a:ln/>
        </p:spPr>
        <p:txBody>
          <a:bodyPr/>
          <a:lstStyle/>
          <a:p>
            <a:endParaRPr lang="ko-KR" altLang="en-US" dirty="0">
              <a:latin typeface="Pretendard" panose="02000000000000000000" pitchFamily="2" charset="-127"/>
              <a:ea typeface="Pretendard" panose="02000000000000000000" pitchFamily="2" charset="-127"/>
            </a:endParaRPr>
          </a:p>
        </p:txBody>
      </p:sp>
      <p:sp>
        <p:nvSpPr>
          <p:cNvPr id="5" name="Text 3"/>
          <p:cNvSpPr/>
          <p:nvPr/>
        </p:nvSpPr>
        <p:spPr>
          <a:xfrm>
            <a:off x="1238250" y="3232353"/>
            <a:ext cx="838200" cy="576262"/>
          </a:xfrm>
          <a:prstGeom prst="rect">
            <a:avLst/>
          </a:prstGeom>
          <a:noFill/>
          <a:ln/>
        </p:spPr>
        <p:txBody>
          <a:bodyPr wrap="square" lIns="25400" tIns="25400" rIns="25400" bIns="25400" rtlCol="0" anchor="t">
            <a:normAutofit/>
          </a:bodyPr>
          <a:lstStyle/>
          <a:p>
            <a:pPr marL="0" indent="0" algn="l">
              <a:buNone/>
            </a:pPr>
            <a:r>
              <a:rPr lang="en-US" sz="3000" b="1" dirty="0">
                <a:solidFill>
                  <a:srgbClr val="3182F6"/>
                </a:solidFill>
                <a:latin typeface="Pretendard ExtraBold" panose="02000903000000020004" pitchFamily="50" charset="-127"/>
                <a:ea typeface="Pretendard ExtraBold" panose="02000903000000020004" pitchFamily="50" charset="-127"/>
                <a:cs typeface="Pretendard ExtraBold" panose="02000903000000020004" pitchFamily="50" charset="-127"/>
              </a:rPr>
              <a:t>01</a:t>
            </a:r>
            <a:endParaRPr lang="en-US" sz="30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6" name="Text 4"/>
          <p:cNvSpPr/>
          <p:nvPr/>
        </p:nvSpPr>
        <p:spPr>
          <a:xfrm>
            <a:off x="2381250" y="3232353"/>
            <a:ext cx="4400550"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제품 · 기능 시연</a:t>
            </a:r>
            <a:endParaRPr lang="en-US" sz="285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7" name="Text 5"/>
          <p:cNvSpPr/>
          <p:nvPr/>
        </p:nvSpPr>
        <p:spPr>
          <a:xfrm>
            <a:off x="6762750" y="3384753"/>
            <a:ext cx="6045436" cy="371475"/>
          </a:xfrm>
          <a:prstGeom prst="rect">
            <a:avLst/>
          </a:prstGeom>
          <a:noFill/>
          <a:ln/>
        </p:spPr>
        <p:txBody>
          <a:bodyPr wrap="square" lIns="25400" tIns="25400" rIns="25400" bIns="25400" rtlCol="0" anchor="t">
            <a:normAutofit/>
          </a:bodyPr>
          <a:lstStyle/>
          <a:p>
            <a:pPr marL="0" indent="0" algn="l">
              <a:buNone/>
            </a:pPr>
            <a:r>
              <a:rPr lang="en-US" sz="1800" dirty="0">
                <a:solidFill>
                  <a:srgbClr val="8B95A1"/>
                </a:solidFill>
                <a:latin typeface="Pretendard SemiBold" panose="02000703000000020004" pitchFamily="50" charset="-127"/>
                <a:ea typeface="Pretendard SemiBold" panose="02000703000000020004" pitchFamily="50" charset="-127"/>
                <a:cs typeface="Pretendard SemiBold" panose="02000703000000020004" pitchFamily="50" charset="-127"/>
              </a:rPr>
              <a:t>아이디어 · 문제 · 해결 · 스튜디오 · 커뮤니티 · 라이브 시연</a:t>
            </a:r>
            <a:endParaRPr lang="en-US" sz="180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8" name="Shape 6"/>
          <p:cNvSpPr/>
          <p:nvPr/>
        </p:nvSpPr>
        <p:spPr>
          <a:xfrm>
            <a:off x="1238250" y="4056266"/>
            <a:ext cx="15811500" cy="9525"/>
          </a:xfrm>
          <a:prstGeom prst="rect">
            <a:avLst/>
          </a:prstGeom>
          <a:solidFill>
            <a:srgbClr val="E5E8EB"/>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9" name="Text 7"/>
          <p:cNvSpPr/>
          <p:nvPr/>
        </p:nvSpPr>
        <p:spPr>
          <a:xfrm>
            <a:off x="1238250" y="4351541"/>
            <a:ext cx="838200" cy="576262"/>
          </a:xfrm>
          <a:prstGeom prst="rect">
            <a:avLst/>
          </a:prstGeom>
          <a:noFill/>
          <a:ln/>
        </p:spPr>
        <p:txBody>
          <a:bodyPr wrap="square" lIns="25400" tIns="25400" rIns="25400" bIns="25400" rtlCol="0" anchor="t">
            <a:normAutofit/>
          </a:bodyPr>
          <a:lstStyle/>
          <a:p>
            <a:pPr marL="0" indent="0" algn="l">
              <a:buNone/>
            </a:pPr>
            <a:r>
              <a:rPr lang="en-US" sz="3000" b="1" dirty="0">
                <a:solidFill>
                  <a:srgbClr val="3182F6"/>
                </a:solidFill>
                <a:latin typeface="Pretendard ExtraBold" panose="02000903000000020004" pitchFamily="50" charset="-127"/>
                <a:ea typeface="Pretendard ExtraBold" panose="02000903000000020004" pitchFamily="50" charset="-127"/>
                <a:cs typeface="Pretendard ExtraBold" panose="02000903000000020004" pitchFamily="50" charset="-127"/>
              </a:rPr>
              <a:t>02</a:t>
            </a:r>
            <a:endParaRPr lang="en-US" sz="30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0" name="Text 8"/>
          <p:cNvSpPr/>
          <p:nvPr/>
        </p:nvSpPr>
        <p:spPr>
          <a:xfrm>
            <a:off x="2381250" y="4351541"/>
            <a:ext cx="4400550"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시스템 아키텍처</a:t>
            </a:r>
            <a:endParaRPr lang="en-US" sz="285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1" name="Text 9"/>
          <p:cNvSpPr/>
          <p:nvPr/>
        </p:nvSpPr>
        <p:spPr>
          <a:xfrm>
            <a:off x="6762750" y="4503941"/>
            <a:ext cx="517809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8B95A1"/>
                </a:solidFill>
                <a:latin typeface="Pretendard SemiBold" panose="02000703000000020004" pitchFamily="50" charset="-127"/>
                <a:ea typeface="Pretendard SemiBold" panose="02000703000000020004" pitchFamily="50" charset="-127"/>
                <a:cs typeface="Pretendard SemiBold" panose="02000703000000020004" pitchFamily="50" charset="-127"/>
              </a:rPr>
              <a:t>외부 의존성 0의 단순한 스택 · 추정이 아니라 실측</a:t>
            </a:r>
            <a:endParaRPr lang="en-US" sz="180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12" name="Shape 10"/>
          <p:cNvSpPr/>
          <p:nvPr/>
        </p:nvSpPr>
        <p:spPr>
          <a:xfrm>
            <a:off x="1238250" y="5175453"/>
            <a:ext cx="15811500" cy="9525"/>
          </a:xfrm>
          <a:prstGeom prst="rect">
            <a:avLst/>
          </a:prstGeom>
          <a:solidFill>
            <a:srgbClr val="E5E8EB"/>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3" name="Text 11"/>
          <p:cNvSpPr/>
          <p:nvPr/>
        </p:nvSpPr>
        <p:spPr>
          <a:xfrm>
            <a:off x="1238250" y="5470728"/>
            <a:ext cx="838200" cy="576262"/>
          </a:xfrm>
          <a:prstGeom prst="rect">
            <a:avLst/>
          </a:prstGeom>
          <a:noFill/>
          <a:ln/>
        </p:spPr>
        <p:txBody>
          <a:bodyPr wrap="square" lIns="25400" tIns="25400" rIns="25400" bIns="25400" rtlCol="0" anchor="t">
            <a:normAutofit/>
          </a:bodyPr>
          <a:lstStyle/>
          <a:p>
            <a:pPr marL="0" indent="0" algn="l">
              <a:buNone/>
            </a:pPr>
            <a:r>
              <a:rPr lang="en-US" sz="3000" b="1" dirty="0">
                <a:solidFill>
                  <a:srgbClr val="3182F6"/>
                </a:solidFill>
                <a:latin typeface="Pretendard ExtraBold" panose="02000903000000020004" pitchFamily="50" charset="-127"/>
                <a:ea typeface="Pretendard ExtraBold" panose="02000903000000020004" pitchFamily="50" charset="-127"/>
                <a:cs typeface="Pretendard ExtraBold" panose="02000903000000020004" pitchFamily="50" charset="-127"/>
              </a:rPr>
              <a:t>03</a:t>
            </a:r>
            <a:endParaRPr lang="en-US" sz="30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4" name="Text 12"/>
          <p:cNvSpPr/>
          <p:nvPr/>
        </p:nvSpPr>
        <p:spPr>
          <a:xfrm>
            <a:off x="2381250" y="5470728"/>
            <a:ext cx="4400550"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AI 활용 파이프라인</a:t>
            </a:r>
            <a:endParaRPr lang="en-US" sz="285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5" name="Text 13"/>
          <p:cNvSpPr/>
          <p:nvPr/>
        </p:nvSpPr>
        <p:spPr>
          <a:xfrm>
            <a:off x="6762750" y="5623128"/>
            <a:ext cx="5801916" cy="371475"/>
          </a:xfrm>
          <a:prstGeom prst="rect">
            <a:avLst/>
          </a:prstGeom>
          <a:noFill/>
          <a:ln/>
        </p:spPr>
        <p:txBody>
          <a:bodyPr wrap="square" lIns="25400" tIns="25400" rIns="25400" bIns="25400" rtlCol="0" anchor="t">
            <a:normAutofit/>
          </a:bodyPr>
          <a:lstStyle/>
          <a:p>
            <a:pPr marL="0" indent="0" algn="l">
              <a:buNone/>
            </a:pPr>
            <a:r>
              <a:rPr lang="en-US" sz="1800" dirty="0">
                <a:solidFill>
                  <a:srgbClr val="8B95A1"/>
                </a:solidFill>
                <a:latin typeface="Pretendard SemiBold" panose="02000703000000020004" pitchFamily="50" charset="-127"/>
                <a:ea typeface="Pretendard SemiBold" panose="02000703000000020004" pitchFamily="50" charset="-127"/>
                <a:cs typeface="Pretendard SemiBold" panose="02000703000000020004" pitchFamily="50" charset="-127"/>
              </a:rPr>
              <a:t>Loop와 Harness Engineering, 사람이 통제하는 자동화</a:t>
            </a:r>
            <a:endParaRPr lang="en-US" sz="180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16" name="Shape 14"/>
          <p:cNvSpPr/>
          <p:nvPr/>
        </p:nvSpPr>
        <p:spPr>
          <a:xfrm>
            <a:off x="1238250" y="7413828"/>
            <a:ext cx="15811500" cy="9525"/>
          </a:xfrm>
          <a:prstGeom prst="rect">
            <a:avLst/>
          </a:prstGeom>
          <a:solidFill>
            <a:srgbClr val="E5E8EB"/>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7" name="Shape 15"/>
          <p:cNvSpPr/>
          <p:nvPr/>
        </p:nvSpPr>
        <p:spPr>
          <a:xfrm>
            <a:off x="1238250" y="6294641"/>
            <a:ext cx="15811500" cy="9525"/>
          </a:xfrm>
          <a:prstGeom prst="rect">
            <a:avLst/>
          </a:prstGeom>
          <a:solidFill>
            <a:srgbClr val="E5E8EB"/>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8" name="Text 16"/>
          <p:cNvSpPr/>
          <p:nvPr/>
        </p:nvSpPr>
        <p:spPr>
          <a:xfrm>
            <a:off x="1238250" y="6589916"/>
            <a:ext cx="838200" cy="576262"/>
          </a:xfrm>
          <a:prstGeom prst="rect">
            <a:avLst/>
          </a:prstGeom>
          <a:noFill/>
          <a:ln/>
        </p:spPr>
        <p:txBody>
          <a:bodyPr wrap="square" lIns="25400" tIns="25400" rIns="25400" bIns="25400" rtlCol="0" anchor="t">
            <a:normAutofit/>
          </a:bodyPr>
          <a:lstStyle/>
          <a:p>
            <a:pPr marL="0" indent="0" algn="l">
              <a:buNone/>
            </a:pPr>
            <a:r>
              <a:rPr lang="en-US" sz="3000" b="1" dirty="0">
                <a:solidFill>
                  <a:srgbClr val="3182F6"/>
                </a:solidFill>
                <a:latin typeface="Pretendard ExtraBold" panose="02000903000000020004" pitchFamily="50" charset="-127"/>
                <a:ea typeface="Pretendard ExtraBold" panose="02000903000000020004" pitchFamily="50" charset="-127"/>
                <a:cs typeface="Pretendard ExtraBold" panose="02000903000000020004" pitchFamily="50" charset="-127"/>
              </a:rPr>
              <a:t>04</a:t>
            </a:r>
            <a:endParaRPr lang="en-US" sz="30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9" name="Text 17"/>
          <p:cNvSpPr/>
          <p:nvPr/>
        </p:nvSpPr>
        <p:spPr>
          <a:xfrm>
            <a:off x="2381250" y="6589916"/>
            <a:ext cx="4400550"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프로젝트 후기</a:t>
            </a:r>
            <a:endParaRPr lang="en-US" sz="285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20" name="Text 18"/>
          <p:cNvSpPr/>
          <p:nvPr/>
        </p:nvSpPr>
        <p:spPr>
          <a:xfrm>
            <a:off x="6762750" y="6742316"/>
            <a:ext cx="3502514" cy="371475"/>
          </a:xfrm>
          <a:prstGeom prst="rect">
            <a:avLst/>
          </a:prstGeom>
          <a:noFill/>
          <a:ln/>
        </p:spPr>
        <p:txBody>
          <a:bodyPr wrap="square" lIns="25400" tIns="25400" rIns="25400" bIns="25400" rtlCol="0" anchor="t">
            <a:normAutofit/>
          </a:bodyPr>
          <a:lstStyle/>
          <a:p>
            <a:pPr marL="0" indent="0" algn="l">
              <a:buNone/>
            </a:pPr>
            <a:r>
              <a:rPr lang="en-US" sz="1800" dirty="0">
                <a:solidFill>
                  <a:srgbClr val="8B95A1"/>
                </a:solidFill>
                <a:latin typeface="Pretendard SemiBold" panose="02000703000000020004" pitchFamily="50" charset="-127"/>
                <a:ea typeface="Pretendard SemiBold" panose="02000703000000020004" pitchFamily="50" charset="-127"/>
                <a:cs typeface="Pretendard SemiBold" panose="02000703000000020004" pitchFamily="50" charset="-127"/>
              </a:rPr>
              <a:t>결과 · 한계 · 다음, 그리고 배운 것</a:t>
            </a:r>
            <a:endParaRPr lang="en-US" sz="180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21" name="Text 19"/>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000000000000000" pitchFamily="2" charset="-127"/>
                <a:ea typeface="Pretendard" panose="02000000000000000000" pitchFamily="2" charset="-127"/>
                <a:cs typeface="Pretendard" pitchFamily="34" charset="-120"/>
              </a:rPr>
              <a:t>하모니 · 앱인토스 미니앱</a:t>
            </a:r>
            <a:endParaRPr lang="en-US" sz="1425" dirty="0">
              <a:latin typeface="Pretendard" panose="02000000000000000000" pitchFamily="2" charset="-127"/>
              <a:ea typeface="Pretendard" panose="02000000000000000000" pitchFamily="2" charset="-127"/>
            </a:endParaRPr>
          </a:p>
        </p:txBody>
      </p:sp>
    </p:spTree>
    <p:extLst>
      <p:ext uri="{BB962C8B-B14F-4D97-AF65-F5344CB8AC3E}">
        <p14:creationId xmlns:p14="http://schemas.microsoft.com/office/powerpoint/2010/main" val="474485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hape 3">
            <a:extLst>
              <a:ext uri="{FF2B5EF4-FFF2-40B4-BE49-F238E27FC236}">
                <a16:creationId xmlns:a16="http://schemas.microsoft.com/office/drawing/2014/main" id="{E7A717A3-C4E8-A39A-02F5-B3427B79A663}"/>
              </a:ext>
            </a:extLst>
          </p:cNvPr>
          <p:cNvSpPr/>
          <p:nvPr/>
        </p:nvSpPr>
        <p:spPr>
          <a:xfrm>
            <a:off x="13250090" y="2648277"/>
            <a:ext cx="3606776" cy="5601819"/>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49" name="Shape 3">
            <a:extLst>
              <a:ext uri="{FF2B5EF4-FFF2-40B4-BE49-F238E27FC236}">
                <a16:creationId xmlns:a16="http://schemas.microsoft.com/office/drawing/2014/main" id="{2A3EE257-1084-016E-51F4-EE6C84252AE1}"/>
              </a:ext>
            </a:extLst>
          </p:cNvPr>
          <p:cNvSpPr/>
          <p:nvPr/>
        </p:nvSpPr>
        <p:spPr>
          <a:xfrm>
            <a:off x="9253828" y="2648279"/>
            <a:ext cx="3606776" cy="5601819"/>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47" name="Shape 3">
            <a:extLst>
              <a:ext uri="{FF2B5EF4-FFF2-40B4-BE49-F238E27FC236}">
                <a16:creationId xmlns:a16="http://schemas.microsoft.com/office/drawing/2014/main" id="{1E154219-FEA6-2702-6A73-72350959A5CD}"/>
              </a:ext>
            </a:extLst>
          </p:cNvPr>
          <p:cNvSpPr/>
          <p:nvPr/>
        </p:nvSpPr>
        <p:spPr>
          <a:xfrm>
            <a:off x="5367600" y="2648278"/>
            <a:ext cx="3606776" cy="5601819"/>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2" name="TextBox 1">
            <a:extLst>
              <a:ext uri="{FF2B5EF4-FFF2-40B4-BE49-F238E27FC236}">
                <a16:creationId xmlns:a16="http://schemas.microsoft.com/office/drawing/2014/main" id="{F84BFFE9-101A-7439-F547-DF0E53F40232}"/>
              </a:ext>
            </a:extLst>
          </p:cNvPr>
          <p:cNvSpPr txBox="1"/>
          <p:nvPr/>
        </p:nvSpPr>
        <p:spPr>
          <a:xfrm>
            <a:off x="1288142" y="914215"/>
            <a:ext cx="2416046" cy="769441"/>
          </a:xfrm>
          <a:prstGeom prst="rect">
            <a:avLst/>
          </a:prstGeom>
          <a:noFill/>
        </p:spPr>
        <p:txBody>
          <a:bodyPr wrap="none" rtlCol="0">
            <a:spAutoFit/>
          </a:bodyPr>
          <a:lstStyle/>
          <a:p>
            <a:r>
              <a:rPr lang="ko-KR" altLang="en-US" sz="4400" b="1" dirty="0">
                <a:latin typeface="Pretendard Black" panose="02000A03000000020004" pitchFamily="50" charset="-127"/>
                <a:ea typeface="Pretendard Black" panose="02000A03000000020004" pitchFamily="50" charset="-127"/>
                <a:cs typeface="Pretendard Black" panose="02000A03000000020004" pitchFamily="50" charset="-127"/>
              </a:rPr>
              <a:t>역할 분배 </a:t>
            </a:r>
          </a:p>
        </p:txBody>
      </p:sp>
      <p:sp>
        <p:nvSpPr>
          <p:cNvPr id="6" name="Shape 2">
            <a:extLst>
              <a:ext uri="{FF2B5EF4-FFF2-40B4-BE49-F238E27FC236}">
                <a16:creationId xmlns:a16="http://schemas.microsoft.com/office/drawing/2014/main" id="{56586770-6CB7-6AC2-CBF8-A4228D3D87C2}"/>
              </a:ext>
            </a:extLst>
          </p:cNvPr>
          <p:cNvSpPr/>
          <p:nvPr/>
        </p:nvSpPr>
        <p:spPr>
          <a:xfrm>
            <a:off x="1281794" y="2182341"/>
            <a:ext cx="15811500" cy="9525"/>
          </a:xfrm>
          <a:prstGeom prst="rect">
            <a:avLst/>
          </a:prstGeom>
          <a:solidFill>
            <a:srgbClr val="E5E8EB"/>
          </a:solidFill>
          <a:ln/>
        </p:spPr>
        <p:txBody>
          <a:bodyPr/>
          <a:lstStyle/>
          <a:p>
            <a:endParaRPr lang="ko-KR" altLang="en-US" dirty="0">
              <a:latin typeface="Pretendard" panose="02000000000000000000" pitchFamily="2" charset="-127"/>
              <a:ea typeface="Pretendard" panose="02000000000000000000" pitchFamily="2" charset="-127"/>
            </a:endParaRPr>
          </a:p>
        </p:txBody>
      </p:sp>
      <p:sp>
        <p:nvSpPr>
          <p:cNvPr id="12" name="Shape 2">
            <a:extLst>
              <a:ext uri="{FF2B5EF4-FFF2-40B4-BE49-F238E27FC236}">
                <a16:creationId xmlns:a16="http://schemas.microsoft.com/office/drawing/2014/main" id="{30F81FD8-17A0-BB3E-BAB6-068B5455D3E4}"/>
              </a:ext>
            </a:extLst>
          </p:cNvPr>
          <p:cNvSpPr/>
          <p:nvPr/>
        </p:nvSpPr>
        <p:spPr>
          <a:xfrm>
            <a:off x="1331686" y="8706512"/>
            <a:ext cx="15811500" cy="9525"/>
          </a:xfrm>
          <a:prstGeom prst="rect">
            <a:avLst/>
          </a:prstGeom>
          <a:solidFill>
            <a:srgbClr val="E5E8EB"/>
          </a:solidFill>
          <a:ln/>
        </p:spPr>
        <p:txBody>
          <a:bodyPr/>
          <a:lstStyle/>
          <a:p>
            <a:endParaRPr lang="ko-KR" altLang="en-US" dirty="0">
              <a:latin typeface="Pretendard" panose="02000000000000000000" pitchFamily="2" charset="-127"/>
              <a:ea typeface="Pretendard" panose="02000000000000000000" pitchFamily="2" charset="-127"/>
            </a:endParaRPr>
          </a:p>
        </p:txBody>
      </p:sp>
      <p:grpSp>
        <p:nvGrpSpPr>
          <p:cNvPr id="32" name="그룹 31">
            <a:extLst>
              <a:ext uri="{FF2B5EF4-FFF2-40B4-BE49-F238E27FC236}">
                <a16:creationId xmlns:a16="http://schemas.microsoft.com/office/drawing/2014/main" id="{9FC36574-8417-6A94-CC6A-D66A694BD1A7}"/>
              </a:ext>
            </a:extLst>
          </p:cNvPr>
          <p:cNvGrpSpPr/>
          <p:nvPr/>
        </p:nvGrpSpPr>
        <p:grpSpPr>
          <a:xfrm>
            <a:off x="6474322" y="6565900"/>
            <a:ext cx="1393330" cy="776255"/>
            <a:chOff x="6103257" y="5143500"/>
            <a:chExt cx="1393330" cy="776255"/>
          </a:xfrm>
        </p:grpSpPr>
        <p:sp>
          <p:nvSpPr>
            <p:cNvPr id="16" name="TextBox 15">
              <a:extLst>
                <a:ext uri="{FF2B5EF4-FFF2-40B4-BE49-F238E27FC236}">
                  <a16:creationId xmlns:a16="http://schemas.microsoft.com/office/drawing/2014/main" id="{FCBA8DA3-05E2-8AF4-9237-C4F6F5C46552}"/>
                </a:ext>
              </a:extLst>
            </p:cNvPr>
            <p:cNvSpPr txBox="1"/>
            <p:nvPr/>
          </p:nvSpPr>
          <p:spPr>
            <a:xfrm>
              <a:off x="6103257" y="5143500"/>
              <a:ext cx="1393330" cy="369332"/>
            </a:xfrm>
            <a:prstGeom prst="rect">
              <a:avLst/>
            </a:prstGeom>
            <a:noFill/>
          </p:spPr>
          <p:txBody>
            <a:bodyPr wrap="none" rtlCol="0">
              <a:spAutoFit/>
            </a:bodyPr>
            <a:lstStyle/>
            <a:p>
              <a:r>
                <a:rPr lang="ko-KR" altLang="en-US" dirty="0" err="1">
                  <a:latin typeface="Pretendard SemiBold" panose="02000703000000020004" pitchFamily="50" charset="-127"/>
                  <a:ea typeface="Pretendard SemiBold" panose="02000703000000020004" pitchFamily="50" charset="-127"/>
                  <a:cs typeface="Pretendard SemiBold" panose="02000703000000020004" pitchFamily="50" charset="-127"/>
                </a:rPr>
                <a:t>양록빈</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팀원</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endPar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18" name="TextBox 17">
              <a:extLst>
                <a:ext uri="{FF2B5EF4-FFF2-40B4-BE49-F238E27FC236}">
                  <a16:creationId xmlns:a16="http://schemas.microsoft.com/office/drawing/2014/main" id="{DCD34124-5563-02BA-D9DE-1646C8D2B6BD}"/>
                </a:ext>
              </a:extLst>
            </p:cNvPr>
            <p:cNvSpPr txBox="1"/>
            <p:nvPr/>
          </p:nvSpPr>
          <p:spPr>
            <a:xfrm>
              <a:off x="6165774" y="5550423"/>
              <a:ext cx="1268296" cy="369332"/>
            </a:xfrm>
            <a:prstGeom prst="rect">
              <a:avLst/>
            </a:prstGeom>
            <a:noFill/>
          </p:spPr>
          <p:txBody>
            <a:bodyPr wrap="none" rtlCol="0">
              <a:spAutoFit/>
            </a:bodyPr>
            <a:lstStyle/>
            <a:p>
              <a:r>
                <a:rPr lang="en-US" altLang="ko-KR" dirty="0">
                  <a:latin typeface="Pretendard" panose="02000503000000020004" pitchFamily="50" charset="-127"/>
                  <a:ea typeface="Pretendard" panose="02000503000000020004" pitchFamily="50" charset="-127"/>
                  <a:cs typeface="Pretendard" panose="02000503000000020004" pitchFamily="50" charset="-127"/>
                </a:rPr>
                <a:t>QA</a:t>
              </a:r>
              <a:r>
                <a:rPr lang="ko-KR" altLang="en-US" dirty="0">
                  <a:latin typeface="Pretendard" panose="02000503000000020004" pitchFamily="50" charset="-127"/>
                  <a:ea typeface="Pretendard" panose="02000503000000020004" pitchFamily="50" charset="-127"/>
                  <a:cs typeface="Pretendard" panose="02000503000000020004" pitchFamily="50" charset="-127"/>
                </a:rPr>
                <a:t> </a:t>
              </a:r>
              <a:r>
                <a:rPr lang="en-US" altLang="ko-KR" dirty="0">
                  <a:latin typeface="Pretendard" panose="02000503000000020004" pitchFamily="50" charset="-127"/>
                  <a:ea typeface="Pretendard" panose="02000503000000020004" pitchFamily="50" charset="-127"/>
                  <a:cs typeface="Pretendard" panose="02000503000000020004" pitchFamily="50" charset="-127"/>
                </a:rPr>
                <a:t>·</a:t>
              </a:r>
              <a:r>
                <a:rPr lang="ko-KR" altLang="en-US" dirty="0">
                  <a:latin typeface="Pretendard" panose="02000503000000020004" pitchFamily="50" charset="-127"/>
                  <a:ea typeface="Pretendard" panose="02000503000000020004" pitchFamily="50" charset="-127"/>
                  <a:cs typeface="Pretendard" panose="02000503000000020004" pitchFamily="50" charset="-127"/>
                </a:rPr>
                <a:t> 릴리즈</a:t>
              </a:r>
              <a:endParaRPr lang="en-US" altLang="ko-KR"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33" name="그룹 32">
            <a:extLst>
              <a:ext uri="{FF2B5EF4-FFF2-40B4-BE49-F238E27FC236}">
                <a16:creationId xmlns:a16="http://schemas.microsoft.com/office/drawing/2014/main" id="{9F74F791-D5F0-4D5A-761A-B1E2F285C678}"/>
              </a:ext>
            </a:extLst>
          </p:cNvPr>
          <p:cNvGrpSpPr/>
          <p:nvPr/>
        </p:nvGrpSpPr>
        <p:grpSpPr>
          <a:xfrm>
            <a:off x="10360551" y="6565900"/>
            <a:ext cx="1393330" cy="792843"/>
            <a:chOff x="9496372" y="5143500"/>
            <a:chExt cx="1393330" cy="792843"/>
          </a:xfrm>
        </p:grpSpPr>
        <p:sp>
          <p:nvSpPr>
            <p:cNvPr id="20" name="TextBox 19">
              <a:extLst>
                <a:ext uri="{FF2B5EF4-FFF2-40B4-BE49-F238E27FC236}">
                  <a16:creationId xmlns:a16="http://schemas.microsoft.com/office/drawing/2014/main" id="{AE4129D2-3849-9F49-1B00-9BC8E14601BA}"/>
                </a:ext>
              </a:extLst>
            </p:cNvPr>
            <p:cNvSpPr txBox="1"/>
            <p:nvPr/>
          </p:nvSpPr>
          <p:spPr>
            <a:xfrm>
              <a:off x="9496372" y="5143500"/>
              <a:ext cx="1393330" cy="369332"/>
            </a:xfrm>
            <a:prstGeom prst="rect">
              <a:avLst/>
            </a:prstGeom>
            <a:noFill/>
          </p:spPr>
          <p:txBody>
            <a:bodyPr wrap="none" rtlCol="0">
              <a:spAutoFit/>
            </a:bodyPr>
            <a:lstStyle/>
            <a:p>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김민혁 </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팀원</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endPar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22" name="TextBox 21">
              <a:extLst>
                <a:ext uri="{FF2B5EF4-FFF2-40B4-BE49-F238E27FC236}">
                  <a16:creationId xmlns:a16="http://schemas.microsoft.com/office/drawing/2014/main" id="{12ED4FB3-343F-FD93-8DD1-1F194A3A80D0}"/>
                </a:ext>
              </a:extLst>
            </p:cNvPr>
            <p:cNvSpPr txBox="1"/>
            <p:nvPr/>
          </p:nvSpPr>
          <p:spPr>
            <a:xfrm>
              <a:off x="9572071" y="5567011"/>
              <a:ext cx="1314784" cy="369332"/>
            </a:xfrm>
            <a:prstGeom prst="rect">
              <a:avLst/>
            </a:prstGeom>
            <a:noFill/>
          </p:spPr>
          <p:txBody>
            <a:bodyPr wrap="none" rtlCol="0">
              <a:spAutoFit/>
            </a:bodyPr>
            <a:lstStyle/>
            <a:p>
              <a:r>
                <a:rPr lang="ko-KR" altLang="en-US" dirty="0" err="1">
                  <a:latin typeface="Pretendard" panose="02000503000000020004" pitchFamily="50" charset="-127"/>
                  <a:ea typeface="Pretendard" panose="02000503000000020004" pitchFamily="50" charset="-127"/>
                  <a:cs typeface="Pretendard" panose="02000503000000020004" pitchFamily="50" charset="-127"/>
                </a:rPr>
                <a:t>백엔드</a:t>
              </a:r>
              <a:r>
                <a:rPr lang="ko-KR" altLang="en-US" dirty="0">
                  <a:latin typeface="Pretendard" panose="02000503000000020004" pitchFamily="50" charset="-127"/>
                  <a:ea typeface="Pretendard" panose="02000503000000020004" pitchFamily="50" charset="-127"/>
                  <a:cs typeface="Pretendard" panose="02000503000000020004" pitchFamily="50" charset="-127"/>
                </a:rPr>
                <a:t> </a:t>
              </a:r>
              <a:r>
                <a:rPr lang="en-US" altLang="ko-KR" dirty="0">
                  <a:latin typeface="Pretendard" panose="02000503000000020004" pitchFamily="50" charset="-127"/>
                  <a:ea typeface="Pretendard" panose="02000503000000020004" pitchFamily="50" charset="-127"/>
                  <a:cs typeface="Pretendard" panose="02000503000000020004" pitchFamily="50" charset="-127"/>
                </a:rPr>
                <a:t>· DB</a:t>
              </a:r>
              <a:r>
                <a:rPr lang="ko-KR" altLang="en-US" dirty="0">
                  <a:latin typeface="Pretendard" panose="02000503000000020004" pitchFamily="50" charset="-127"/>
                  <a:ea typeface="Pretendard" panose="02000503000000020004" pitchFamily="50" charset="-127"/>
                  <a:cs typeface="Pretendard" panose="02000503000000020004" pitchFamily="50" charset="-127"/>
                </a:rPr>
                <a:t> </a:t>
              </a:r>
              <a:endParaRPr lang="en-US" altLang="ko-KR"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34" name="그룹 33">
            <a:extLst>
              <a:ext uri="{FF2B5EF4-FFF2-40B4-BE49-F238E27FC236}">
                <a16:creationId xmlns:a16="http://schemas.microsoft.com/office/drawing/2014/main" id="{04B28F77-18AB-345B-65BA-FC6EC4123370}"/>
              </a:ext>
            </a:extLst>
          </p:cNvPr>
          <p:cNvGrpSpPr/>
          <p:nvPr/>
        </p:nvGrpSpPr>
        <p:grpSpPr>
          <a:xfrm>
            <a:off x="14352814" y="6565900"/>
            <a:ext cx="1393330" cy="814996"/>
            <a:chOff x="12889487" y="5111234"/>
            <a:chExt cx="1393330" cy="814996"/>
          </a:xfrm>
        </p:grpSpPr>
        <p:sp>
          <p:nvSpPr>
            <p:cNvPr id="24" name="TextBox 23">
              <a:extLst>
                <a:ext uri="{FF2B5EF4-FFF2-40B4-BE49-F238E27FC236}">
                  <a16:creationId xmlns:a16="http://schemas.microsoft.com/office/drawing/2014/main" id="{2C07AF8E-81D6-6B3D-AFAC-5BC88B40471A}"/>
                </a:ext>
              </a:extLst>
            </p:cNvPr>
            <p:cNvSpPr txBox="1"/>
            <p:nvPr/>
          </p:nvSpPr>
          <p:spPr>
            <a:xfrm>
              <a:off x="12889487" y="5111234"/>
              <a:ext cx="1393330" cy="369332"/>
            </a:xfrm>
            <a:prstGeom prst="rect">
              <a:avLst/>
            </a:prstGeom>
            <a:noFill/>
          </p:spPr>
          <p:txBody>
            <a:bodyPr wrap="none" rtlCol="0">
              <a:spAutoFit/>
            </a:bodyPr>
            <a:lstStyle/>
            <a:p>
              <a:r>
                <a:rPr lang="ko-KR" altLang="en-US" dirty="0" err="1">
                  <a:latin typeface="Pretendard SemiBold" panose="02000703000000020004" pitchFamily="50" charset="-127"/>
                  <a:ea typeface="Pretendard SemiBold" panose="02000703000000020004" pitchFamily="50" charset="-127"/>
                  <a:cs typeface="Pretendard SemiBold" panose="02000703000000020004" pitchFamily="50" charset="-127"/>
                </a:rPr>
                <a:t>곽소정</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 </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팀원</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endPar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30" name="Text 10">
              <a:extLst>
                <a:ext uri="{FF2B5EF4-FFF2-40B4-BE49-F238E27FC236}">
                  <a16:creationId xmlns:a16="http://schemas.microsoft.com/office/drawing/2014/main" id="{5C1A138B-45B8-AEA0-2A26-9444F0B170AA}"/>
                </a:ext>
              </a:extLst>
            </p:cNvPr>
            <p:cNvSpPr/>
            <p:nvPr/>
          </p:nvSpPr>
          <p:spPr>
            <a:xfrm>
              <a:off x="13024857" y="5567011"/>
              <a:ext cx="1122589" cy="359219"/>
            </a:xfrm>
            <a:prstGeom prst="rect">
              <a:avLst/>
            </a:prstGeom>
            <a:noFill/>
            <a:ln/>
          </p:spPr>
          <p:txBody>
            <a:bodyPr wrap="square" lIns="25400" tIns="25400" rIns="25400" bIns="25400" rtlCol="0" anchor="t">
              <a:normAutofit/>
            </a:bodyPr>
            <a:lstStyle/>
            <a:p>
              <a:pPr marL="0" indent="0" algn="l">
                <a:buNone/>
              </a:pPr>
              <a:r>
                <a:rPr lang="en-US" sz="1650" dirty="0">
                  <a:latin typeface="Pretendard" panose="02000503000000020004" pitchFamily="50" charset="-127"/>
                  <a:ea typeface="Pretendard" panose="02000503000000020004" pitchFamily="50" charset="-127"/>
                  <a:cs typeface="Pretendard" panose="02000503000000020004" pitchFamily="50" charset="-127"/>
                </a:rPr>
                <a:t>UX · 프론트</a:t>
              </a:r>
            </a:p>
          </p:txBody>
        </p:sp>
      </p:grpSp>
      <p:pic>
        <p:nvPicPr>
          <p:cNvPr id="38" name="그림 37">
            <a:extLst>
              <a:ext uri="{FF2B5EF4-FFF2-40B4-BE49-F238E27FC236}">
                <a16:creationId xmlns:a16="http://schemas.microsoft.com/office/drawing/2014/main" id="{239D5BF4-3B45-5AE6-11F6-2649E767B94A}"/>
              </a:ext>
            </a:extLst>
          </p:cNvPr>
          <p:cNvPicPr>
            <a:picLocks noChangeAspect="1"/>
          </p:cNvPicPr>
          <p:nvPr/>
        </p:nvPicPr>
        <p:blipFill>
          <a:blip r:embed="rId2"/>
          <a:stretch>
            <a:fillRect/>
          </a:stretch>
        </p:blipFill>
        <p:spPr>
          <a:xfrm>
            <a:off x="6085114" y="3530600"/>
            <a:ext cx="2197100" cy="2197100"/>
          </a:xfrm>
          <a:prstGeom prst="rect">
            <a:avLst/>
          </a:prstGeom>
        </p:spPr>
      </p:pic>
      <p:pic>
        <p:nvPicPr>
          <p:cNvPr id="40" name="그림 39">
            <a:extLst>
              <a:ext uri="{FF2B5EF4-FFF2-40B4-BE49-F238E27FC236}">
                <a16:creationId xmlns:a16="http://schemas.microsoft.com/office/drawing/2014/main" id="{77C3608E-E5E7-8C1A-001B-93F71B12E07A}"/>
              </a:ext>
            </a:extLst>
          </p:cNvPr>
          <p:cNvPicPr>
            <a:picLocks noChangeAspect="1"/>
          </p:cNvPicPr>
          <p:nvPr/>
        </p:nvPicPr>
        <p:blipFill>
          <a:blip r:embed="rId3"/>
          <a:stretch>
            <a:fillRect/>
          </a:stretch>
        </p:blipFill>
        <p:spPr>
          <a:xfrm>
            <a:off x="13959114" y="3530600"/>
            <a:ext cx="2197100" cy="2197100"/>
          </a:xfrm>
          <a:prstGeom prst="rect">
            <a:avLst/>
          </a:prstGeom>
        </p:spPr>
      </p:pic>
      <p:pic>
        <p:nvPicPr>
          <p:cNvPr id="42" name="그림 41">
            <a:extLst>
              <a:ext uri="{FF2B5EF4-FFF2-40B4-BE49-F238E27FC236}">
                <a16:creationId xmlns:a16="http://schemas.microsoft.com/office/drawing/2014/main" id="{996B8F5D-A314-EBCC-7D0B-89968CC2E46B}"/>
              </a:ext>
            </a:extLst>
          </p:cNvPr>
          <p:cNvPicPr>
            <a:picLocks noChangeAspect="1"/>
          </p:cNvPicPr>
          <p:nvPr/>
        </p:nvPicPr>
        <p:blipFill>
          <a:blip r:embed="rId4"/>
          <a:stretch>
            <a:fillRect/>
          </a:stretch>
        </p:blipFill>
        <p:spPr>
          <a:xfrm>
            <a:off x="9971314" y="3530600"/>
            <a:ext cx="2197100" cy="2197100"/>
          </a:xfrm>
          <a:prstGeom prst="rect">
            <a:avLst/>
          </a:prstGeom>
        </p:spPr>
      </p:pic>
      <p:grpSp>
        <p:nvGrpSpPr>
          <p:cNvPr id="45" name="그룹 44">
            <a:extLst>
              <a:ext uri="{FF2B5EF4-FFF2-40B4-BE49-F238E27FC236}">
                <a16:creationId xmlns:a16="http://schemas.microsoft.com/office/drawing/2014/main" id="{023FF5A2-9535-C091-4476-15D6FABDF7DA}"/>
              </a:ext>
            </a:extLst>
          </p:cNvPr>
          <p:cNvGrpSpPr/>
          <p:nvPr/>
        </p:nvGrpSpPr>
        <p:grpSpPr>
          <a:xfrm>
            <a:off x="1481372" y="2648279"/>
            <a:ext cx="3606776" cy="5601819"/>
            <a:chOff x="2035058" y="2502840"/>
            <a:chExt cx="3606776" cy="5601819"/>
          </a:xfrm>
        </p:grpSpPr>
        <p:sp>
          <p:nvSpPr>
            <p:cNvPr id="36" name="Shape 3">
              <a:extLst>
                <a:ext uri="{FF2B5EF4-FFF2-40B4-BE49-F238E27FC236}">
                  <a16:creationId xmlns:a16="http://schemas.microsoft.com/office/drawing/2014/main" id="{2C4213EA-9F42-FCB7-301D-9C55DAC8A364}"/>
                </a:ext>
              </a:extLst>
            </p:cNvPr>
            <p:cNvSpPr/>
            <p:nvPr/>
          </p:nvSpPr>
          <p:spPr>
            <a:xfrm>
              <a:off x="2035058" y="2502840"/>
              <a:ext cx="3606776" cy="5601819"/>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grpSp>
          <p:nvGrpSpPr>
            <p:cNvPr id="31" name="그룹 30">
              <a:extLst>
                <a:ext uri="{FF2B5EF4-FFF2-40B4-BE49-F238E27FC236}">
                  <a16:creationId xmlns:a16="http://schemas.microsoft.com/office/drawing/2014/main" id="{C960690F-7FDA-CF77-CD76-F506F0528CB5}"/>
                </a:ext>
              </a:extLst>
            </p:cNvPr>
            <p:cNvGrpSpPr/>
            <p:nvPr/>
          </p:nvGrpSpPr>
          <p:grpSpPr>
            <a:xfrm>
              <a:off x="2629212" y="6433210"/>
              <a:ext cx="2385589" cy="807170"/>
              <a:chOff x="2369880" y="5143500"/>
              <a:chExt cx="2385589" cy="807170"/>
            </a:xfrm>
          </p:grpSpPr>
          <p:sp>
            <p:nvSpPr>
              <p:cNvPr id="13" name="TextBox 12">
                <a:extLst>
                  <a:ext uri="{FF2B5EF4-FFF2-40B4-BE49-F238E27FC236}">
                    <a16:creationId xmlns:a16="http://schemas.microsoft.com/office/drawing/2014/main" id="{1AB737E7-D6B0-D72C-95FD-FC04DD22A3B1}"/>
                  </a:ext>
                </a:extLst>
              </p:cNvPr>
              <p:cNvSpPr txBox="1"/>
              <p:nvPr/>
            </p:nvSpPr>
            <p:spPr>
              <a:xfrm>
                <a:off x="2830286" y="5143500"/>
                <a:ext cx="1393330" cy="369332"/>
              </a:xfrm>
              <a:prstGeom prst="rect">
                <a:avLst/>
              </a:prstGeom>
              <a:noFill/>
            </p:spPr>
            <p:txBody>
              <a:bodyPr wrap="none" rtlCol="0">
                <a:spAutoFit/>
              </a:bodyPr>
              <a:lstStyle/>
              <a:p>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이상혁 </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r>
                  <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rPr>
                  <a:t>팀장</a:t>
                </a:r>
                <a:r>
                  <a:rPr lang="en-US" altLang="ko-KR" dirty="0">
                    <a:latin typeface="Pretendard SemiBold" panose="02000703000000020004" pitchFamily="50" charset="-127"/>
                    <a:ea typeface="Pretendard SemiBold" panose="02000703000000020004" pitchFamily="50" charset="-127"/>
                    <a:cs typeface="Pretendard SemiBold" panose="02000703000000020004" pitchFamily="50" charset="-127"/>
                  </a:rPr>
                  <a:t>)</a:t>
                </a:r>
                <a:endParaRPr lang="ko-KR" altLang="en-US"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14" name="TextBox 13">
                <a:extLst>
                  <a:ext uri="{FF2B5EF4-FFF2-40B4-BE49-F238E27FC236}">
                    <a16:creationId xmlns:a16="http://schemas.microsoft.com/office/drawing/2014/main" id="{7FE79AD5-7889-2A56-8F67-F118DD428552}"/>
                  </a:ext>
                </a:extLst>
              </p:cNvPr>
              <p:cNvSpPr txBox="1"/>
              <p:nvPr/>
            </p:nvSpPr>
            <p:spPr>
              <a:xfrm>
                <a:off x="2369880" y="5581338"/>
                <a:ext cx="2385589" cy="369332"/>
              </a:xfrm>
              <a:prstGeom prst="rect">
                <a:avLst/>
              </a:prstGeom>
              <a:noFill/>
            </p:spPr>
            <p:txBody>
              <a:bodyPr wrap="none" rtlCol="0">
                <a:spAutoFit/>
              </a:bodyPr>
              <a:lstStyle/>
              <a:p>
                <a:r>
                  <a:rPr lang="ko-KR" altLang="en-US" dirty="0">
                    <a:latin typeface="Pretendard" panose="02000503000000020004" pitchFamily="50" charset="-127"/>
                    <a:ea typeface="Pretendard" panose="02000503000000020004" pitchFamily="50" charset="-127"/>
                    <a:cs typeface="Pretendard" panose="02000503000000020004" pitchFamily="50" charset="-127"/>
                  </a:rPr>
                  <a:t>개발 정책 </a:t>
                </a:r>
                <a:r>
                  <a:rPr lang="en-US" altLang="ko-KR" dirty="0">
                    <a:latin typeface="Pretendard" panose="02000503000000020004" pitchFamily="50" charset="-127"/>
                    <a:ea typeface="Pretendard" panose="02000503000000020004" pitchFamily="50" charset="-127"/>
                    <a:cs typeface="Pretendard" panose="02000503000000020004" pitchFamily="50" charset="-127"/>
                  </a:rPr>
                  <a:t>· AI </a:t>
                </a:r>
                <a:r>
                  <a:rPr lang="ko-KR" altLang="en-US" dirty="0">
                    <a:latin typeface="Pretendard" panose="02000503000000020004" pitchFamily="50" charset="-127"/>
                    <a:ea typeface="Pretendard" panose="02000503000000020004" pitchFamily="50" charset="-127"/>
                    <a:cs typeface="Pretendard" panose="02000503000000020004" pitchFamily="50" charset="-127"/>
                  </a:rPr>
                  <a:t>환경 구축</a:t>
                </a:r>
                <a:endParaRPr lang="en-US" altLang="ko-KR" dirty="0">
                  <a:latin typeface="Pretendard" panose="02000503000000020004" pitchFamily="50" charset="-127"/>
                  <a:ea typeface="Pretendard" panose="02000503000000020004" pitchFamily="50" charset="-127"/>
                  <a:cs typeface="Pretendard" panose="02000503000000020004" pitchFamily="50" charset="-127"/>
                </a:endParaRPr>
              </a:p>
            </p:txBody>
          </p:sp>
        </p:grpSp>
        <p:pic>
          <p:nvPicPr>
            <p:cNvPr id="44" name="그림 43">
              <a:extLst>
                <a:ext uri="{FF2B5EF4-FFF2-40B4-BE49-F238E27FC236}">
                  <a16:creationId xmlns:a16="http://schemas.microsoft.com/office/drawing/2014/main" id="{C4055339-3410-E9E6-FBE1-A2C94C458CD4}"/>
                </a:ext>
              </a:extLst>
            </p:cNvPr>
            <p:cNvPicPr>
              <a:picLocks noChangeAspect="1"/>
            </p:cNvPicPr>
            <p:nvPr/>
          </p:nvPicPr>
          <p:blipFill>
            <a:blip r:embed="rId5"/>
            <a:stretch>
              <a:fillRect/>
            </a:stretch>
          </p:blipFill>
          <p:spPr>
            <a:xfrm>
              <a:off x="2742844" y="3395821"/>
              <a:ext cx="2191203" cy="2191203"/>
            </a:xfrm>
            <a:prstGeom prst="rect">
              <a:avLst/>
            </a:prstGeom>
          </p:spPr>
        </p:pic>
      </p:grpSp>
      <p:sp>
        <p:nvSpPr>
          <p:cNvPr id="4" name="Text 19">
            <a:extLst>
              <a:ext uri="{FF2B5EF4-FFF2-40B4-BE49-F238E27FC236}">
                <a16:creationId xmlns:a16="http://schemas.microsoft.com/office/drawing/2014/main" id="{2CF9C98B-B2BE-D415-530E-BFDBE3D70848}"/>
              </a:ext>
            </a:extLst>
          </p:cNvPr>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000000000000000" pitchFamily="2" charset="-127"/>
                <a:ea typeface="Pretendard" panose="02000000000000000000" pitchFamily="2" charset="-127"/>
                <a:cs typeface="Pretendard" pitchFamily="34" charset="-120"/>
              </a:rPr>
              <a:t>하모니 · 앱인토스 미니앱</a:t>
            </a:r>
            <a:endParaRPr lang="en-US" sz="1425" dirty="0">
              <a:latin typeface="Pretendard" panose="02000000000000000000" pitchFamily="2" charset="-127"/>
              <a:ea typeface="Pretendard" panose="02000000000000000000" pitchFamily="2" charset="-127"/>
            </a:endParaRPr>
          </a:p>
        </p:txBody>
      </p:sp>
    </p:spTree>
    <p:extLst>
      <p:ext uri="{BB962C8B-B14F-4D97-AF65-F5344CB8AC3E}">
        <p14:creationId xmlns:p14="http://schemas.microsoft.com/office/powerpoint/2010/main" val="3386702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182F6"/>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3" name="Text 1"/>
          <p:cNvSpPr/>
          <p:nvPr/>
        </p:nvSpPr>
        <p:spPr>
          <a:xfrm>
            <a:off x="1238250" y="3443139"/>
            <a:ext cx="17392650" cy="1912590"/>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8000" b="1" kern="0" spc="-720" dirty="0">
                <a:solidFill>
                  <a:srgbClr val="FFFFFF">
                    <a:alpha val="18000"/>
                  </a:srgbClr>
                </a:solidFill>
                <a:latin typeface="Pretendard Black" panose="02000A03000000020004" pitchFamily="50" charset="-127"/>
                <a:ea typeface="Pretendard Black" panose="02000A03000000020004" pitchFamily="50" charset="-127"/>
                <a:cs typeface="Pretendard Black" panose="02000A03000000020004" pitchFamily="50" charset="-127"/>
              </a:rPr>
              <a:t>01</a:t>
            </a:r>
            <a:endParaRPr lang="en-US" sz="180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4" name="Text 2"/>
          <p:cNvSpPr/>
          <p:nvPr/>
        </p:nvSpPr>
        <p:spPr>
          <a:xfrm>
            <a:off x="1238250" y="5489079"/>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제품 · 기능 시연</a:t>
            </a:r>
            <a:endParaRPr lang="en-US" sz="58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6500961"/>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FFFF">
                    <a:alpha val="85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아이디어 · 문제 · 해결 · 스튜디오 · 커뮤니티 · 라이브 시연</a:t>
            </a:r>
            <a:endParaRPr lang="en-US" sz="187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Tree>
    <p:extLst>
      <p:ext uri="{BB962C8B-B14F-4D97-AF65-F5344CB8AC3E}">
        <p14:creationId xmlns:p14="http://schemas.microsoft.com/office/powerpoint/2010/main" val="688734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제품 · </a:t>
            </a:r>
            <a:r>
              <a:rPr lang="en-US" sz="1875" b="1" kern="0" spc="56" dirty="0" err="1">
                <a:solidFill>
                  <a:srgbClr val="3182F6"/>
                </a:solidFill>
                <a:latin typeface="Pretendard" panose="02000000000000000000" pitchFamily="2" charset="-127"/>
                <a:ea typeface="Pretendard" panose="02000000000000000000" pitchFamily="2" charset="-127"/>
                <a:cs typeface="Pretendard" pitchFamily="34" charset="-120"/>
              </a:rPr>
              <a:t>기능</a:t>
            </a: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 </a:t>
            </a:r>
            <a:r>
              <a:rPr lang="en-US" sz="1875" b="1" kern="0" spc="56" dirty="0" err="1">
                <a:solidFill>
                  <a:srgbClr val="3182F6"/>
                </a:solidFill>
                <a:latin typeface="Pretendard" panose="02000000000000000000" pitchFamily="2" charset="-127"/>
                <a:ea typeface="Pretendard" panose="02000000000000000000" pitchFamily="2" charset="-127"/>
                <a:cs typeface="Pretendard" pitchFamily="34" charset="-120"/>
              </a:rPr>
              <a:t>시연</a:t>
            </a: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 - </a:t>
            </a:r>
            <a:r>
              <a:rPr lang="ko-KR" alt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아이디어</a:t>
            </a:r>
            <a:endParaRPr lang="en-US" sz="1875" dirty="0">
              <a:latin typeface="Pretendard" panose="02000000000000000000" pitchFamily="2" charset="-127"/>
              <a:ea typeface="Pretendard" panose="02000000000000000000" pitchFamily="2" charset="-127"/>
            </a:endParaRPr>
          </a:p>
        </p:txBody>
      </p:sp>
      <p:sp>
        <p:nvSpPr>
          <p:cNvPr id="4" name="Text 2"/>
          <p:cNvSpPr/>
          <p:nvPr/>
        </p:nvSpPr>
        <p:spPr>
          <a:xfrm>
            <a:off x="1238250" y="1390650"/>
            <a:ext cx="16285845" cy="1190179"/>
          </a:xfrm>
          <a:prstGeom prst="rect">
            <a:avLst/>
          </a:prstGeom>
          <a:noFill/>
          <a:ln/>
        </p:spPr>
        <p:txBody>
          <a:bodyPr wrap="square" lIns="25400" tIns="25400" rIns="25400" bIns="25400" rtlCol="0" anchor="t">
            <a:normAutofit/>
          </a:bodyPr>
          <a:lstStyle/>
          <a:p>
            <a:pPr marL="0" indent="0" algn="l">
              <a:lnSpc>
                <a:spcPct val="120000"/>
              </a:lnSpc>
              <a:buNone/>
            </a:pPr>
            <a:r>
              <a:rPr lang="ko-KR" altLang="en-US" sz="4200" b="1" kern="0" spc="-126"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한 편의 </a:t>
            </a:r>
            <a:r>
              <a:rPr lang="ko-KR" altLang="en-US" sz="4200" b="1" kern="0" spc="-126" dirty="0" err="1">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숏폼에서</a:t>
            </a:r>
            <a:r>
              <a:rPr lang="ko-KR" altLang="en-US" sz="4200" b="1" kern="0" spc="-126"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 시작된 아이디어 </a:t>
            </a:r>
            <a:endParaRPr lang="en-US" sz="42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4875237"/>
            <a:ext cx="7220712" cy="1311027"/>
          </a:xfrm>
          <a:prstGeom prst="rect">
            <a:avLst/>
          </a:prstGeom>
          <a:noFill/>
          <a:ln/>
        </p:spPr>
        <p:txBody>
          <a:bodyPr wrap="square" lIns="25400" tIns="25400" rIns="25400" bIns="25400" rtlCol="0" anchor="t">
            <a:normAutofit fontScale="92500" lnSpcReduction="20000"/>
          </a:bodyPr>
          <a:lstStyle/>
          <a:p>
            <a:pPr marL="0" indent="0" algn="l">
              <a:lnSpc>
                <a:spcPct val="165000"/>
              </a:lnSpc>
              <a:buNone/>
            </a:pPr>
            <a:r>
              <a:rPr lang="ko-KR" altLang="en-US" sz="2025" dirty="0" err="1">
                <a:solidFill>
                  <a:srgbClr val="4E5968"/>
                </a:solidFill>
                <a:latin typeface="Pretendard" panose="02000000000000000000" pitchFamily="2" charset="-127"/>
                <a:ea typeface="Pretendard" panose="02000000000000000000" pitchFamily="2" charset="-127"/>
                <a:cs typeface="Pretendard" pitchFamily="34" charset="-120"/>
              </a:rPr>
              <a:t>클로드로</a:t>
            </a:r>
            <a:r>
              <a:rPr lang="ko-KR" altLang="en-US" sz="2025" dirty="0">
                <a:solidFill>
                  <a:srgbClr val="4E5968"/>
                </a:solidFill>
                <a:latin typeface="Pretendard" panose="02000000000000000000" pitchFamily="2" charset="-127"/>
                <a:ea typeface="Pretendard" panose="02000000000000000000" pitchFamily="2" charset="-127"/>
                <a:cs typeface="Pretendard" pitchFamily="34" charset="-120"/>
              </a:rPr>
              <a:t> </a:t>
            </a:r>
            <a:r>
              <a:rPr lang="ko-KR" altLang="en-US" sz="2025" b="1" dirty="0">
                <a:latin typeface="Pretendard" panose="02000000000000000000" pitchFamily="2" charset="-127"/>
                <a:ea typeface="Pretendard" panose="02000000000000000000" pitchFamily="2" charset="-127"/>
                <a:cs typeface="Pretendard" pitchFamily="34" charset="-120"/>
              </a:rPr>
              <a:t>비전공자</a:t>
            </a:r>
            <a:r>
              <a:rPr lang="ko-KR" altLang="en-US" sz="2025" dirty="0">
                <a:solidFill>
                  <a:srgbClr val="4E5968"/>
                </a:solidFill>
                <a:latin typeface="Pretendard" panose="02000000000000000000" pitchFamily="2" charset="-127"/>
                <a:ea typeface="Pretendard" panose="02000000000000000000" pitchFamily="2" charset="-127"/>
                <a:cs typeface="Pretendard" pitchFamily="34" charset="-120"/>
              </a:rPr>
              <a:t>가 생성한 모션 그래픽 수화 </a:t>
            </a:r>
            <a:r>
              <a:rPr lang="ko-KR" altLang="en-US" sz="2025" dirty="0" err="1">
                <a:solidFill>
                  <a:srgbClr val="4E5968"/>
                </a:solidFill>
                <a:latin typeface="Pretendard" panose="02000000000000000000" pitchFamily="2" charset="-127"/>
                <a:ea typeface="Pretendard" panose="02000000000000000000" pitchFamily="2" charset="-127"/>
                <a:cs typeface="Pretendard" pitchFamily="34" charset="-120"/>
              </a:rPr>
              <a:t>변역기</a:t>
            </a:r>
            <a:endParaRPr lang="en-US" altLang="ko-KR" sz="2025" dirty="0">
              <a:solidFill>
                <a:srgbClr val="4E5968"/>
              </a:solidFill>
              <a:latin typeface="Pretendard" panose="02000000000000000000" pitchFamily="2" charset="-127"/>
              <a:ea typeface="Pretendard" panose="02000000000000000000" pitchFamily="2" charset="-127"/>
              <a:cs typeface="Pretendard" pitchFamily="34" charset="-120"/>
            </a:endParaRPr>
          </a:p>
          <a:p>
            <a:pPr marL="342900" indent="-342900" algn="l">
              <a:lnSpc>
                <a:spcPct val="165000"/>
              </a:lnSpc>
              <a:buFont typeface="Pretendard" panose="020B0604020202020204" pitchFamily="34" charset="0"/>
              <a:buChar char="•"/>
            </a:pPr>
            <a:r>
              <a:rPr lang="ko-KR" altLang="en-US" sz="2025" dirty="0">
                <a:solidFill>
                  <a:srgbClr val="4E5968"/>
                </a:solidFill>
                <a:latin typeface="Pretendard" panose="02000000000000000000" pitchFamily="2" charset="-127"/>
                <a:ea typeface="Pretendard" panose="02000000000000000000" pitchFamily="2" charset="-127"/>
                <a:cs typeface="Pretendard" pitchFamily="34" charset="-120"/>
              </a:rPr>
              <a:t>카메라 손동작을</a:t>
            </a:r>
            <a:r>
              <a:rPr lang="ko-KR" altLang="en-US" sz="2025" b="1" dirty="0">
                <a:latin typeface="Pretendard" panose="02000000000000000000" pitchFamily="2" charset="-127"/>
                <a:ea typeface="Pretendard" panose="02000000000000000000" pitchFamily="2" charset="-127"/>
                <a:cs typeface="Pretendard" pitchFamily="34" charset="-120"/>
              </a:rPr>
              <a:t> </a:t>
            </a:r>
            <a:r>
              <a:rPr lang="en-US" altLang="ko-KR" sz="2025" b="1" dirty="0" err="1">
                <a:latin typeface="Pretendard" panose="02000000000000000000" pitchFamily="2" charset="-127"/>
                <a:ea typeface="Pretendard" panose="02000000000000000000" pitchFamily="2" charset="-127"/>
                <a:cs typeface="Pretendard" pitchFamily="34" charset="-120"/>
              </a:rPr>
              <a:t>MediaPipe</a:t>
            </a:r>
            <a:r>
              <a:rPr lang="en-US" altLang="ko-KR" sz="2025" b="1" dirty="0">
                <a:latin typeface="Pretendard" panose="02000000000000000000" pitchFamily="2" charset="-127"/>
                <a:ea typeface="Pretendard" panose="02000000000000000000" pitchFamily="2" charset="-127"/>
                <a:cs typeface="Pretendard" pitchFamily="34" charset="-120"/>
              </a:rPr>
              <a:t> </a:t>
            </a:r>
            <a:r>
              <a:rPr lang="ko-KR" altLang="en-US" sz="2025" b="1" dirty="0" err="1">
                <a:latin typeface="Pretendard" panose="02000000000000000000" pitchFamily="2" charset="-127"/>
                <a:ea typeface="Pretendard" panose="02000000000000000000" pitchFamily="2" charset="-127"/>
                <a:cs typeface="Pretendard" pitchFamily="34" charset="-120"/>
              </a:rPr>
              <a:t>온디바이스</a:t>
            </a:r>
            <a:r>
              <a:rPr lang="ko-KR" altLang="en-US" sz="2025" dirty="0" err="1">
                <a:solidFill>
                  <a:srgbClr val="4E5968"/>
                </a:solidFill>
                <a:latin typeface="Pretendard" panose="02000000000000000000" pitchFamily="2" charset="-127"/>
                <a:ea typeface="Pretendard" panose="02000000000000000000" pitchFamily="2" charset="-127"/>
                <a:cs typeface="Pretendard" pitchFamily="34" charset="-120"/>
              </a:rPr>
              <a:t>로</a:t>
            </a:r>
            <a:r>
              <a:rPr lang="ko-KR" altLang="en-US" sz="2025" dirty="0">
                <a:solidFill>
                  <a:srgbClr val="4E5968"/>
                </a:solidFill>
                <a:latin typeface="Pretendard" panose="02000000000000000000" pitchFamily="2" charset="-127"/>
                <a:ea typeface="Pretendard" panose="02000000000000000000" pitchFamily="2" charset="-127"/>
                <a:cs typeface="Pretendard" pitchFamily="34" charset="-120"/>
              </a:rPr>
              <a:t> 인식</a:t>
            </a:r>
            <a:endParaRPr lang="en-US" altLang="ko-KR" sz="2025" dirty="0">
              <a:solidFill>
                <a:srgbClr val="4E5968"/>
              </a:solidFill>
              <a:latin typeface="Pretendard" panose="02000000000000000000" pitchFamily="2" charset="-127"/>
              <a:ea typeface="Pretendard" panose="02000000000000000000" pitchFamily="2" charset="-127"/>
              <a:cs typeface="Pretendard" pitchFamily="34" charset="-120"/>
            </a:endParaRPr>
          </a:p>
          <a:p>
            <a:pPr marL="342900" indent="-342900" algn="l">
              <a:lnSpc>
                <a:spcPct val="165000"/>
              </a:lnSpc>
              <a:buFont typeface="Pretendard" panose="020B0604020202020204" pitchFamily="34" charset="0"/>
              <a:buChar char="•"/>
            </a:pPr>
            <a:r>
              <a:rPr lang="ko-KR" altLang="en-US" sz="2025" b="1" dirty="0">
                <a:latin typeface="Pretendard" panose="02000000000000000000" pitchFamily="2" charset="-127"/>
                <a:ea typeface="Pretendard" panose="02000000000000000000" pitchFamily="2" charset="-127"/>
                <a:cs typeface="Pretendard" pitchFamily="34" charset="-120"/>
              </a:rPr>
              <a:t>프롬프트</a:t>
            </a:r>
            <a:r>
              <a:rPr lang="ko-KR" altLang="en-US" sz="2025" dirty="0">
                <a:solidFill>
                  <a:srgbClr val="4E5968"/>
                </a:solidFill>
                <a:latin typeface="Pretendard" panose="02000000000000000000" pitchFamily="2" charset="-127"/>
                <a:ea typeface="Pretendard" panose="02000000000000000000" pitchFamily="2" charset="-127"/>
                <a:cs typeface="Pretendard" pitchFamily="34" charset="-120"/>
              </a:rPr>
              <a:t>만으로 제작</a:t>
            </a:r>
            <a:endParaRPr lang="en-US" sz="2025" dirty="0">
              <a:latin typeface="Pretendard" panose="02000000000000000000" pitchFamily="2" charset="-127"/>
              <a:ea typeface="Pretendard" panose="02000000000000000000" pitchFamily="2" charset="-127"/>
            </a:endParaRPr>
          </a:p>
        </p:txBody>
      </p:sp>
      <p:sp>
        <p:nvSpPr>
          <p:cNvPr id="6" name="Shape 4"/>
          <p:cNvSpPr/>
          <p:nvPr/>
        </p:nvSpPr>
        <p:spPr>
          <a:xfrm>
            <a:off x="1238250" y="6734621"/>
            <a:ext cx="1408435" cy="519113"/>
          </a:xfrm>
          <a:prstGeom prst="roundRect">
            <a:avLst>
              <a:gd name="adj" fmla="val 22018"/>
            </a:avLst>
          </a:prstGeom>
          <a:solidFill>
            <a:srgbClr val="F2F4F6"/>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7" name="Text 5"/>
          <p:cNvSpPr/>
          <p:nvPr/>
        </p:nvSpPr>
        <p:spPr>
          <a:xfrm>
            <a:off x="1447800" y="6848921"/>
            <a:ext cx="1065535"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3D4452"/>
                </a:solidFill>
                <a:latin typeface="Pretendard" panose="02000000000000000000" pitchFamily="2" charset="-127"/>
                <a:ea typeface="Pretendard" panose="02000000000000000000" pitchFamily="2" charset="-127"/>
                <a:cs typeface="Pretendard" pitchFamily="34" charset="-120"/>
              </a:rPr>
              <a:t>MediaPipe</a:t>
            </a:r>
            <a:endParaRPr lang="en-US" sz="1575" dirty="0">
              <a:latin typeface="Pretendard" panose="02000000000000000000" pitchFamily="2" charset="-127"/>
              <a:ea typeface="Pretendard" panose="02000000000000000000" pitchFamily="2" charset="-127"/>
            </a:endParaRPr>
          </a:p>
        </p:txBody>
      </p:sp>
      <p:sp>
        <p:nvSpPr>
          <p:cNvPr id="8" name="Shape 6"/>
          <p:cNvSpPr/>
          <p:nvPr/>
        </p:nvSpPr>
        <p:spPr>
          <a:xfrm>
            <a:off x="2760985" y="6734621"/>
            <a:ext cx="1339230" cy="519113"/>
          </a:xfrm>
          <a:prstGeom prst="roundRect">
            <a:avLst>
              <a:gd name="adj" fmla="val 22018"/>
            </a:avLst>
          </a:prstGeom>
          <a:solidFill>
            <a:srgbClr val="F2F4F6"/>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9" name="Text 7"/>
          <p:cNvSpPr/>
          <p:nvPr/>
        </p:nvSpPr>
        <p:spPr>
          <a:xfrm>
            <a:off x="2970535" y="6848921"/>
            <a:ext cx="996330"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3D4452"/>
                </a:solidFill>
                <a:latin typeface="Pretendard" panose="02000000000000000000" pitchFamily="2" charset="-127"/>
                <a:ea typeface="Pretendard" panose="02000000000000000000" pitchFamily="2" charset="-127"/>
                <a:cs typeface="Pretendard" pitchFamily="34" charset="-120"/>
              </a:rPr>
              <a:t>온디바이스</a:t>
            </a:r>
            <a:endParaRPr lang="en-US" sz="1575" dirty="0">
              <a:latin typeface="Pretendard" panose="02000000000000000000" pitchFamily="2" charset="-127"/>
              <a:ea typeface="Pretendard" panose="02000000000000000000" pitchFamily="2" charset="-127"/>
            </a:endParaRPr>
          </a:p>
        </p:txBody>
      </p:sp>
      <p:sp>
        <p:nvSpPr>
          <p:cNvPr id="10" name="Shape 8"/>
          <p:cNvSpPr/>
          <p:nvPr/>
        </p:nvSpPr>
        <p:spPr>
          <a:xfrm>
            <a:off x="4214515" y="6734621"/>
            <a:ext cx="1634430" cy="519113"/>
          </a:xfrm>
          <a:prstGeom prst="roundRect">
            <a:avLst>
              <a:gd name="adj" fmla="val 22018"/>
            </a:avLst>
          </a:prstGeom>
          <a:solidFill>
            <a:srgbClr val="F2F4F6"/>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1" name="Text 9"/>
          <p:cNvSpPr/>
          <p:nvPr/>
        </p:nvSpPr>
        <p:spPr>
          <a:xfrm>
            <a:off x="4424065" y="6848921"/>
            <a:ext cx="1291530"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3D4452"/>
                </a:solidFill>
                <a:latin typeface="Pretendard" panose="02000000000000000000" pitchFamily="2" charset="-127"/>
                <a:ea typeface="Pretendard" panose="02000000000000000000" pitchFamily="2" charset="-127"/>
                <a:cs typeface="Pretendard" pitchFamily="34" charset="-120"/>
              </a:rPr>
              <a:t>손 제스처 인식</a:t>
            </a:r>
            <a:endParaRPr lang="en-US" sz="1575" dirty="0">
              <a:latin typeface="Pretendard" panose="02000000000000000000" pitchFamily="2" charset="-127"/>
              <a:ea typeface="Pretendard" panose="02000000000000000000" pitchFamily="2" charset="-127"/>
            </a:endParaRPr>
          </a:p>
        </p:txBody>
      </p:sp>
      <p:sp>
        <p:nvSpPr>
          <p:cNvPr id="12" name="Shape 10"/>
          <p:cNvSpPr/>
          <p:nvPr/>
        </p:nvSpPr>
        <p:spPr>
          <a:xfrm>
            <a:off x="8820150" y="2999929"/>
            <a:ext cx="8229600" cy="6372671"/>
          </a:xfrm>
          <a:prstGeom prst="roundRect">
            <a:avLst>
              <a:gd name="adj" fmla="val 3587"/>
            </a:avLst>
          </a:prstGeom>
          <a:solidFill>
            <a:srgbClr val="000000"/>
          </a:solidFill>
          <a:ln/>
          <a:effectLst>
            <a:outerShdw blurRad="342900" dist="114300" dir="5400000" algn="bl" rotWithShape="0">
              <a:srgbClr val="141E32">
                <a:alpha val="12000"/>
              </a:srgbClr>
            </a:outerShdw>
          </a:effectLst>
        </p:spPr>
        <p:txBody>
          <a:bodyPr/>
          <a:lstStyle/>
          <a:p>
            <a:endParaRPr lang="ko-KR" altLang="en-US">
              <a:latin typeface="Pretendard" panose="02000000000000000000" pitchFamily="2" charset="-127"/>
              <a:ea typeface="Pretendard" panose="02000000000000000000" pitchFamily="2" charset="-127"/>
            </a:endParaRPr>
          </a:p>
        </p:txBody>
      </p:sp>
      <p:pic>
        <p:nvPicPr>
          <p:cNvPr id="13" name="Image 0" descr="preencoded.png"/>
          <p:cNvPicPr>
            <a:picLocks noChangeAspect="1"/>
          </p:cNvPicPr>
          <p:nvPr/>
        </p:nvPicPr>
        <p:blipFill>
          <a:blip r:embed="rId3"/>
          <a:srcRect t="8044" b="8044"/>
          <a:stretch/>
        </p:blipFill>
        <p:spPr>
          <a:xfrm>
            <a:off x="8820150" y="2999929"/>
            <a:ext cx="8229600" cy="6372671"/>
          </a:xfrm>
          <a:prstGeom prst="rect">
            <a:avLst/>
          </a:prstGeom>
        </p:spPr>
      </p:pic>
      <p:sp>
        <p:nvSpPr>
          <p:cNvPr id="14" name="Text 11"/>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000000000000000" pitchFamily="2" charset="-127"/>
                <a:ea typeface="Pretendard" panose="02000000000000000000" pitchFamily="2" charset="-127"/>
                <a:cs typeface="Pretendard" pitchFamily="34" charset="-120"/>
              </a:rPr>
              <a:t>하모니 · 앱인토스 미니앱</a:t>
            </a:r>
            <a:endParaRPr lang="en-US" sz="1425" dirty="0">
              <a:latin typeface="Pretendard" panose="02000000000000000000" pitchFamily="2" charset="-127"/>
              <a:ea typeface="Pretendard" panose="02000000000000000000" pitchFamily="2" charset="-127"/>
            </a:endParaRPr>
          </a:p>
        </p:txBody>
      </p:sp>
    </p:spTree>
    <p:extLst>
      <p:ext uri="{BB962C8B-B14F-4D97-AF65-F5344CB8AC3E}">
        <p14:creationId xmlns:p14="http://schemas.microsoft.com/office/powerpoint/2010/main" val="286084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제품 · </a:t>
            </a:r>
            <a:r>
              <a:rPr lang="en-US" sz="1875" b="1" kern="0" spc="56" dirty="0" err="1">
                <a:solidFill>
                  <a:srgbClr val="3182F6"/>
                </a:solidFill>
                <a:latin typeface="Pretendard" panose="02000000000000000000" pitchFamily="2" charset="-127"/>
                <a:ea typeface="Pretendard" panose="02000000000000000000" pitchFamily="2" charset="-127"/>
                <a:cs typeface="Pretendard" pitchFamily="34" charset="-120"/>
              </a:rPr>
              <a:t>기능</a:t>
            </a: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 </a:t>
            </a:r>
            <a:r>
              <a:rPr lang="en-US" sz="1875" b="1" kern="0" spc="56" dirty="0" err="1">
                <a:solidFill>
                  <a:srgbClr val="3182F6"/>
                </a:solidFill>
                <a:latin typeface="Pretendard" panose="02000000000000000000" pitchFamily="2" charset="-127"/>
                <a:ea typeface="Pretendard" panose="02000000000000000000" pitchFamily="2" charset="-127"/>
                <a:cs typeface="Pretendard" pitchFamily="34" charset="-120"/>
              </a:rPr>
              <a:t>시연</a:t>
            </a:r>
            <a:r>
              <a:rPr 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 - </a:t>
            </a:r>
            <a:r>
              <a:rPr lang="ko-KR" altLang="en-US" sz="1875" b="1" kern="0" spc="56" dirty="0">
                <a:solidFill>
                  <a:srgbClr val="3182F6"/>
                </a:solidFill>
                <a:latin typeface="Pretendard" panose="02000000000000000000" pitchFamily="2" charset="-127"/>
                <a:ea typeface="Pretendard" panose="02000000000000000000" pitchFamily="2" charset="-127"/>
                <a:cs typeface="Pretendard" pitchFamily="34" charset="-120"/>
              </a:rPr>
              <a:t>아이디어</a:t>
            </a:r>
            <a:endParaRPr lang="en-US" sz="1875" dirty="0">
              <a:latin typeface="Pretendard" panose="02000000000000000000" pitchFamily="2" charset="-127"/>
              <a:ea typeface="Pretendard" panose="02000000000000000000" pitchFamily="2" charset="-127"/>
            </a:endParaRPr>
          </a:p>
        </p:txBody>
      </p:sp>
      <p:sp>
        <p:nvSpPr>
          <p:cNvPr id="4" name="Text 2"/>
          <p:cNvSpPr/>
          <p:nvPr/>
        </p:nvSpPr>
        <p:spPr>
          <a:xfrm>
            <a:off x="1238250" y="1390650"/>
            <a:ext cx="17392650" cy="63467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350" b="1" kern="0" spc="-130"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혼자 쌓아 한 곡, 코드 한 줄로 함께</a:t>
            </a:r>
            <a:endParaRPr lang="en-US" sz="43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1238250" y="2444428"/>
            <a:ext cx="7772400" cy="3155454"/>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6" name="Text 4"/>
          <p:cNvSpPr/>
          <p:nvPr/>
        </p:nvSpPr>
        <p:spPr>
          <a:xfrm>
            <a:off x="1657350" y="3358753"/>
            <a:ext cx="7627620" cy="371475"/>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anose="02000000000000000000" pitchFamily="2" charset="-127"/>
                <a:ea typeface="Pretendard" panose="02000000000000000000" pitchFamily="2" charset="-127"/>
                <a:cs typeface="Pretendard" pitchFamily="34" charset="-120"/>
              </a:rPr>
              <a:t>01</a:t>
            </a:r>
            <a:endParaRPr lang="en-US" sz="1875" dirty="0">
              <a:latin typeface="Pretendard" panose="02000000000000000000" pitchFamily="2" charset="-127"/>
              <a:ea typeface="Pretendard" panose="02000000000000000000" pitchFamily="2" charset="-127"/>
            </a:endParaRPr>
          </a:p>
        </p:txBody>
      </p:sp>
      <p:sp>
        <p:nvSpPr>
          <p:cNvPr id="7" name="Text 5"/>
          <p:cNvSpPr/>
          <p:nvPr/>
        </p:nvSpPr>
        <p:spPr>
          <a:xfrm>
            <a:off x="1657350" y="3787378"/>
            <a:ext cx="7627620" cy="452438"/>
          </a:xfrm>
          <a:prstGeom prst="rect">
            <a:avLst/>
          </a:prstGeom>
          <a:noFill/>
          <a:ln/>
        </p:spPr>
        <p:txBody>
          <a:bodyPr wrap="square" lIns="25400" tIns="25400" rIns="25400" bIns="25400" rtlCol="0" anchor="t">
            <a:normAutofit/>
          </a:bodyPr>
          <a:lstStyle/>
          <a:p>
            <a:pPr marL="0" indent="0" algn="l">
              <a:buNone/>
            </a:pPr>
            <a:r>
              <a:rPr lang="en-US" sz="2250" b="1" dirty="0">
                <a:solidFill>
                  <a:srgbClr val="191F28"/>
                </a:solidFill>
                <a:latin typeface="Pretendard" panose="02000000000000000000" pitchFamily="2" charset="-127"/>
                <a:ea typeface="Pretendard" panose="02000000000000000000" pitchFamily="2" charset="-127"/>
                <a:cs typeface="Pretendard" pitchFamily="34" charset="-120"/>
              </a:rPr>
              <a:t>눌러서 연주</a:t>
            </a:r>
            <a:endParaRPr lang="en-US" sz="2250" dirty="0">
              <a:latin typeface="Pretendard" panose="02000000000000000000" pitchFamily="2" charset="-127"/>
              <a:ea typeface="Pretendard" panose="02000000000000000000" pitchFamily="2" charset="-127"/>
            </a:endParaRPr>
          </a:p>
        </p:txBody>
      </p:sp>
      <p:sp>
        <p:nvSpPr>
          <p:cNvPr id="8" name="Text 6"/>
          <p:cNvSpPr/>
          <p:nvPr/>
        </p:nvSpPr>
        <p:spPr>
          <a:xfrm>
            <a:off x="1657350" y="4335066"/>
            <a:ext cx="7627620" cy="38859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725" dirty="0">
                <a:solidFill>
                  <a:srgbClr val="4E5968"/>
                </a:solidFill>
                <a:latin typeface="Pretendard" panose="02000000000000000000" pitchFamily="2" charset="-127"/>
                <a:ea typeface="Pretendard" panose="02000000000000000000" pitchFamily="2" charset="-127"/>
                <a:cs typeface="Pretendard" pitchFamily="34" charset="-120"/>
              </a:rPr>
              <a:t>피아노 기타 베이스 드럼을 터치, 카메라 제스처로도 연주(MediaPipe)</a:t>
            </a:r>
            <a:endParaRPr lang="en-US" sz="1725" dirty="0">
              <a:latin typeface="Pretendard" panose="02000000000000000000" pitchFamily="2" charset="-127"/>
              <a:ea typeface="Pretendard" panose="02000000000000000000" pitchFamily="2" charset="-127"/>
            </a:endParaRPr>
          </a:p>
        </p:txBody>
      </p:sp>
      <p:sp>
        <p:nvSpPr>
          <p:cNvPr id="9" name="Shape 7"/>
          <p:cNvSpPr/>
          <p:nvPr/>
        </p:nvSpPr>
        <p:spPr>
          <a:xfrm>
            <a:off x="9277350" y="2444428"/>
            <a:ext cx="7772400" cy="3155454"/>
          </a:xfrm>
          <a:prstGeom prst="roundRect">
            <a:avLst>
              <a:gd name="adj" fmla="val 7245"/>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0" name="Text 8"/>
          <p:cNvSpPr/>
          <p:nvPr/>
        </p:nvSpPr>
        <p:spPr>
          <a:xfrm>
            <a:off x="9696450" y="3358753"/>
            <a:ext cx="7627620" cy="371475"/>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anose="02000000000000000000" pitchFamily="2" charset="-127"/>
                <a:ea typeface="Pretendard" panose="02000000000000000000" pitchFamily="2" charset="-127"/>
                <a:cs typeface="Pretendard" pitchFamily="34" charset="-120"/>
              </a:rPr>
              <a:t>02</a:t>
            </a:r>
            <a:endParaRPr lang="en-US" sz="1875" dirty="0">
              <a:latin typeface="Pretendard" panose="02000000000000000000" pitchFamily="2" charset="-127"/>
              <a:ea typeface="Pretendard" panose="02000000000000000000" pitchFamily="2" charset="-127"/>
            </a:endParaRPr>
          </a:p>
        </p:txBody>
      </p:sp>
      <p:sp>
        <p:nvSpPr>
          <p:cNvPr id="11" name="Text 9"/>
          <p:cNvSpPr/>
          <p:nvPr/>
        </p:nvSpPr>
        <p:spPr>
          <a:xfrm>
            <a:off x="9696450" y="3787378"/>
            <a:ext cx="7627620" cy="452438"/>
          </a:xfrm>
          <a:prstGeom prst="rect">
            <a:avLst/>
          </a:prstGeom>
          <a:noFill/>
          <a:ln/>
        </p:spPr>
        <p:txBody>
          <a:bodyPr wrap="square" lIns="25400" tIns="25400" rIns="25400" bIns="25400" rtlCol="0" anchor="t">
            <a:normAutofit/>
          </a:bodyPr>
          <a:lstStyle/>
          <a:p>
            <a:pPr marL="0" indent="0" algn="l">
              <a:buNone/>
            </a:pPr>
            <a:r>
              <a:rPr lang="en-US" sz="2250" b="1" dirty="0">
                <a:solidFill>
                  <a:srgbClr val="191F28"/>
                </a:solidFill>
                <a:latin typeface="Pretendard" panose="02000000000000000000" pitchFamily="2" charset="-127"/>
                <a:ea typeface="Pretendard" panose="02000000000000000000" pitchFamily="2" charset="-127"/>
                <a:cs typeface="Pretendard" pitchFamily="34" charset="-120"/>
              </a:rPr>
              <a:t>코드 매트릭스</a:t>
            </a:r>
            <a:endParaRPr lang="en-US" sz="2250" dirty="0">
              <a:latin typeface="Pretendard" panose="02000000000000000000" pitchFamily="2" charset="-127"/>
              <a:ea typeface="Pretendard" panose="02000000000000000000" pitchFamily="2" charset="-127"/>
            </a:endParaRPr>
          </a:p>
        </p:txBody>
      </p:sp>
      <p:sp>
        <p:nvSpPr>
          <p:cNvPr id="12" name="Text 10"/>
          <p:cNvSpPr/>
          <p:nvPr/>
        </p:nvSpPr>
        <p:spPr>
          <a:xfrm>
            <a:off x="9696450" y="4335066"/>
            <a:ext cx="7627620" cy="38859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725" dirty="0">
                <a:solidFill>
                  <a:srgbClr val="4E5968"/>
                </a:solidFill>
                <a:latin typeface="Pretendard" panose="02000000000000000000" pitchFamily="2" charset="-127"/>
                <a:ea typeface="Pretendard" panose="02000000000000000000" pitchFamily="2" charset="-127"/>
                <a:cs typeface="Pretendard" pitchFamily="34" charset="-120"/>
              </a:rPr>
              <a:t>코드를 몰라도 원하는 코드를 골라 누르면 반주가 된다</a:t>
            </a:r>
            <a:endParaRPr lang="en-US" sz="1725" dirty="0">
              <a:latin typeface="Pretendard" panose="02000000000000000000" pitchFamily="2" charset="-127"/>
              <a:ea typeface="Pretendard" panose="02000000000000000000" pitchFamily="2" charset="-127"/>
            </a:endParaRPr>
          </a:p>
        </p:txBody>
      </p:sp>
      <p:sp>
        <p:nvSpPr>
          <p:cNvPr id="13" name="Shape 11"/>
          <p:cNvSpPr/>
          <p:nvPr/>
        </p:nvSpPr>
        <p:spPr>
          <a:xfrm>
            <a:off x="1238250" y="5866581"/>
            <a:ext cx="7772400" cy="3506019"/>
          </a:xfrm>
          <a:prstGeom prst="roundRect">
            <a:avLst>
              <a:gd name="adj" fmla="val 6520"/>
            </a:avLst>
          </a:prstGeom>
          <a:solidFill>
            <a:srgbClr val="F7F8FA"/>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4" name="Text 12"/>
          <p:cNvSpPr/>
          <p:nvPr/>
        </p:nvSpPr>
        <p:spPr>
          <a:xfrm>
            <a:off x="1657350" y="6956152"/>
            <a:ext cx="7627620" cy="371475"/>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anose="02000000000000000000" pitchFamily="2" charset="-127"/>
                <a:ea typeface="Pretendard" panose="02000000000000000000" pitchFamily="2" charset="-127"/>
                <a:cs typeface="Pretendard" pitchFamily="34" charset="-120"/>
              </a:rPr>
              <a:t>03</a:t>
            </a:r>
            <a:endParaRPr lang="en-US" sz="1875" dirty="0">
              <a:latin typeface="Pretendard" panose="02000000000000000000" pitchFamily="2" charset="-127"/>
              <a:ea typeface="Pretendard" panose="02000000000000000000" pitchFamily="2" charset="-127"/>
            </a:endParaRPr>
          </a:p>
        </p:txBody>
      </p:sp>
      <p:sp>
        <p:nvSpPr>
          <p:cNvPr id="15" name="Text 13"/>
          <p:cNvSpPr/>
          <p:nvPr/>
        </p:nvSpPr>
        <p:spPr>
          <a:xfrm>
            <a:off x="1657350" y="7384777"/>
            <a:ext cx="7627620" cy="452438"/>
          </a:xfrm>
          <a:prstGeom prst="rect">
            <a:avLst/>
          </a:prstGeom>
          <a:noFill/>
          <a:ln/>
        </p:spPr>
        <p:txBody>
          <a:bodyPr wrap="square" lIns="25400" tIns="25400" rIns="25400" bIns="25400" rtlCol="0" anchor="t">
            <a:normAutofit/>
          </a:bodyPr>
          <a:lstStyle/>
          <a:p>
            <a:pPr marL="0" indent="0" algn="l">
              <a:buNone/>
            </a:pPr>
            <a:r>
              <a:rPr lang="en-US" sz="2250" b="1" dirty="0">
                <a:solidFill>
                  <a:srgbClr val="191F28"/>
                </a:solidFill>
                <a:latin typeface="Pretendard" panose="02000000000000000000" pitchFamily="2" charset="-127"/>
                <a:ea typeface="Pretendard" panose="02000000000000000000" pitchFamily="2" charset="-127"/>
                <a:cs typeface="Pretendard" pitchFamily="34" charset="-120"/>
              </a:rPr>
              <a:t>멀티트랙 레이어</a:t>
            </a:r>
            <a:endParaRPr lang="en-US" sz="2250" dirty="0">
              <a:latin typeface="Pretendard" panose="02000000000000000000" pitchFamily="2" charset="-127"/>
              <a:ea typeface="Pretendard" panose="02000000000000000000" pitchFamily="2" charset="-127"/>
            </a:endParaRPr>
          </a:p>
        </p:txBody>
      </p:sp>
      <p:sp>
        <p:nvSpPr>
          <p:cNvPr id="16" name="Text 14"/>
          <p:cNvSpPr/>
          <p:nvPr/>
        </p:nvSpPr>
        <p:spPr>
          <a:xfrm>
            <a:off x="1657350" y="7932465"/>
            <a:ext cx="7627620" cy="38859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725" dirty="0">
                <a:solidFill>
                  <a:srgbClr val="4E5968"/>
                </a:solidFill>
                <a:latin typeface="Pretendard" panose="02000000000000000000" pitchFamily="2" charset="-127"/>
                <a:ea typeface="Pretendard" panose="02000000000000000000" pitchFamily="2" charset="-127"/>
                <a:cs typeface="Pretendard" pitchFamily="34" charset="-120"/>
              </a:rPr>
              <a:t>한 사람이 여러 악기를 트랙으로 쌓아 혼자서도 합주를 완성</a:t>
            </a:r>
            <a:endParaRPr lang="en-US" sz="1725" dirty="0">
              <a:latin typeface="Pretendard" panose="02000000000000000000" pitchFamily="2" charset="-127"/>
              <a:ea typeface="Pretendard" panose="02000000000000000000" pitchFamily="2" charset="-127"/>
            </a:endParaRPr>
          </a:p>
        </p:txBody>
      </p:sp>
      <p:sp>
        <p:nvSpPr>
          <p:cNvPr id="17" name="Shape 15"/>
          <p:cNvSpPr/>
          <p:nvPr/>
        </p:nvSpPr>
        <p:spPr>
          <a:xfrm>
            <a:off x="9277350" y="5866581"/>
            <a:ext cx="7772400" cy="3506019"/>
          </a:xfrm>
          <a:prstGeom prst="roundRect">
            <a:avLst>
              <a:gd name="adj" fmla="val 6520"/>
            </a:avLst>
          </a:prstGeom>
          <a:solidFill>
            <a:srgbClr val="EAF2FE"/>
          </a:solidFill>
          <a:ln/>
        </p:spPr>
        <p:txBody>
          <a:bodyPr/>
          <a:lstStyle/>
          <a:p>
            <a:endParaRPr lang="ko-KR" altLang="en-US">
              <a:latin typeface="Pretendard" panose="02000000000000000000" pitchFamily="2" charset="-127"/>
              <a:ea typeface="Pretendard" panose="02000000000000000000" pitchFamily="2" charset="-127"/>
            </a:endParaRPr>
          </a:p>
        </p:txBody>
      </p:sp>
      <p:sp>
        <p:nvSpPr>
          <p:cNvPr id="18" name="Text 16"/>
          <p:cNvSpPr/>
          <p:nvPr/>
        </p:nvSpPr>
        <p:spPr>
          <a:xfrm>
            <a:off x="9696450" y="6780907"/>
            <a:ext cx="7627620" cy="371475"/>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anose="02000000000000000000" pitchFamily="2" charset="-127"/>
                <a:ea typeface="Pretendard" panose="02000000000000000000" pitchFamily="2" charset="-127"/>
                <a:cs typeface="Pretendard" pitchFamily="34" charset="-120"/>
              </a:rPr>
              <a:t>04</a:t>
            </a:r>
            <a:endParaRPr lang="en-US" sz="1875" dirty="0">
              <a:latin typeface="Pretendard" panose="02000000000000000000" pitchFamily="2" charset="-127"/>
              <a:ea typeface="Pretendard" panose="02000000000000000000" pitchFamily="2" charset="-127"/>
            </a:endParaRPr>
          </a:p>
        </p:txBody>
      </p:sp>
      <p:sp>
        <p:nvSpPr>
          <p:cNvPr id="19" name="Text 17"/>
          <p:cNvSpPr/>
          <p:nvPr/>
        </p:nvSpPr>
        <p:spPr>
          <a:xfrm>
            <a:off x="9696450" y="7209532"/>
            <a:ext cx="7627620" cy="452438"/>
          </a:xfrm>
          <a:prstGeom prst="rect">
            <a:avLst/>
          </a:prstGeom>
          <a:noFill/>
          <a:ln/>
        </p:spPr>
        <p:txBody>
          <a:bodyPr wrap="square" lIns="25400" tIns="25400" rIns="25400" bIns="25400" rtlCol="0" anchor="t">
            <a:normAutofit/>
          </a:bodyPr>
          <a:lstStyle/>
          <a:p>
            <a:pPr marL="0" indent="0" algn="l">
              <a:buNone/>
            </a:pPr>
            <a:r>
              <a:rPr lang="en-US" sz="2250" b="1" dirty="0">
                <a:solidFill>
                  <a:srgbClr val="191F28"/>
                </a:solidFill>
                <a:latin typeface="Pretendard" panose="02000000000000000000" pitchFamily="2" charset="-127"/>
                <a:ea typeface="Pretendard" panose="02000000000000000000" pitchFamily="2" charset="-127"/>
                <a:cs typeface="Pretendard" pitchFamily="34" charset="-120"/>
              </a:rPr>
              <a:t>비동기 합주</a:t>
            </a:r>
            <a:endParaRPr lang="en-US" sz="2250" dirty="0">
              <a:latin typeface="Pretendard" panose="02000000000000000000" pitchFamily="2" charset="-127"/>
              <a:ea typeface="Pretendard" panose="02000000000000000000" pitchFamily="2" charset="-127"/>
            </a:endParaRPr>
          </a:p>
        </p:txBody>
      </p:sp>
      <p:sp>
        <p:nvSpPr>
          <p:cNvPr id="20" name="Text 18"/>
          <p:cNvSpPr/>
          <p:nvPr/>
        </p:nvSpPr>
        <p:spPr>
          <a:xfrm>
            <a:off x="9696450" y="7757220"/>
            <a:ext cx="7142226" cy="739080"/>
          </a:xfrm>
          <a:prstGeom prst="rect">
            <a:avLst/>
          </a:prstGeom>
          <a:noFill/>
          <a:ln/>
        </p:spPr>
        <p:txBody>
          <a:bodyPr wrap="square" lIns="25400" tIns="25400" rIns="25400" bIns="25400" rtlCol="0" anchor="t">
            <a:normAutofit/>
          </a:bodyPr>
          <a:lstStyle/>
          <a:p>
            <a:pPr marL="0" indent="0" algn="l">
              <a:lnSpc>
                <a:spcPct val="160000"/>
              </a:lnSpc>
              <a:buNone/>
            </a:pPr>
            <a:r>
              <a:rPr lang="en-US" sz="1725" dirty="0">
                <a:solidFill>
                  <a:srgbClr val="4E5968"/>
                </a:solidFill>
                <a:latin typeface="Pretendard" panose="02000000000000000000" pitchFamily="2" charset="-127"/>
                <a:ea typeface="Pretendard" panose="02000000000000000000" pitchFamily="2" charset="-127"/>
                <a:cs typeface="Pretendard" pitchFamily="34" charset="-120"/>
              </a:rPr>
              <a:t>공유 코드로 남의 트랙을 가져와 내 트랙 위에 얹기, 1.5초 폴링으로 자동 반영</a:t>
            </a:r>
            <a:endParaRPr lang="en-US" sz="1725" dirty="0">
              <a:latin typeface="Pretendard" panose="02000000000000000000" pitchFamily="2" charset="-127"/>
              <a:ea typeface="Pretendard" panose="02000000000000000000" pitchFamily="2" charset="-127"/>
            </a:endParaRPr>
          </a:p>
        </p:txBody>
      </p:sp>
      <p:sp>
        <p:nvSpPr>
          <p:cNvPr id="21" name="Text 19"/>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000000000000000" pitchFamily="2" charset="-127"/>
                <a:ea typeface="Pretendard" panose="02000000000000000000" pitchFamily="2" charset="-127"/>
                <a:cs typeface="Pretendard" pitchFamily="34" charset="-120"/>
              </a:rPr>
              <a:t>하모니 · 앱인토스 미니앱</a:t>
            </a:r>
            <a:endParaRPr lang="en-US" sz="1425" dirty="0">
              <a:latin typeface="Pretendard" panose="02000000000000000000" pitchFamily="2" charset="-127"/>
              <a:ea typeface="Pretendard" panose="02000000000000000000" pitchFamily="2" charset="-127"/>
            </a:endParaRPr>
          </a:p>
        </p:txBody>
      </p:sp>
    </p:spTree>
    <p:extLst>
      <p:ext uri="{BB962C8B-B14F-4D97-AF65-F5344CB8AC3E}">
        <p14:creationId xmlns:p14="http://schemas.microsoft.com/office/powerpoint/2010/main" val="221894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제품 · </a:t>
            </a:r>
            <a:r>
              <a:rPr lang="en-US" sz="1875" b="1" kern="0" spc="56" dirty="0" err="1">
                <a:solidFill>
                  <a:srgbClr val="3182F6"/>
                </a:solidFill>
                <a:latin typeface="Pretendard" pitchFamily="34" charset="0"/>
                <a:ea typeface="Pretendard" pitchFamily="34" charset="-122"/>
                <a:cs typeface="Pretendard" pitchFamily="34" charset="-120"/>
              </a:rPr>
              <a:t>기능</a:t>
            </a:r>
            <a:r>
              <a:rPr lang="en-US" sz="1875" b="1" kern="0" spc="56" dirty="0">
                <a:solidFill>
                  <a:srgbClr val="3182F6"/>
                </a:solidFill>
                <a:latin typeface="Pretendard" pitchFamily="34" charset="0"/>
                <a:ea typeface="Pretendard" pitchFamily="34" charset="-122"/>
                <a:cs typeface="Pretendard" pitchFamily="34" charset="-120"/>
              </a:rPr>
              <a:t> </a:t>
            </a:r>
            <a:r>
              <a:rPr lang="en-US" sz="1875" b="1" kern="0" spc="56" dirty="0" err="1">
                <a:solidFill>
                  <a:srgbClr val="3182F6"/>
                </a:solidFill>
                <a:latin typeface="Pretendard" pitchFamily="34" charset="0"/>
                <a:ea typeface="Pretendard" pitchFamily="34" charset="-122"/>
                <a:cs typeface="Pretendard" pitchFamily="34" charset="-120"/>
              </a:rPr>
              <a:t>시연</a:t>
            </a:r>
            <a:r>
              <a:rPr lang="en-US" sz="1875" b="1" kern="0" spc="56" dirty="0">
                <a:solidFill>
                  <a:srgbClr val="3182F6"/>
                </a:solidFill>
                <a:latin typeface="Pretendard" pitchFamily="34" charset="0"/>
                <a:ea typeface="Pretendard" pitchFamily="34" charset="-122"/>
                <a:cs typeface="Pretendard" pitchFamily="34" charset="-120"/>
              </a:rPr>
              <a:t> – </a:t>
            </a:r>
            <a:r>
              <a:rPr lang="ko-KR" altLang="en-US" sz="1875" b="1" kern="0" spc="56" dirty="0">
                <a:solidFill>
                  <a:srgbClr val="3182F6"/>
                </a:solidFill>
                <a:latin typeface="Pretendard" pitchFamily="34" charset="0"/>
                <a:ea typeface="Pretendard" pitchFamily="34" charset="-122"/>
                <a:cs typeface="Pretendard" pitchFamily="34" charset="-120"/>
              </a:rPr>
              <a:t>문제 제기</a:t>
            </a:r>
            <a:r>
              <a:rPr lang="en-US" sz="1875" b="1" kern="0" spc="56" dirty="0">
                <a:solidFill>
                  <a:srgbClr val="3182F6"/>
                </a:solidFill>
                <a:latin typeface="Pretendard" pitchFamily="34" charset="0"/>
                <a:ea typeface="Pretendard" pitchFamily="34" charset="-122"/>
                <a:cs typeface="Pretendard" pitchFamily="34" charset="-120"/>
              </a:rPr>
              <a:t> </a:t>
            </a:r>
            <a:endParaRPr lang="en-US" sz="1875" dirty="0"/>
          </a:p>
        </p:txBody>
      </p:sp>
      <p:sp>
        <p:nvSpPr>
          <p:cNvPr id="4" name="Text 2"/>
          <p:cNvSpPr/>
          <p:nvPr/>
        </p:nvSpPr>
        <p:spPr>
          <a:xfrm>
            <a:off x="1238250" y="1390650"/>
            <a:ext cx="16285845" cy="1272480"/>
          </a:xfrm>
          <a:prstGeom prst="rect">
            <a:avLst/>
          </a:prstGeom>
          <a:noFill/>
          <a:ln/>
        </p:spPr>
        <p:txBody>
          <a:bodyPr wrap="square" lIns="25400" tIns="25400" rIns="25400" bIns="25400" rtlCol="0" anchor="t">
            <a:normAutofit/>
          </a:bodyPr>
          <a:lstStyle/>
          <a:p>
            <a:pPr marL="0" indent="0" algn="l">
              <a:lnSpc>
                <a:spcPct val="108000"/>
              </a:lnSpc>
              <a:buNone/>
            </a:pPr>
            <a:r>
              <a:rPr lang="en-US" sz="4500" b="1" kern="0" spc="-135"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합주는, 너무 많은 게 동시에 맞아야 한다</a:t>
            </a:r>
            <a:endParaRPr lang="en-US" sz="45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1238250" y="3120330"/>
            <a:ext cx="7753350" cy="2202061"/>
          </a:xfrm>
          <a:prstGeom prst="roundRect">
            <a:avLst>
              <a:gd name="adj" fmla="val 10381"/>
            </a:avLst>
          </a:prstGeom>
          <a:solidFill>
            <a:srgbClr val="F7F8FA"/>
          </a:solidFill>
          <a:ln/>
        </p:spPr>
        <p:txBody>
          <a:bodyPr/>
          <a:lstStyle/>
          <a:p>
            <a:endParaRPr lang="ko-KR" altLang="en-US"/>
          </a:p>
        </p:txBody>
      </p:sp>
      <p:sp>
        <p:nvSpPr>
          <p:cNvPr id="6" name="Text 4"/>
          <p:cNvSpPr/>
          <p:nvPr/>
        </p:nvSpPr>
        <p:spPr>
          <a:xfrm>
            <a:off x="1676400" y="3558480"/>
            <a:ext cx="7564755"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191F28"/>
                </a:solidFill>
                <a:latin typeface="Pretendard" pitchFamily="34" charset="0"/>
                <a:ea typeface="Pretendard" pitchFamily="34" charset="-122"/>
                <a:cs typeface="Pretendard" pitchFamily="34" charset="-120"/>
              </a:rPr>
              <a:t>오프라인 합주</a:t>
            </a:r>
            <a:endParaRPr lang="en-US" sz="2175" dirty="0"/>
          </a:p>
        </p:txBody>
      </p:sp>
      <p:sp>
        <p:nvSpPr>
          <p:cNvPr id="7" name="Text 5"/>
          <p:cNvSpPr/>
          <p:nvPr/>
        </p:nvSpPr>
        <p:spPr>
          <a:xfrm>
            <a:off x="1676400" y="4129980"/>
            <a:ext cx="7083362" cy="792361"/>
          </a:xfrm>
          <a:prstGeom prst="rect">
            <a:avLst/>
          </a:prstGeom>
          <a:noFill/>
          <a:ln/>
        </p:spPr>
        <p:txBody>
          <a:bodyPr wrap="square" lIns="25400" tIns="25400" rIns="25400" bIns="25400" rtlCol="0" anchor="t">
            <a:normAutofit fontScale="92500" lnSpcReduction="20000"/>
          </a:bodyPr>
          <a:lstStyle/>
          <a:p>
            <a:pPr marL="0" indent="0" algn="l">
              <a:lnSpc>
                <a:spcPct val="165000"/>
              </a:lnSpc>
              <a:buNone/>
            </a:pPr>
            <a:r>
              <a:rPr lang="en-US" sz="1800" dirty="0">
                <a:solidFill>
                  <a:srgbClr val="4E5968"/>
                </a:solidFill>
                <a:latin typeface="Pretendard" pitchFamily="34" charset="0"/>
                <a:ea typeface="Pretendard" pitchFamily="34" charset="-122"/>
                <a:cs typeface="Pretendard" pitchFamily="34" charset="-120"/>
              </a:rPr>
              <a:t>사람 · 장소 · 악기 · 시간이 한 번에 맞아야 </a:t>
            </a:r>
            <a:r>
              <a:rPr lang="en-US" sz="1800" dirty="0" err="1">
                <a:solidFill>
                  <a:srgbClr val="4E5968"/>
                </a:solidFill>
                <a:latin typeface="Pretendard" pitchFamily="34" charset="0"/>
                <a:ea typeface="Pretendard" pitchFamily="34" charset="-122"/>
                <a:cs typeface="Pretendard" pitchFamily="34" charset="-120"/>
              </a:rPr>
              <a:t>성립한다</a:t>
            </a:r>
            <a:r>
              <a:rPr lang="en-US" sz="1800" dirty="0">
                <a:solidFill>
                  <a:srgbClr val="4E5968"/>
                </a:solidFill>
                <a:latin typeface="Pretendard" pitchFamily="34" charset="0"/>
                <a:ea typeface="Pretendard" pitchFamily="34" charset="-122"/>
                <a:cs typeface="Pretendard" pitchFamily="34" charset="-120"/>
              </a:rPr>
              <a:t>.</a:t>
            </a:r>
          </a:p>
          <a:p>
            <a:pPr marL="0" indent="0" algn="l">
              <a:lnSpc>
                <a:spcPct val="165000"/>
              </a:lnSpc>
              <a:buNone/>
            </a:pPr>
            <a:r>
              <a:rPr lang="en-US" sz="1800" dirty="0" err="1">
                <a:solidFill>
                  <a:srgbClr val="4E5968"/>
                </a:solidFill>
                <a:latin typeface="Pretendard" pitchFamily="34" charset="0"/>
                <a:ea typeface="Pretendard" pitchFamily="34" charset="-122"/>
                <a:cs typeface="Pretendard" pitchFamily="34" charset="-120"/>
              </a:rPr>
              <a:t>악기를</a:t>
            </a:r>
            <a:r>
              <a:rPr lang="en-US" sz="1800" dirty="0">
                <a:solidFill>
                  <a:srgbClr val="4E5968"/>
                </a:solidFill>
                <a:latin typeface="Pretendard" pitchFamily="34" charset="0"/>
                <a:ea typeface="Pretendard" pitchFamily="34" charset="-122"/>
                <a:cs typeface="Pretendard" pitchFamily="34" charset="-120"/>
              </a:rPr>
              <a:t> 다룰 줄 알아야 끼어들 수 있어 </a:t>
            </a:r>
            <a:r>
              <a:rPr lang="en-US" sz="1800" b="1" dirty="0">
                <a:solidFill>
                  <a:srgbClr val="191F28"/>
                </a:solidFill>
                <a:latin typeface="Pretendard" pitchFamily="34" charset="0"/>
                <a:ea typeface="Pretendard" pitchFamily="34" charset="-122"/>
                <a:cs typeface="Pretendard" pitchFamily="34" charset="-120"/>
              </a:rPr>
              <a:t>진입장벽이 높다.</a:t>
            </a:r>
            <a:endParaRPr lang="en-US" sz="1800" dirty="0"/>
          </a:p>
        </p:txBody>
      </p:sp>
      <p:sp>
        <p:nvSpPr>
          <p:cNvPr id="8" name="Shape 6"/>
          <p:cNvSpPr/>
          <p:nvPr/>
        </p:nvSpPr>
        <p:spPr>
          <a:xfrm>
            <a:off x="9296400" y="3120330"/>
            <a:ext cx="7753350" cy="2202061"/>
          </a:xfrm>
          <a:prstGeom prst="roundRect">
            <a:avLst>
              <a:gd name="adj" fmla="val 10381"/>
            </a:avLst>
          </a:prstGeom>
          <a:solidFill>
            <a:srgbClr val="F7F8FA"/>
          </a:solidFill>
          <a:ln/>
        </p:spPr>
        <p:txBody>
          <a:bodyPr/>
          <a:lstStyle/>
          <a:p>
            <a:endParaRPr lang="ko-KR" altLang="en-US"/>
          </a:p>
        </p:txBody>
      </p:sp>
      <p:sp>
        <p:nvSpPr>
          <p:cNvPr id="9" name="Text 7"/>
          <p:cNvSpPr/>
          <p:nvPr/>
        </p:nvSpPr>
        <p:spPr>
          <a:xfrm>
            <a:off x="9734550" y="3558480"/>
            <a:ext cx="7564755"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191F28"/>
                </a:solidFill>
                <a:latin typeface="Pretendard" pitchFamily="34" charset="0"/>
                <a:ea typeface="Pretendard" pitchFamily="34" charset="-122"/>
                <a:cs typeface="Pretendard" pitchFamily="34" charset="-120"/>
              </a:rPr>
              <a:t>온라인 실시간 합주</a:t>
            </a:r>
            <a:endParaRPr lang="en-US" sz="2175" dirty="0"/>
          </a:p>
        </p:txBody>
      </p:sp>
      <p:sp>
        <p:nvSpPr>
          <p:cNvPr id="10" name="Text 8"/>
          <p:cNvSpPr/>
          <p:nvPr/>
        </p:nvSpPr>
        <p:spPr>
          <a:xfrm>
            <a:off x="9734550" y="4129980"/>
            <a:ext cx="7083362" cy="792361"/>
          </a:xfrm>
          <a:prstGeom prst="rect">
            <a:avLst/>
          </a:prstGeom>
          <a:noFill/>
          <a:ln/>
        </p:spPr>
        <p:txBody>
          <a:bodyPr wrap="square" lIns="25400" tIns="25400" rIns="25400" bIns="25400" rtlCol="0" anchor="t">
            <a:normAutofit fontScale="92500" lnSpcReduction="20000"/>
          </a:bodyPr>
          <a:lstStyle/>
          <a:p>
            <a:pPr marL="0" indent="0" algn="l">
              <a:lnSpc>
                <a:spcPct val="165000"/>
              </a:lnSpc>
              <a:buNone/>
            </a:pPr>
            <a:r>
              <a:rPr lang="en-US" sz="1800" dirty="0">
                <a:solidFill>
                  <a:srgbClr val="4E5968"/>
                </a:solidFill>
                <a:latin typeface="Pretendard" pitchFamily="34" charset="0"/>
                <a:ea typeface="Pretendard" pitchFamily="34" charset="-122"/>
                <a:cs typeface="Pretendard" pitchFamily="34" charset="-120"/>
              </a:rPr>
              <a:t>양방향 채널 · 시간 동기가 필수라 </a:t>
            </a:r>
            <a:r>
              <a:rPr lang="en-US" sz="1800" b="1" dirty="0">
                <a:solidFill>
                  <a:srgbClr val="191F28"/>
                </a:solidFill>
                <a:latin typeface="Pretendard" pitchFamily="34" charset="0"/>
                <a:ea typeface="Pretendard" pitchFamily="34" charset="-122"/>
                <a:cs typeface="Pretendard" pitchFamily="34" charset="-120"/>
              </a:rPr>
              <a:t>네트워크 지연이 곧 음질 · 싱크 붕괴 </a:t>
            </a:r>
            <a:r>
              <a:rPr lang="en-US" sz="1800" dirty="0">
                <a:solidFill>
                  <a:srgbClr val="4E5968"/>
                </a:solidFill>
                <a:latin typeface="Pretendard" pitchFamily="34" charset="0"/>
                <a:ea typeface="Pretendard" pitchFamily="34" charset="-122"/>
                <a:cs typeface="Pretendard" pitchFamily="34" charset="-120"/>
              </a:rPr>
              <a:t>로 이어진다. 7일 안에 안정화하기 어렵다.</a:t>
            </a:r>
            <a:endParaRPr lang="en-US" sz="1800" dirty="0"/>
          </a:p>
        </p:txBody>
      </p:sp>
      <p:sp>
        <p:nvSpPr>
          <p:cNvPr id="11" name="Text 9"/>
          <p:cNvSpPr/>
          <p:nvPr/>
        </p:nvSpPr>
        <p:spPr>
          <a:xfrm>
            <a:off x="1238250" y="8901113"/>
            <a:ext cx="16285845" cy="509587"/>
          </a:xfrm>
          <a:prstGeom prst="rect">
            <a:avLst/>
          </a:prstGeom>
          <a:noFill/>
          <a:ln/>
        </p:spPr>
        <p:txBody>
          <a:bodyPr wrap="square" lIns="25400" tIns="25400" rIns="25400" bIns="25400" rtlCol="0" anchor="t">
            <a:normAutofit/>
          </a:bodyPr>
          <a:lstStyle/>
          <a:p>
            <a:pPr marL="0" indent="0" algn="l">
              <a:buNone/>
            </a:pPr>
            <a:r>
              <a:rPr lang="en-US" sz="2550" b="1" kern="0" spc="-51" dirty="0">
                <a:solidFill>
                  <a:srgbClr val="191F28"/>
                </a:solidFill>
                <a:latin typeface="Pretendard" pitchFamily="34" charset="0"/>
                <a:ea typeface="Pretendard" pitchFamily="34" charset="-122"/>
                <a:cs typeface="Pretendard" pitchFamily="34" charset="-120"/>
              </a:rPr>
              <a:t>그래서 하모니는 실시간을 빼고, </a:t>
            </a:r>
            <a:r>
              <a:rPr lang="en-US" sz="2550" b="1" kern="0" spc="-51" dirty="0">
                <a:solidFill>
                  <a:srgbClr val="3182F6"/>
                </a:solidFill>
                <a:latin typeface="Pretendard" pitchFamily="34" charset="0"/>
                <a:ea typeface="Pretendard" pitchFamily="34" charset="-122"/>
                <a:cs typeface="Pretendard" pitchFamily="34" charset="-120"/>
              </a:rPr>
              <a:t>비동기로 트랙을 얹습니다</a:t>
            </a:r>
            <a:endParaRPr lang="en-US" sz="2550" dirty="0"/>
          </a:p>
        </p:txBody>
      </p:sp>
      <p:sp>
        <p:nvSpPr>
          <p:cNvPr id="12" name="Text 10"/>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2973299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제품 · 기능 시연</a:t>
            </a:r>
            <a:endParaRPr lang="en-US" sz="1875" dirty="0"/>
          </a:p>
        </p:txBody>
      </p:sp>
      <p:sp>
        <p:nvSpPr>
          <p:cNvPr id="4" name="Text 2"/>
          <p:cNvSpPr/>
          <p:nvPr/>
        </p:nvSpPr>
        <p:spPr>
          <a:xfrm>
            <a:off x="1238250" y="1390650"/>
            <a:ext cx="17392650" cy="63467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350" b="1" kern="0" spc="-130"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스튜디오</a:t>
            </a:r>
            <a:endParaRPr lang="en-US" sz="43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120578"/>
            <a:ext cx="17392650" cy="395288"/>
          </a:xfrm>
          <a:prstGeom prst="rect">
            <a:avLst/>
          </a:prstGeom>
          <a:noFill/>
          <a:ln/>
        </p:spPr>
        <p:txBody>
          <a:bodyPr wrap="square" lIns="25400" tIns="25400" rIns="25400" bIns="25400" rtlCol="0" anchor="t">
            <a:normAutofit/>
          </a:bodyPr>
          <a:lstStyle/>
          <a:p>
            <a:pPr marL="0" indent="0" algn="l">
              <a:buNone/>
            </a:pPr>
            <a:r>
              <a:rPr lang="en-US" sz="1950" dirty="0">
                <a:solidFill>
                  <a:srgbClr val="4E5968"/>
                </a:solidFill>
                <a:latin typeface="Pretendard" pitchFamily="34" charset="0"/>
                <a:ea typeface="Pretendard" pitchFamily="34" charset="-122"/>
                <a:cs typeface="Pretendard" pitchFamily="34" charset="-120"/>
              </a:rPr>
              <a:t>누르거나 카메라로, 코드든 멜로디든. 악기는 네 종류.</a:t>
            </a:r>
            <a:endParaRPr lang="en-US" sz="1950" dirty="0"/>
          </a:p>
        </p:txBody>
      </p:sp>
      <p:sp>
        <p:nvSpPr>
          <p:cNvPr id="6" name="Text 4"/>
          <p:cNvSpPr/>
          <p:nvPr/>
        </p:nvSpPr>
        <p:spPr>
          <a:xfrm>
            <a:off x="1238250" y="4304457"/>
            <a:ext cx="5209855"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터치 · 제스처 모드</a:t>
            </a:r>
            <a:endParaRPr lang="en-US" sz="1950" dirty="0"/>
          </a:p>
        </p:txBody>
      </p:sp>
      <p:sp>
        <p:nvSpPr>
          <p:cNvPr id="7" name="Text 5"/>
          <p:cNvSpPr/>
          <p:nvPr/>
        </p:nvSpPr>
        <p:spPr>
          <a:xfrm>
            <a:off x="1238250" y="4737844"/>
            <a:ext cx="5209855" cy="362843"/>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손가락으로 누르거나, 카메라가 손을 읽어 연주합니다.</a:t>
            </a:r>
            <a:endParaRPr lang="en-US" sz="1650" dirty="0"/>
          </a:p>
        </p:txBody>
      </p:sp>
      <p:sp>
        <p:nvSpPr>
          <p:cNvPr id="8" name="Text 6"/>
          <p:cNvSpPr/>
          <p:nvPr/>
        </p:nvSpPr>
        <p:spPr>
          <a:xfrm>
            <a:off x="1238250" y="5449937"/>
            <a:ext cx="5209855"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코드 · 멜로디 모드</a:t>
            </a:r>
            <a:endParaRPr lang="en-US" sz="1950" dirty="0"/>
          </a:p>
        </p:txBody>
      </p:sp>
      <p:sp>
        <p:nvSpPr>
          <p:cNvPr id="9" name="Text 7"/>
          <p:cNvSpPr/>
          <p:nvPr/>
        </p:nvSpPr>
        <p:spPr>
          <a:xfrm>
            <a:off x="1238250" y="5883325"/>
            <a:ext cx="4878319" cy="687586"/>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반주용 코드 패드와 멜로디용 건반을 한 화면에서 전환합니다.</a:t>
            </a:r>
            <a:endParaRPr lang="en-US" sz="1650" dirty="0"/>
          </a:p>
        </p:txBody>
      </p:sp>
      <p:grpSp>
        <p:nvGrpSpPr>
          <p:cNvPr id="22" name="그룹 21">
            <a:extLst>
              <a:ext uri="{FF2B5EF4-FFF2-40B4-BE49-F238E27FC236}">
                <a16:creationId xmlns:a16="http://schemas.microsoft.com/office/drawing/2014/main" id="{A16AED8C-5A24-174C-15D7-79F0E2E5F538}"/>
              </a:ext>
            </a:extLst>
          </p:cNvPr>
          <p:cNvGrpSpPr/>
          <p:nvPr/>
        </p:nvGrpSpPr>
        <p:grpSpPr>
          <a:xfrm>
            <a:off x="1238250" y="6577261"/>
            <a:ext cx="5209855" cy="1120973"/>
            <a:chOff x="1238250" y="6615361"/>
            <a:chExt cx="5209855" cy="1120973"/>
          </a:xfrm>
        </p:grpSpPr>
        <p:sp>
          <p:nvSpPr>
            <p:cNvPr id="10" name="Text 8"/>
            <p:cNvSpPr/>
            <p:nvPr/>
          </p:nvSpPr>
          <p:spPr>
            <a:xfrm>
              <a:off x="1238250" y="6615361"/>
              <a:ext cx="5209855"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악기 4종</a:t>
              </a:r>
              <a:endParaRPr lang="en-US" sz="1950" dirty="0"/>
            </a:p>
          </p:txBody>
        </p:sp>
        <p:sp>
          <p:nvSpPr>
            <p:cNvPr id="11" name="Text 9"/>
            <p:cNvSpPr/>
            <p:nvPr/>
          </p:nvSpPr>
          <p:spPr>
            <a:xfrm>
              <a:off x="1238250" y="7048748"/>
              <a:ext cx="4878319" cy="687586"/>
            </a:xfrm>
            <a:prstGeom prst="rect">
              <a:avLst/>
            </a:prstGeom>
            <a:noFill/>
            <a:ln/>
          </p:spPr>
          <p:txBody>
            <a:bodyPr wrap="square" lIns="25400" tIns="25400" rIns="25400" bIns="25400" rtlCol="0" anchor="t">
              <a:normAutofit/>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피아노 · 기타 · 베이스 · 드럼, 스타일까지 고를 수 있습니다.</a:t>
              </a:r>
              <a:endParaRPr lang="en-US" sz="1650" dirty="0"/>
            </a:p>
          </p:txBody>
        </p:sp>
      </p:grpSp>
      <p:sp>
        <p:nvSpPr>
          <p:cNvPr id="12" name="Shape 10"/>
          <p:cNvSpPr/>
          <p:nvPr/>
        </p:nvSpPr>
        <p:spPr>
          <a:xfrm>
            <a:off x="7702079" y="3848546"/>
            <a:ext cx="2552700" cy="4119935"/>
          </a:xfrm>
          <a:prstGeom prst="roundRect">
            <a:avLst>
              <a:gd name="adj" fmla="val 11940"/>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3" name="Image 0" descr="preencoded.png"/>
          <p:cNvPicPr>
            <a:picLocks noChangeAspect="1"/>
          </p:cNvPicPr>
          <p:nvPr/>
        </p:nvPicPr>
        <p:blipFill>
          <a:blip r:embed="rId3"/>
          <a:stretch>
            <a:fillRect/>
          </a:stretch>
        </p:blipFill>
        <p:spPr>
          <a:xfrm>
            <a:off x="7702079" y="3848546"/>
            <a:ext cx="2552700" cy="4119935"/>
          </a:xfrm>
          <a:prstGeom prst="rect">
            <a:avLst/>
          </a:prstGeom>
        </p:spPr>
      </p:pic>
      <p:sp>
        <p:nvSpPr>
          <p:cNvPr id="14" name="Text 11"/>
          <p:cNvSpPr/>
          <p:nvPr/>
        </p:nvSpPr>
        <p:spPr>
          <a:xfrm>
            <a:off x="7574444" y="8120881"/>
            <a:ext cx="2807970"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8B95A1"/>
                </a:solidFill>
                <a:latin typeface="Pretendard" pitchFamily="34" charset="0"/>
                <a:ea typeface="Pretendard" pitchFamily="34" charset="-122"/>
                <a:cs typeface="Pretendard" pitchFamily="34" charset="-120"/>
              </a:rPr>
              <a:t>코드 패드 · C Am F G</a:t>
            </a:r>
            <a:endParaRPr lang="en-US" sz="1425" dirty="0"/>
          </a:p>
        </p:txBody>
      </p:sp>
      <p:sp>
        <p:nvSpPr>
          <p:cNvPr id="15" name="Shape 12"/>
          <p:cNvSpPr/>
          <p:nvPr/>
        </p:nvSpPr>
        <p:spPr>
          <a:xfrm>
            <a:off x="10502429" y="3848546"/>
            <a:ext cx="2552700" cy="4119935"/>
          </a:xfrm>
          <a:prstGeom prst="roundRect">
            <a:avLst>
              <a:gd name="adj" fmla="val 11940"/>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10502429" y="3848546"/>
            <a:ext cx="2552700" cy="4119935"/>
          </a:xfrm>
          <a:prstGeom prst="rect">
            <a:avLst/>
          </a:prstGeom>
        </p:spPr>
      </p:pic>
      <p:sp>
        <p:nvSpPr>
          <p:cNvPr id="17" name="Text 13"/>
          <p:cNvSpPr/>
          <p:nvPr/>
        </p:nvSpPr>
        <p:spPr>
          <a:xfrm>
            <a:off x="10374794" y="8120881"/>
            <a:ext cx="2807970"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8B95A1"/>
                </a:solidFill>
                <a:latin typeface="Pretendard" pitchFamily="34" charset="0"/>
                <a:ea typeface="Pretendard" pitchFamily="34" charset="-122"/>
                <a:cs typeface="Pretendard" pitchFamily="34" charset="-120"/>
              </a:rPr>
              <a:t>카메라 제스처 연주</a:t>
            </a:r>
            <a:endParaRPr lang="en-US" sz="1425" dirty="0"/>
          </a:p>
        </p:txBody>
      </p:sp>
      <p:sp>
        <p:nvSpPr>
          <p:cNvPr id="18" name="Shape 14"/>
          <p:cNvSpPr/>
          <p:nvPr/>
        </p:nvSpPr>
        <p:spPr>
          <a:xfrm>
            <a:off x="13302779" y="3848546"/>
            <a:ext cx="2552700" cy="4119935"/>
          </a:xfrm>
          <a:prstGeom prst="roundRect">
            <a:avLst>
              <a:gd name="adj" fmla="val 11940"/>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9" name="Image 2" descr="preencoded.png"/>
          <p:cNvPicPr>
            <a:picLocks noChangeAspect="1"/>
          </p:cNvPicPr>
          <p:nvPr/>
        </p:nvPicPr>
        <p:blipFill>
          <a:blip r:embed="rId5"/>
          <a:stretch>
            <a:fillRect/>
          </a:stretch>
        </p:blipFill>
        <p:spPr>
          <a:xfrm>
            <a:off x="13302779" y="3848546"/>
            <a:ext cx="2552700" cy="4119935"/>
          </a:xfrm>
          <a:prstGeom prst="rect">
            <a:avLst/>
          </a:prstGeom>
        </p:spPr>
      </p:pic>
      <p:sp>
        <p:nvSpPr>
          <p:cNvPr id="20" name="Text 15"/>
          <p:cNvSpPr/>
          <p:nvPr/>
        </p:nvSpPr>
        <p:spPr>
          <a:xfrm>
            <a:off x="13175144" y="8120881"/>
            <a:ext cx="2807970"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8B95A1"/>
                </a:solidFill>
                <a:latin typeface="Pretendard" pitchFamily="34" charset="0"/>
                <a:ea typeface="Pretendard" pitchFamily="34" charset="-122"/>
                <a:cs typeface="Pretendard" pitchFamily="34" charset="-120"/>
              </a:rPr>
              <a:t>멜로디 건반</a:t>
            </a:r>
            <a:endParaRPr lang="en-US" sz="1425" dirty="0"/>
          </a:p>
        </p:txBody>
      </p:sp>
      <p:sp>
        <p:nvSpPr>
          <p:cNvPr id="21" name="Text 16"/>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982375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제품 · 기능 시연</a:t>
            </a:r>
            <a:endParaRPr lang="en-US" sz="1875" dirty="0"/>
          </a:p>
        </p:txBody>
      </p:sp>
      <p:sp>
        <p:nvSpPr>
          <p:cNvPr id="4" name="Text 2"/>
          <p:cNvSpPr/>
          <p:nvPr/>
        </p:nvSpPr>
        <p:spPr>
          <a:xfrm>
            <a:off x="1238250" y="1390650"/>
            <a:ext cx="17392650" cy="63467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350" b="1" kern="0" spc="-130"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커뮤니티</a:t>
            </a:r>
            <a:endParaRPr lang="en-US" sz="43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120578"/>
            <a:ext cx="17392650" cy="395288"/>
          </a:xfrm>
          <a:prstGeom prst="rect">
            <a:avLst/>
          </a:prstGeom>
          <a:noFill/>
          <a:ln/>
        </p:spPr>
        <p:txBody>
          <a:bodyPr wrap="square" lIns="25400" tIns="25400" rIns="25400" bIns="25400" rtlCol="0" anchor="t">
            <a:normAutofit/>
          </a:bodyPr>
          <a:lstStyle/>
          <a:p>
            <a:pPr marL="0" indent="0" algn="l">
              <a:buNone/>
            </a:pPr>
            <a:r>
              <a:rPr lang="en-US" sz="1950" dirty="0">
                <a:solidFill>
                  <a:srgbClr val="4E5968"/>
                </a:solidFill>
                <a:latin typeface="Pretendard" pitchFamily="34" charset="0"/>
                <a:ea typeface="Pretendard" pitchFamily="34" charset="-122"/>
                <a:cs typeface="Pretendard" pitchFamily="34" charset="-120"/>
              </a:rPr>
              <a:t>다른 사람 합주를 듣고, 그 위에 내 악기를 얹습니다.</a:t>
            </a:r>
            <a:endParaRPr lang="en-US" sz="1950" dirty="0"/>
          </a:p>
        </p:txBody>
      </p:sp>
      <p:sp>
        <p:nvSpPr>
          <p:cNvPr id="6" name="Text 4"/>
          <p:cNvSpPr/>
          <p:nvPr/>
        </p:nvSpPr>
        <p:spPr>
          <a:xfrm>
            <a:off x="1238250" y="4656187"/>
            <a:ext cx="400050" cy="347663"/>
          </a:xfrm>
          <a:prstGeom prst="rect">
            <a:avLst/>
          </a:prstGeom>
          <a:noFill/>
          <a:ln/>
        </p:spPr>
        <p:txBody>
          <a:bodyPr wrap="square" lIns="25400" tIns="25400" rIns="25400" bIns="25400" rtlCol="0" anchor="t">
            <a:normAutofit/>
          </a:bodyPr>
          <a:lstStyle/>
          <a:p>
            <a:pPr marL="0" indent="0" algn="l">
              <a:buNone/>
            </a:pPr>
            <a:r>
              <a:rPr lang="en-US" sz="1725" b="1" dirty="0">
                <a:solidFill>
                  <a:srgbClr val="3182F6"/>
                </a:solidFill>
                <a:latin typeface="Pretendard" pitchFamily="34" charset="0"/>
                <a:ea typeface="Pretendard" pitchFamily="34" charset="-122"/>
                <a:cs typeface="Pretendard" pitchFamily="34" charset="-120"/>
              </a:rPr>
              <a:t>01</a:t>
            </a:r>
            <a:endParaRPr lang="en-US" sz="1725" dirty="0"/>
          </a:p>
        </p:txBody>
      </p:sp>
      <p:sp>
        <p:nvSpPr>
          <p:cNvPr id="7" name="Text 5"/>
          <p:cNvSpPr/>
          <p:nvPr/>
        </p:nvSpPr>
        <p:spPr>
          <a:xfrm>
            <a:off x="1752600" y="4656187"/>
            <a:ext cx="5113757"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들어보고, 반응하기</a:t>
            </a:r>
            <a:endParaRPr lang="en-US" sz="1950" dirty="0"/>
          </a:p>
        </p:txBody>
      </p:sp>
      <p:sp>
        <p:nvSpPr>
          <p:cNvPr id="8" name="Text 6"/>
          <p:cNvSpPr/>
          <p:nvPr/>
        </p:nvSpPr>
        <p:spPr>
          <a:xfrm>
            <a:off x="1752600" y="5080050"/>
            <a:ext cx="5113757" cy="362843"/>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재생으로 남의 합주를 듣고 좋아요와 댓글을 남깁니다.</a:t>
            </a:r>
            <a:endParaRPr lang="en-US" sz="1650" dirty="0"/>
          </a:p>
        </p:txBody>
      </p:sp>
      <p:sp>
        <p:nvSpPr>
          <p:cNvPr id="9" name="Text 7"/>
          <p:cNvSpPr/>
          <p:nvPr/>
        </p:nvSpPr>
        <p:spPr>
          <a:xfrm>
            <a:off x="1238250" y="5690543"/>
            <a:ext cx="400050" cy="347663"/>
          </a:xfrm>
          <a:prstGeom prst="rect">
            <a:avLst/>
          </a:prstGeom>
          <a:noFill/>
          <a:ln/>
        </p:spPr>
        <p:txBody>
          <a:bodyPr wrap="square" lIns="25400" tIns="25400" rIns="25400" bIns="25400" rtlCol="0" anchor="t">
            <a:normAutofit/>
          </a:bodyPr>
          <a:lstStyle/>
          <a:p>
            <a:pPr marL="0" indent="0" algn="l">
              <a:buNone/>
            </a:pPr>
            <a:r>
              <a:rPr lang="en-US" sz="1725" b="1" dirty="0">
                <a:solidFill>
                  <a:srgbClr val="3182F6"/>
                </a:solidFill>
                <a:latin typeface="Pretendard" pitchFamily="34" charset="0"/>
                <a:ea typeface="Pretendard" pitchFamily="34" charset="-122"/>
                <a:cs typeface="Pretendard" pitchFamily="34" charset="-120"/>
              </a:rPr>
              <a:t>02</a:t>
            </a:r>
            <a:endParaRPr lang="en-US" sz="1725" dirty="0"/>
          </a:p>
        </p:txBody>
      </p:sp>
      <p:sp>
        <p:nvSpPr>
          <p:cNvPr id="10" name="Text 8"/>
          <p:cNvSpPr/>
          <p:nvPr/>
        </p:nvSpPr>
        <p:spPr>
          <a:xfrm>
            <a:off x="1752600" y="5690543"/>
            <a:ext cx="4053401"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내 트랙에 추가</a:t>
            </a:r>
            <a:endParaRPr lang="en-US" sz="1950" dirty="0"/>
          </a:p>
        </p:txBody>
      </p:sp>
      <p:sp>
        <p:nvSpPr>
          <p:cNvPr id="11" name="Text 9"/>
          <p:cNvSpPr/>
          <p:nvPr/>
        </p:nvSpPr>
        <p:spPr>
          <a:xfrm>
            <a:off x="1752600" y="6114405"/>
            <a:ext cx="4053401" cy="362843"/>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마음에 들면 가져와 내 연주 위에 얹습니다.</a:t>
            </a:r>
            <a:endParaRPr lang="en-US" sz="1650" dirty="0"/>
          </a:p>
        </p:txBody>
      </p:sp>
      <p:sp>
        <p:nvSpPr>
          <p:cNvPr id="12" name="Text 10"/>
          <p:cNvSpPr/>
          <p:nvPr/>
        </p:nvSpPr>
        <p:spPr>
          <a:xfrm>
            <a:off x="1238250" y="6724898"/>
            <a:ext cx="400050" cy="347663"/>
          </a:xfrm>
          <a:prstGeom prst="rect">
            <a:avLst/>
          </a:prstGeom>
          <a:noFill/>
          <a:ln/>
        </p:spPr>
        <p:txBody>
          <a:bodyPr wrap="square" lIns="25400" tIns="25400" rIns="25400" bIns="25400" rtlCol="0" anchor="t">
            <a:normAutofit/>
          </a:bodyPr>
          <a:lstStyle/>
          <a:p>
            <a:pPr marL="0" indent="0" algn="l">
              <a:buNone/>
            </a:pPr>
            <a:r>
              <a:rPr lang="en-US" sz="1725" b="1" dirty="0">
                <a:solidFill>
                  <a:srgbClr val="3182F6"/>
                </a:solidFill>
                <a:latin typeface="Pretendard" pitchFamily="34" charset="0"/>
                <a:ea typeface="Pretendard" pitchFamily="34" charset="-122"/>
                <a:cs typeface="Pretendard" pitchFamily="34" charset="-120"/>
              </a:rPr>
              <a:t>03</a:t>
            </a:r>
            <a:endParaRPr lang="en-US" sz="1725" dirty="0"/>
          </a:p>
        </p:txBody>
      </p:sp>
      <p:sp>
        <p:nvSpPr>
          <p:cNvPr id="13" name="Text 11"/>
          <p:cNvSpPr/>
          <p:nvPr/>
        </p:nvSpPr>
        <p:spPr>
          <a:xfrm>
            <a:off x="1752600" y="6724898"/>
            <a:ext cx="6038805" cy="395288"/>
          </a:xfrm>
          <a:prstGeom prst="rect">
            <a:avLst/>
          </a:prstGeom>
          <a:noFill/>
          <a:ln/>
        </p:spPr>
        <p:txBody>
          <a:bodyPr wrap="square" lIns="25400" tIns="25400" rIns="25400" bIns="25400" rtlCol="0" anchor="t">
            <a:normAutofit/>
          </a:bodyPr>
          <a:lstStyle/>
          <a:p>
            <a:pPr marL="0" indent="0" algn="l">
              <a:buNone/>
            </a:pPr>
            <a:r>
              <a:rPr lang="en-US" sz="1950" b="1" dirty="0">
                <a:solidFill>
                  <a:srgbClr val="191F28"/>
                </a:solidFill>
                <a:latin typeface="Pretendard" pitchFamily="34" charset="0"/>
                <a:ea typeface="Pretendard" pitchFamily="34" charset="-122"/>
                <a:cs typeface="Pretendard" pitchFamily="34" charset="-120"/>
              </a:rPr>
              <a:t>올리기</a:t>
            </a:r>
            <a:endParaRPr lang="en-US" sz="1950" dirty="0"/>
          </a:p>
        </p:txBody>
      </p:sp>
      <p:sp>
        <p:nvSpPr>
          <p:cNvPr id="14" name="Text 12"/>
          <p:cNvSpPr/>
          <p:nvPr/>
        </p:nvSpPr>
        <p:spPr>
          <a:xfrm>
            <a:off x="1752600" y="7148761"/>
            <a:ext cx="6038805" cy="362843"/>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dirty="0">
                <a:solidFill>
                  <a:srgbClr val="4E5968"/>
                </a:solidFill>
                <a:latin typeface="Pretendard" pitchFamily="34" charset="0"/>
                <a:ea typeface="Pretendard" pitchFamily="34" charset="-122"/>
                <a:cs typeface="Pretendard" pitchFamily="34" charset="-120"/>
              </a:rPr>
              <a:t>완성한 합주를 보드에 공개하고, 최신순·인기순으로 둘러봅니다.</a:t>
            </a:r>
            <a:endParaRPr lang="en-US" sz="1650" dirty="0"/>
          </a:p>
        </p:txBody>
      </p:sp>
      <p:sp>
        <p:nvSpPr>
          <p:cNvPr id="15" name="Shape 13"/>
          <p:cNvSpPr/>
          <p:nvPr/>
        </p:nvSpPr>
        <p:spPr>
          <a:xfrm>
            <a:off x="10200382" y="3723010"/>
            <a:ext cx="2705100" cy="4371008"/>
          </a:xfrm>
          <a:prstGeom prst="roundRect">
            <a:avLst>
              <a:gd name="adj" fmla="val 11268"/>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6" name="Image 0" descr="preencoded.png"/>
          <p:cNvPicPr>
            <a:picLocks noChangeAspect="1"/>
          </p:cNvPicPr>
          <p:nvPr/>
        </p:nvPicPr>
        <p:blipFill>
          <a:blip r:embed="rId3"/>
          <a:stretch>
            <a:fillRect/>
          </a:stretch>
        </p:blipFill>
        <p:spPr>
          <a:xfrm>
            <a:off x="10200382" y="3723010"/>
            <a:ext cx="2705100" cy="4371008"/>
          </a:xfrm>
          <a:prstGeom prst="rect">
            <a:avLst/>
          </a:prstGeom>
        </p:spPr>
      </p:pic>
      <p:sp>
        <p:nvSpPr>
          <p:cNvPr id="17" name="Text 14"/>
          <p:cNvSpPr/>
          <p:nvPr/>
        </p:nvSpPr>
        <p:spPr>
          <a:xfrm>
            <a:off x="10065127" y="8246418"/>
            <a:ext cx="2975610"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8B95A1"/>
                </a:solidFill>
                <a:latin typeface="Pretendard" pitchFamily="34" charset="0"/>
                <a:ea typeface="Pretendard" pitchFamily="34" charset="-122"/>
                <a:cs typeface="Pretendard" pitchFamily="34" charset="-120"/>
              </a:rPr>
              <a:t>커뮤니티 둘러보기</a:t>
            </a:r>
            <a:endParaRPr lang="en-US" sz="1425" dirty="0"/>
          </a:p>
        </p:txBody>
      </p:sp>
      <p:sp>
        <p:nvSpPr>
          <p:cNvPr id="18" name="Shape 15"/>
          <p:cNvSpPr/>
          <p:nvPr/>
        </p:nvSpPr>
        <p:spPr>
          <a:xfrm>
            <a:off x="13191232" y="3723010"/>
            <a:ext cx="2705100" cy="4371008"/>
          </a:xfrm>
          <a:prstGeom prst="roundRect">
            <a:avLst>
              <a:gd name="adj" fmla="val 11268"/>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9" name="Image 1" descr="preencoded.png"/>
          <p:cNvPicPr>
            <a:picLocks noChangeAspect="1"/>
          </p:cNvPicPr>
          <p:nvPr/>
        </p:nvPicPr>
        <p:blipFill>
          <a:blip r:embed="rId4"/>
          <a:stretch>
            <a:fillRect/>
          </a:stretch>
        </p:blipFill>
        <p:spPr>
          <a:xfrm>
            <a:off x="13191232" y="3723010"/>
            <a:ext cx="2705100" cy="4371008"/>
          </a:xfrm>
          <a:prstGeom prst="rect">
            <a:avLst/>
          </a:prstGeom>
        </p:spPr>
      </p:pic>
      <p:sp>
        <p:nvSpPr>
          <p:cNvPr id="20" name="Text 16"/>
          <p:cNvSpPr/>
          <p:nvPr/>
        </p:nvSpPr>
        <p:spPr>
          <a:xfrm>
            <a:off x="13055977" y="8246418"/>
            <a:ext cx="2975610"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8B95A1"/>
                </a:solidFill>
                <a:latin typeface="Pretendard" pitchFamily="34" charset="0"/>
                <a:ea typeface="Pretendard" pitchFamily="34" charset="-122"/>
                <a:cs typeface="Pretendard" pitchFamily="34" charset="-120"/>
              </a:rPr>
              <a:t>가져와 내 트랙에 얹기</a:t>
            </a:r>
            <a:endParaRPr lang="en-US" sz="1425" dirty="0"/>
          </a:p>
        </p:txBody>
      </p:sp>
      <p:sp>
        <p:nvSpPr>
          <p:cNvPr id="21" name="Text 17"/>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3328962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SemiBold" panose="02000703000000020004" pitchFamily="50" charset="-127"/>
                <a:ea typeface="Pretendard SemiBold" panose="02000703000000020004" pitchFamily="50" charset="-127"/>
                <a:cs typeface="Pretendard SemiBold" panose="02000703000000020004" pitchFamily="50" charset="-127"/>
              </a:rPr>
              <a:t>제품 · 기능 시연</a:t>
            </a:r>
            <a:endParaRPr lang="en-US" sz="187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4" name="Text 2"/>
          <p:cNvSpPr/>
          <p:nvPr/>
        </p:nvSpPr>
        <p:spPr>
          <a:xfrm>
            <a:off x="1238250" y="1390650"/>
            <a:ext cx="17392650" cy="63467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350" b="1" kern="0" spc="-130"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라이브 시연</a:t>
            </a:r>
            <a:endParaRPr lang="en-US" sz="43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120578"/>
            <a:ext cx="17392650" cy="395288"/>
          </a:xfrm>
          <a:prstGeom prst="rect">
            <a:avLst/>
          </a:prstGeom>
          <a:noFill/>
          <a:ln/>
        </p:spPr>
        <p:txBody>
          <a:bodyPr wrap="square" lIns="25400" tIns="25400" rIns="25400" bIns="25400" rtlCol="0" anchor="t">
            <a:normAutofit/>
          </a:bodyPr>
          <a:lstStyle/>
          <a:p>
            <a:pPr marL="0" indent="0" algn="l">
              <a:buNone/>
            </a:pPr>
            <a:r>
              <a:rPr lang="en-US" sz="1950" dirty="0">
                <a:solidFill>
                  <a:srgbClr val="4E5968"/>
                </a:solidFill>
                <a:latin typeface="Pretendard SemiBold" panose="02000703000000020004" pitchFamily="50" charset="-127"/>
                <a:ea typeface="Pretendard SemiBold" panose="02000703000000020004" pitchFamily="50" charset="-127"/>
                <a:cs typeface="Pretendard SemiBold" panose="02000703000000020004" pitchFamily="50" charset="-127"/>
              </a:rPr>
              <a:t>연주에서 합주까지, 5분.</a:t>
            </a:r>
            <a:endParaRPr lang="en-US" sz="1950"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
        <p:nvSpPr>
          <p:cNvPr id="6" name="Shape 4"/>
          <p:cNvSpPr/>
          <p:nvPr/>
        </p:nvSpPr>
        <p:spPr>
          <a:xfrm>
            <a:off x="1238250" y="2839715"/>
            <a:ext cx="7507932" cy="6532885"/>
          </a:xfrm>
          <a:prstGeom prst="roundRect">
            <a:avLst>
              <a:gd name="adj" fmla="val 3499"/>
            </a:avLst>
          </a:prstGeom>
          <a:solidFill>
            <a:srgbClr val="000000"/>
          </a:solidFill>
          <a:ln/>
          <a:effectLst>
            <a:outerShdw blurRad="381000" dist="133350" dir="5400000" algn="bl" rotWithShape="0">
              <a:srgbClr val="141E32">
                <a:alpha val="16000"/>
              </a:srgbClr>
            </a:outerShdw>
          </a:effectLst>
        </p:spPr>
        <p:txBody>
          <a:bodyPr/>
          <a:lstStyle/>
          <a:p>
            <a:endParaRPr lang="ko-KR" altLang="en-US"/>
          </a:p>
        </p:txBody>
      </p:sp>
      <p:pic>
        <p:nvPicPr>
          <p:cNvPr id="7" name="Image 0" descr="preencoded.png"/>
          <p:cNvPicPr>
            <a:picLocks noChangeAspect="1"/>
          </p:cNvPicPr>
          <p:nvPr/>
        </p:nvPicPr>
        <p:blipFill>
          <a:blip r:embed="rId3"/>
          <a:srcRect l="-12797" r="-12797"/>
          <a:stretch/>
        </p:blipFill>
        <p:spPr>
          <a:xfrm>
            <a:off x="1238250" y="2839715"/>
            <a:ext cx="7507932" cy="6532885"/>
          </a:xfrm>
          <a:prstGeom prst="rect">
            <a:avLst/>
          </a:prstGeom>
        </p:spPr>
      </p:pic>
      <p:sp>
        <p:nvSpPr>
          <p:cNvPr id="8" name="Shape 5"/>
          <p:cNvSpPr/>
          <p:nvPr/>
        </p:nvSpPr>
        <p:spPr>
          <a:xfrm>
            <a:off x="9241482" y="2839715"/>
            <a:ext cx="342900" cy="342900"/>
          </a:xfrm>
          <a:prstGeom prst="ellipse">
            <a:avLst/>
          </a:prstGeom>
          <a:solidFill>
            <a:srgbClr val="3182F6"/>
          </a:solidFill>
          <a:ln/>
        </p:spPr>
        <p:txBody>
          <a:bodyPr/>
          <a:lstStyle/>
          <a:p>
            <a:endParaRPr lang="ko-KR" altLang="en-US"/>
          </a:p>
        </p:txBody>
      </p:sp>
      <p:sp>
        <p:nvSpPr>
          <p:cNvPr id="9" name="Text 6"/>
          <p:cNvSpPr/>
          <p:nvPr/>
        </p:nvSpPr>
        <p:spPr>
          <a:xfrm>
            <a:off x="9203382" y="2839715"/>
            <a:ext cx="419100" cy="381000"/>
          </a:xfrm>
          <a:prstGeom prst="rect">
            <a:avLst/>
          </a:prstGeom>
          <a:noFill/>
          <a:ln/>
        </p:spPr>
        <p:txBody>
          <a:bodyPr wrap="square" lIns="25400" tIns="25400" rIns="25400" bIns="25400" rtlCol="0" anchor="ctr">
            <a:normAutofit/>
          </a:bodyP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1</a:t>
            </a:r>
            <a:endParaRPr lang="en-US" sz="1350" dirty="0"/>
          </a:p>
        </p:txBody>
      </p:sp>
      <p:sp>
        <p:nvSpPr>
          <p:cNvPr id="10" name="Text 7"/>
          <p:cNvSpPr/>
          <p:nvPr/>
        </p:nvSpPr>
        <p:spPr>
          <a:xfrm>
            <a:off x="9755832" y="2854003"/>
            <a:ext cx="3740713"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itchFamily="34" charset="0"/>
                <a:ea typeface="Pretendard" pitchFamily="34" charset="-122"/>
                <a:cs typeface="Pretendard" pitchFamily="34" charset="-120"/>
              </a:rPr>
              <a:t>연주·녹음 </a:t>
            </a:r>
            <a:r>
              <a:rPr lang="en-US" sz="1725" dirty="0">
                <a:solidFill>
                  <a:srgbClr val="8B95A1"/>
                </a:solidFill>
                <a:latin typeface="Pretendard" pitchFamily="34" charset="0"/>
                <a:ea typeface="Pretendard" pitchFamily="34" charset="-122"/>
                <a:cs typeface="Pretendard" pitchFamily="34" charset="-120"/>
              </a:rPr>
              <a:t>코드 매트릭스 반주 한 트랙</a:t>
            </a:r>
            <a:endParaRPr lang="en-US" sz="1725" dirty="0"/>
          </a:p>
        </p:txBody>
      </p:sp>
      <p:sp>
        <p:nvSpPr>
          <p:cNvPr id="11" name="Shape 8"/>
          <p:cNvSpPr/>
          <p:nvPr/>
        </p:nvSpPr>
        <p:spPr>
          <a:xfrm>
            <a:off x="9241482" y="3335015"/>
            <a:ext cx="342900" cy="342900"/>
          </a:xfrm>
          <a:prstGeom prst="ellipse">
            <a:avLst/>
          </a:prstGeom>
          <a:solidFill>
            <a:srgbClr val="3182F6"/>
          </a:solidFill>
          <a:ln/>
        </p:spPr>
        <p:txBody>
          <a:bodyPr/>
          <a:lstStyle/>
          <a:p>
            <a:endParaRPr lang="ko-KR" altLang="en-US"/>
          </a:p>
        </p:txBody>
      </p:sp>
      <p:sp>
        <p:nvSpPr>
          <p:cNvPr id="12" name="Text 9"/>
          <p:cNvSpPr/>
          <p:nvPr/>
        </p:nvSpPr>
        <p:spPr>
          <a:xfrm>
            <a:off x="9203382" y="3335015"/>
            <a:ext cx="419100" cy="381000"/>
          </a:xfrm>
          <a:prstGeom prst="rect">
            <a:avLst/>
          </a:prstGeom>
          <a:noFill/>
          <a:ln/>
        </p:spPr>
        <p:txBody>
          <a:bodyPr wrap="square" lIns="25400" tIns="25400" rIns="25400" bIns="25400" rtlCol="0" anchor="ctr">
            <a:normAutofit/>
          </a:bodyP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2</a:t>
            </a:r>
            <a:endParaRPr lang="en-US" sz="1350" dirty="0"/>
          </a:p>
        </p:txBody>
      </p:sp>
      <p:sp>
        <p:nvSpPr>
          <p:cNvPr id="13" name="Text 10"/>
          <p:cNvSpPr/>
          <p:nvPr/>
        </p:nvSpPr>
        <p:spPr>
          <a:xfrm>
            <a:off x="9755832" y="3349303"/>
            <a:ext cx="3371709"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itchFamily="34" charset="0"/>
                <a:ea typeface="Pretendard" pitchFamily="34" charset="-122"/>
                <a:cs typeface="Pretendard" pitchFamily="34" charset="-120"/>
              </a:rPr>
              <a:t>트랙 추가 </a:t>
            </a:r>
            <a:r>
              <a:rPr lang="en-US" sz="1725" dirty="0">
                <a:solidFill>
                  <a:srgbClr val="8B95A1"/>
                </a:solidFill>
                <a:latin typeface="Pretendard" pitchFamily="34" charset="0"/>
                <a:ea typeface="Pretendard" pitchFamily="34" charset="-122"/>
                <a:cs typeface="Pretendard" pitchFamily="34" charset="-120"/>
              </a:rPr>
              <a:t>멜로디 건반으로 레이어</a:t>
            </a:r>
            <a:endParaRPr lang="en-US" sz="1725" dirty="0"/>
          </a:p>
        </p:txBody>
      </p:sp>
      <p:sp>
        <p:nvSpPr>
          <p:cNvPr id="14" name="Shape 11"/>
          <p:cNvSpPr/>
          <p:nvPr/>
        </p:nvSpPr>
        <p:spPr>
          <a:xfrm>
            <a:off x="9241482" y="3830315"/>
            <a:ext cx="342900" cy="342900"/>
          </a:xfrm>
          <a:prstGeom prst="ellipse">
            <a:avLst/>
          </a:prstGeom>
          <a:solidFill>
            <a:srgbClr val="3182F6"/>
          </a:solidFill>
          <a:ln/>
        </p:spPr>
        <p:txBody>
          <a:bodyPr/>
          <a:lstStyle/>
          <a:p>
            <a:endParaRPr lang="ko-KR" altLang="en-US"/>
          </a:p>
        </p:txBody>
      </p:sp>
      <p:sp>
        <p:nvSpPr>
          <p:cNvPr id="15" name="Text 12"/>
          <p:cNvSpPr/>
          <p:nvPr/>
        </p:nvSpPr>
        <p:spPr>
          <a:xfrm>
            <a:off x="9203382" y="3830315"/>
            <a:ext cx="419100" cy="381000"/>
          </a:xfrm>
          <a:prstGeom prst="rect">
            <a:avLst/>
          </a:prstGeom>
          <a:noFill/>
          <a:ln/>
        </p:spPr>
        <p:txBody>
          <a:bodyPr wrap="square" lIns="25400" tIns="25400" rIns="25400" bIns="25400" rtlCol="0" anchor="ctr">
            <a:normAutofit/>
          </a:bodyP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3</a:t>
            </a:r>
            <a:endParaRPr lang="en-US" sz="1350" dirty="0"/>
          </a:p>
        </p:txBody>
      </p:sp>
      <p:sp>
        <p:nvSpPr>
          <p:cNvPr id="16" name="Text 13"/>
          <p:cNvSpPr/>
          <p:nvPr/>
        </p:nvSpPr>
        <p:spPr>
          <a:xfrm>
            <a:off x="9755832" y="3844603"/>
            <a:ext cx="2397219"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itchFamily="34" charset="0"/>
                <a:ea typeface="Pretendard" pitchFamily="34" charset="-122"/>
                <a:cs typeface="Pretendard" pitchFamily="34" charset="-120"/>
              </a:rPr>
              <a:t>공유 코드 </a:t>
            </a:r>
            <a:r>
              <a:rPr lang="en-US" sz="1725" dirty="0">
                <a:solidFill>
                  <a:srgbClr val="8B95A1"/>
                </a:solidFill>
                <a:latin typeface="Pretendard" pitchFamily="34" charset="0"/>
                <a:ea typeface="Pretendard" pitchFamily="34" charset="-122"/>
                <a:cs typeface="Pretendard" pitchFamily="34" charset="-120"/>
              </a:rPr>
              <a:t>6자 코드 발급</a:t>
            </a:r>
            <a:endParaRPr lang="en-US" sz="1725" dirty="0"/>
          </a:p>
        </p:txBody>
      </p:sp>
      <p:sp>
        <p:nvSpPr>
          <p:cNvPr id="17" name="Shape 14"/>
          <p:cNvSpPr/>
          <p:nvPr/>
        </p:nvSpPr>
        <p:spPr>
          <a:xfrm>
            <a:off x="9241482" y="4325615"/>
            <a:ext cx="342900" cy="342900"/>
          </a:xfrm>
          <a:prstGeom prst="ellipse">
            <a:avLst/>
          </a:prstGeom>
          <a:solidFill>
            <a:srgbClr val="3182F6"/>
          </a:solidFill>
          <a:ln/>
        </p:spPr>
        <p:txBody>
          <a:bodyPr/>
          <a:lstStyle/>
          <a:p>
            <a:endParaRPr lang="ko-KR" altLang="en-US"/>
          </a:p>
        </p:txBody>
      </p:sp>
      <p:sp>
        <p:nvSpPr>
          <p:cNvPr id="18" name="Text 15"/>
          <p:cNvSpPr/>
          <p:nvPr/>
        </p:nvSpPr>
        <p:spPr>
          <a:xfrm>
            <a:off x="9203382" y="4325615"/>
            <a:ext cx="419100" cy="381000"/>
          </a:xfrm>
          <a:prstGeom prst="rect">
            <a:avLst/>
          </a:prstGeom>
          <a:noFill/>
          <a:ln/>
        </p:spPr>
        <p:txBody>
          <a:bodyPr wrap="square" lIns="25400" tIns="25400" rIns="25400" bIns="25400" rtlCol="0" anchor="ctr">
            <a:normAutofit/>
          </a:bodyP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4</a:t>
            </a:r>
            <a:endParaRPr lang="en-US" sz="1350" dirty="0"/>
          </a:p>
        </p:txBody>
      </p:sp>
      <p:sp>
        <p:nvSpPr>
          <p:cNvPr id="19" name="Text 16"/>
          <p:cNvSpPr/>
          <p:nvPr/>
        </p:nvSpPr>
        <p:spPr>
          <a:xfrm>
            <a:off x="9755832" y="4339903"/>
            <a:ext cx="4170782"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itchFamily="34" charset="0"/>
                <a:ea typeface="Pretendard" pitchFamily="34" charset="-122"/>
                <a:cs typeface="Pretendard" pitchFamily="34" charset="-120"/>
              </a:rPr>
              <a:t>가져와 얹기 </a:t>
            </a:r>
            <a:r>
              <a:rPr lang="en-US" sz="1725" dirty="0">
                <a:solidFill>
                  <a:srgbClr val="8B95A1"/>
                </a:solidFill>
                <a:latin typeface="Pretendard" pitchFamily="34" charset="0"/>
                <a:ea typeface="Pretendard" pitchFamily="34" charset="-122"/>
                <a:cs typeface="Pretendard" pitchFamily="34" charset="-120"/>
              </a:rPr>
              <a:t>타 사용자 음원으로 트랙 추가</a:t>
            </a:r>
            <a:endParaRPr lang="en-US" sz="1725" dirty="0"/>
          </a:p>
        </p:txBody>
      </p:sp>
      <p:sp>
        <p:nvSpPr>
          <p:cNvPr id="20" name="Shape 17"/>
          <p:cNvSpPr/>
          <p:nvPr/>
        </p:nvSpPr>
        <p:spPr>
          <a:xfrm>
            <a:off x="9241482" y="4820915"/>
            <a:ext cx="342900" cy="342900"/>
          </a:xfrm>
          <a:prstGeom prst="ellipse">
            <a:avLst/>
          </a:prstGeom>
          <a:solidFill>
            <a:srgbClr val="15C47E"/>
          </a:solidFill>
          <a:ln/>
        </p:spPr>
        <p:txBody>
          <a:bodyPr/>
          <a:lstStyle/>
          <a:p>
            <a:endParaRPr lang="ko-KR" altLang="en-US"/>
          </a:p>
        </p:txBody>
      </p:sp>
      <p:sp>
        <p:nvSpPr>
          <p:cNvPr id="21" name="Text 18"/>
          <p:cNvSpPr/>
          <p:nvPr/>
        </p:nvSpPr>
        <p:spPr>
          <a:xfrm>
            <a:off x="9203382" y="4820915"/>
            <a:ext cx="419100" cy="381000"/>
          </a:xfrm>
          <a:prstGeom prst="rect">
            <a:avLst/>
          </a:prstGeom>
          <a:noFill/>
          <a:ln/>
        </p:spPr>
        <p:txBody>
          <a:bodyPr wrap="square" lIns="25400" tIns="25400" rIns="25400" bIns="25400" rtlCol="0" anchor="ctr">
            <a:normAutofit/>
          </a:bodyP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5</a:t>
            </a:r>
            <a:endParaRPr lang="en-US" sz="1350" dirty="0"/>
          </a:p>
        </p:txBody>
      </p:sp>
      <p:sp>
        <p:nvSpPr>
          <p:cNvPr id="22" name="Text 19"/>
          <p:cNvSpPr/>
          <p:nvPr/>
        </p:nvSpPr>
        <p:spPr>
          <a:xfrm>
            <a:off x="9755832" y="4835203"/>
            <a:ext cx="3589690"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itchFamily="34" charset="0"/>
                <a:ea typeface="Pretendard" pitchFamily="34" charset="-122"/>
                <a:cs typeface="Pretendard" pitchFamily="34" charset="-120"/>
              </a:rPr>
              <a:t>합주 재생 </a:t>
            </a:r>
            <a:r>
              <a:rPr lang="en-US" sz="1725" dirty="0">
                <a:solidFill>
                  <a:srgbClr val="8B95A1"/>
                </a:solidFill>
                <a:latin typeface="Pretendard" pitchFamily="34" charset="0"/>
                <a:ea typeface="Pretendard" pitchFamily="34" charset="-122"/>
                <a:cs typeface="Pretendard" pitchFamily="34" charset="-120"/>
              </a:rPr>
              <a:t>append-only로 합쳐 듣기</a:t>
            </a:r>
            <a:endParaRPr lang="en-US" sz="1725" dirty="0"/>
          </a:p>
        </p:txBody>
      </p:sp>
      <p:sp>
        <p:nvSpPr>
          <p:cNvPr id="23" name="Shape 20"/>
          <p:cNvSpPr/>
          <p:nvPr/>
        </p:nvSpPr>
        <p:spPr>
          <a:xfrm>
            <a:off x="9241482" y="8025854"/>
            <a:ext cx="7808268" cy="1346746"/>
          </a:xfrm>
          <a:prstGeom prst="roundRect">
            <a:avLst>
              <a:gd name="adj" fmla="val 12731"/>
            </a:avLst>
          </a:prstGeom>
          <a:solidFill>
            <a:srgbClr val="F7F8FA"/>
          </a:solidFill>
          <a:ln/>
        </p:spPr>
        <p:txBody>
          <a:bodyPr/>
          <a:lstStyle/>
          <a:p>
            <a:endParaRPr lang="ko-KR" altLang="en-US"/>
          </a:p>
        </p:txBody>
      </p:sp>
      <p:sp>
        <p:nvSpPr>
          <p:cNvPr id="24" name="Shape 21"/>
          <p:cNvSpPr/>
          <p:nvPr/>
        </p:nvSpPr>
        <p:spPr>
          <a:xfrm>
            <a:off x="9508182" y="8309223"/>
            <a:ext cx="104775" cy="104775"/>
          </a:xfrm>
          <a:prstGeom prst="ellipse">
            <a:avLst/>
          </a:prstGeom>
          <a:solidFill>
            <a:srgbClr val="FF5247"/>
          </a:solidFill>
          <a:ln/>
        </p:spPr>
        <p:txBody>
          <a:bodyPr/>
          <a:lstStyle/>
          <a:p>
            <a:endParaRPr lang="ko-KR" altLang="en-US"/>
          </a:p>
        </p:txBody>
      </p:sp>
      <p:sp>
        <p:nvSpPr>
          <p:cNvPr id="25" name="Text 22"/>
          <p:cNvSpPr/>
          <p:nvPr/>
        </p:nvSpPr>
        <p:spPr>
          <a:xfrm>
            <a:off x="9708207" y="8254454"/>
            <a:ext cx="499616" cy="247650"/>
          </a:xfrm>
          <a:prstGeom prst="rect">
            <a:avLst/>
          </a:prstGeom>
          <a:noFill/>
          <a:ln/>
        </p:spPr>
        <p:txBody>
          <a:bodyPr wrap="square" lIns="0" tIns="0" rIns="0" bIns="0" rtlCol="0" anchor="t">
            <a:normAutofit/>
          </a:bodyPr>
          <a:lstStyle/>
          <a:p>
            <a:pPr marL="0" indent="0" algn="l">
              <a:buNone/>
            </a:pPr>
            <a:r>
              <a:rPr lang="en-US" sz="1500" b="1" dirty="0">
                <a:solidFill>
                  <a:srgbClr val="191F28"/>
                </a:solidFill>
                <a:latin typeface="Pretendard" pitchFamily="34" charset="0"/>
                <a:ea typeface="Pretendard" pitchFamily="34" charset="-122"/>
                <a:cs typeface="Pretendard" pitchFamily="34" charset="-120"/>
              </a:rPr>
              <a:t>LIVE</a:t>
            </a:r>
            <a:endParaRPr lang="en-US" sz="1500" dirty="0"/>
          </a:p>
        </p:txBody>
      </p:sp>
      <p:sp>
        <p:nvSpPr>
          <p:cNvPr id="26" name="Text 23"/>
          <p:cNvSpPr/>
          <p:nvPr/>
        </p:nvSpPr>
        <p:spPr>
          <a:xfrm>
            <a:off x="10226873" y="8254454"/>
            <a:ext cx="2422267" cy="252413"/>
          </a:xfrm>
          <a:prstGeom prst="rect">
            <a:avLst/>
          </a:prstGeom>
          <a:noFill/>
          <a:ln/>
        </p:spPr>
        <p:txBody>
          <a:bodyPr wrap="square" lIns="25400" tIns="25400" rIns="25400" bIns="25400" rtlCol="0" anchor="t">
            <a:normAutofit fontScale="92500" lnSpcReduction="10000"/>
          </a:bodyPr>
          <a:lstStyle/>
          <a:p>
            <a:pPr marL="0" indent="0" algn="l">
              <a:buNone/>
            </a:pPr>
            <a:r>
              <a:rPr lang="en-US" sz="1500" b="1" dirty="0">
                <a:solidFill>
                  <a:srgbClr val="3182F6"/>
                </a:solidFill>
                <a:latin typeface="Pretendard" pitchFamily="34" charset="0"/>
                <a:ea typeface="Pretendard" pitchFamily="34" charset="-122"/>
                <a:cs typeface="Pretendard" pitchFamily="34" charset="-120"/>
              </a:rPr>
              <a:t>https://3.39.167.74.nip.io</a:t>
            </a:r>
            <a:endParaRPr lang="en-US" sz="1500" dirty="0"/>
          </a:p>
        </p:txBody>
      </p:sp>
      <p:sp>
        <p:nvSpPr>
          <p:cNvPr id="27" name="Text 24"/>
          <p:cNvSpPr/>
          <p:nvPr/>
        </p:nvSpPr>
        <p:spPr>
          <a:xfrm>
            <a:off x="9508182" y="8583067"/>
            <a:ext cx="7493114" cy="599033"/>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425" dirty="0">
                <a:solidFill>
                  <a:srgbClr val="4E5968"/>
                </a:solidFill>
                <a:latin typeface="Pretendard" pitchFamily="34" charset="0"/>
                <a:ea typeface="Pretendard" pitchFamily="34" charset="-122"/>
                <a:cs typeface="Pretendard" pitchFamily="34" charset="-120"/>
              </a:rPr>
              <a:t>토스 앱은 정식 등록·심사 제출을 마치고 </a:t>
            </a:r>
            <a:r>
              <a:rPr lang="en-US" sz="1425" b="1" dirty="0">
                <a:solidFill>
                  <a:srgbClr val="191F28"/>
                </a:solidFill>
                <a:latin typeface="Pretendard" pitchFamily="34" charset="0"/>
                <a:ea typeface="Pretendard" pitchFamily="34" charset="-122"/>
                <a:cs typeface="Pretendard" pitchFamily="34" charset="-120"/>
              </a:rPr>
              <a:t>검토 중</a:t>
            </a:r>
            <a:r>
              <a:rPr lang="en-US" sz="1425" dirty="0">
                <a:solidFill>
                  <a:srgbClr val="4E5968"/>
                </a:solidFill>
                <a:latin typeface="Pretendard" pitchFamily="34" charset="0"/>
                <a:ea typeface="Pretendard" pitchFamily="34" charset="-122"/>
                <a:cs typeface="Pretendard" pitchFamily="34" charset="-120"/>
              </a:rPr>
              <a:t>입니다. 오늘 시연은 토스 WebView가 아닌 </a:t>
            </a:r>
            <a:r>
              <a:rPr lang="en-US" sz="1425" b="1" dirty="0">
                <a:solidFill>
                  <a:srgbClr val="191F28"/>
                </a:solidFill>
                <a:latin typeface="Pretendard" pitchFamily="34" charset="0"/>
                <a:ea typeface="Pretendard" pitchFamily="34" charset="-122"/>
                <a:cs typeface="Pretendard" pitchFamily="34" charset="-120"/>
              </a:rPr>
              <a:t>브라우저 HTTPS </a:t>
            </a:r>
            <a:r>
              <a:rPr lang="en-US" sz="1425" dirty="0">
                <a:solidFill>
                  <a:srgbClr val="4E5968"/>
                </a:solidFill>
                <a:latin typeface="Pretendard" pitchFamily="34" charset="0"/>
                <a:ea typeface="Pretendard" pitchFamily="34" charset="-122"/>
                <a:cs typeface="Pretendard" pitchFamily="34" charset="-120"/>
              </a:rPr>
              <a:t>에서 진행합니다. 백업: 3분 녹화·화면 캡처.</a:t>
            </a:r>
            <a:endParaRPr lang="en-US" sz="1425" dirty="0"/>
          </a:p>
        </p:txBody>
      </p:sp>
      <p:sp>
        <p:nvSpPr>
          <p:cNvPr id="28" name="Text 25"/>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
        <p:nvSpPr>
          <p:cNvPr id="29" name="직사각형 28">
            <a:extLst>
              <a:ext uri="{FF2B5EF4-FFF2-40B4-BE49-F238E27FC236}">
                <a16:creationId xmlns:a16="http://schemas.microsoft.com/office/drawing/2014/main" id="{D34F8A16-E604-D6E9-BF8C-C14096F7C4EA}"/>
              </a:ext>
            </a:extLst>
          </p:cNvPr>
          <p:cNvSpPr/>
          <p:nvPr/>
        </p:nvSpPr>
        <p:spPr>
          <a:xfrm>
            <a:off x="1638300" y="2854003"/>
            <a:ext cx="571500" cy="65185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0483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제품 · 기능 시연</a:t>
            </a:r>
            <a:endParaRPr lang="en-US" sz="1875" dirty="0"/>
          </a:p>
        </p:txBody>
      </p:sp>
      <p:sp>
        <p:nvSpPr>
          <p:cNvPr id="4" name="Text 2"/>
          <p:cNvSpPr/>
          <p:nvPr/>
        </p:nvSpPr>
        <p:spPr>
          <a:xfrm>
            <a:off x="1238250" y="1390650"/>
            <a:ext cx="17392650" cy="59352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050" b="1" kern="0" spc="-122"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손으로 그린 와이어프레임을, 그대로 앱으로</a:t>
            </a:r>
            <a:endParaRPr lang="en-US" sz="40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79427"/>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4E5968"/>
                </a:solidFill>
                <a:latin typeface="Pretendard" pitchFamily="34" charset="0"/>
                <a:ea typeface="Pretendard" pitchFamily="34" charset="-122"/>
                <a:cs typeface="Pretendard" pitchFamily="34" charset="-120"/>
              </a:rPr>
              <a:t>기획 단계 손 스케치가 화면과 흐름으로 그대로 살아있습니다. (전체 7장은 부록)</a:t>
            </a:r>
            <a:endParaRPr lang="en-US" sz="1875" dirty="0"/>
          </a:p>
        </p:txBody>
      </p:sp>
      <p:sp>
        <p:nvSpPr>
          <p:cNvPr id="6" name="Shape 4"/>
          <p:cNvSpPr/>
          <p:nvPr/>
        </p:nvSpPr>
        <p:spPr>
          <a:xfrm>
            <a:off x="3601343" y="3206651"/>
            <a:ext cx="6858000" cy="5334000"/>
          </a:xfrm>
          <a:prstGeom prst="roundRect">
            <a:avLst>
              <a:gd name="adj" fmla="val 3571"/>
            </a:avLst>
          </a:prstGeom>
          <a:solidFill>
            <a:srgbClr val="FFFFFF"/>
          </a:solidFill>
          <a:ln w="9525">
            <a:solidFill>
              <a:srgbClr val="E5E8EB"/>
            </a:solidFill>
            <a:prstDash val="solid"/>
          </a:ln>
          <a:effectLst>
            <a:outerShdw blurRad="285750" dist="95250" dir="5400000" algn="bl" rotWithShape="0">
              <a:srgbClr val="141E32">
                <a:alpha val="8000"/>
              </a:srgbClr>
            </a:outerShdw>
          </a:effectLst>
        </p:spPr>
        <p:txBody>
          <a:bodyPr/>
          <a:lstStyle/>
          <a:p>
            <a:endParaRPr lang="ko-KR" altLang="en-US"/>
          </a:p>
        </p:txBody>
      </p:sp>
      <p:pic>
        <p:nvPicPr>
          <p:cNvPr id="7" name="Image 0" descr="preencoded.png"/>
          <p:cNvPicPr>
            <a:picLocks noChangeAspect="1"/>
          </p:cNvPicPr>
          <p:nvPr/>
        </p:nvPicPr>
        <p:blipFill>
          <a:blip r:embed="rId3"/>
          <a:srcRect/>
          <a:stretch/>
        </p:blipFill>
        <p:spPr>
          <a:xfrm>
            <a:off x="3610868" y="3309045"/>
            <a:ext cx="6838950" cy="5129213"/>
          </a:xfrm>
          <a:prstGeom prst="rect">
            <a:avLst/>
          </a:prstGeom>
        </p:spPr>
      </p:pic>
      <p:sp>
        <p:nvSpPr>
          <p:cNvPr id="8" name="Text 5"/>
          <p:cNvSpPr/>
          <p:nvPr/>
        </p:nvSpPr>
        <p:spPr>
          <a:xfrm>
            <a:off x="3258443" y="8693051"/>
            <a:ext cx="7543800" cy="314325"/>
          </a:xfrm>
          <a:prstGeom prst="rect">
            <a:avLst/>
          </a:prstGeom>
          <a:noFill/>
          <a:ln/>
        </p:spPr>
        <p:txBody>
          <a:bodyPr wrap="square" lIns="25400" tIns="25400" rIns="25400" bIns="25400" rtlCol="0" anchor="t">
            <a:normAutofit/>
          </a:bodyPr>
          <a:lstStyle/>
          <a:p>
            <a:pPr marL="0" indent="0" algn="ctr">
              <a:buNone/>
            </a:pPr>
            <a:r>
              <a:rPr lang="en-US" sz="1500" b="1" dirty="0">
                <a:solidFill>
                  <a:srgbClr val="8B95A1"/>
                </a:solidFill>
                <a:latin typeface="Pretendard" pitchFamily="34" charset="0"/>
                <a:ea typeface="Pretendard" pitchFamily="34" charset="-122"/>
                <a:cs typeface="Pretendard" pitchFamily="34" charset="-120"/>
              </a:rPr>
              <a:t>기획 손 와이어프레임</a:t>
            </a:r>
            <a:endParaRPr lang="en-US" sz="1500" dirty="0"/>
          </a:p>
        </p:txBody>
      </p:sp>
      <p:sp>
        <p:nvSpPr>
          <p:cNvPr id="9" name="Text 6"/>
          <p:cNvSpPr/>
          <p:nvPr/>
        </p:nvSpPr>
        <p:spPr>
          <a:xfrm>
            <a:off x="11096551" y="5726013"/>
            <a:ext cx="476250"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dirty="0">
                <a:solidFill>
                  <a:srgbClr val="3182F6"/>
                </a:solidFill>
                <a:latin typeface="Pretendard" pitchFamily="34" charset="0"/>
                <a:ea typeface="Pretendard" pitchFamily="34" charset="-122"/>
                <a:cs typeface="Pretendard" pitchFamily="34" charset="-120"/>
              </a:rPr>
              <a:t>→</a:t>
            </a:r>
            <a:endParaRPr lang="en-US" sz="3150" dirty="0"/>
          </a:p>
        </p:txBody>
      </p:sp>
      <p:sp>
        <p:nvSpPr>
          <p:cNvPr id="10" name="Text 7"/>
          <p:cNvSpPr/>
          <p:nvPr/>
        </p:nvSpPr>
        <p:spPr>
          <a:xfrm>
            <a:off x="10878443" y="6202263"/>
            <a:ext cx="912540" cy="285750"/>
          </a:xfrm>
          <a:prstGeom prst="rect">
            <a:avLst/>
          </a:prstGeom>
          <a:noFill/>
          <a:ln/>
        </p:spPr>
        <p:txBody>
          <a:bodyPr wrap="none" lIns="25400" tIns="25400" rIns="25400" bIns="25400" rtlCol="0" anchor="t">
            <a:normAutofit/>
          </a:bodyPr>
          <a:lstStyle/>
          <a:p>
            <a:pPr marL="0" indent="0" algn="l">
              <a:buNone/>
            </a:pPr>
            <a:r>
              <a:rPr lang="en-US" sz="1350" b="1" dirty="0">
                <a:solidFill>
                  <a:srgbClr val="3182F6"/>
                </a:solidFill>
                <a:latin typeface="Pretendard" pitchFamily="34" charset="0"/>
                <a:ea typeface="Pretendard" pitchFamily="34" charset="-122"/>
                <a:cs typeface="Pretendard" pitchFamily="34" charset="-120"/>
              </a:rPr>
              <a:t>그대로 구현</a:t>
            </a:r>
            <a:endParaRPr lang="en-US" sz="1350" dirty="0"/>
          </a:p>
        </p:txBody>
      </p:sp>
      <p:sp>
        <p:nvSpPr>
          <p:cNvPr id="11" name="Shape 8"/>
          <p:cNvSpPr/>
          <p:nvPr/>
        </p:nvSpPr>
        <p:spPr>
          <a:xfrm>
            <a:off x="12133883" y="3813646"/>
            <a:ext cx="2552700" cy="4119935"/>
          </a:xfrm>
          <a:prstGeom prst="roundRect">
            <a:avLst>
              <a:gd name="adj" fmla="val 11940"/>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12133883" y="3813646"/>
            <a:ext cx="2552700" cy="4119935"/>
          </a:xfrm>
          <a:prstGeom prst="rect">
            <a:avLst/>
          </a:prstGeom>
        </p:spPr>
      </p:pic>
      <p:sp>
        <p:nvSpPr>
          <p:cNvPr id="13" name="Text 9"/>
          <p:cNvSpPr/>
          <p:nvPr/>
        </p:nvSpPr>
        <p:spPr>
          <a:xfrm>
            <a:off x="12006248" y="8085981"/>
            <a:ext cx="2807970" cy="314325"/>
          </a:xfrm>
          <a:prstGeom prst="rect">
            <a:avLst/>
          </a:prstGeom>
          <a:noFill/>
          <a:ln/>
        </p:spPr>
        <p:txBody>
          <a:bodyPr wrap="square" lIns="25400" tIns="25400" rIns="25400" bIns="25400" rtlCol="0" anchor="t">
            <a:normAutofit/>
          </a:bodyPr>
          <a:lstStyle/>
          <a:p>
            <a:pPr marL="0" indent="0" algn="ctr">
              <a:buNone/>
            </a:pPr>
            <a:r>
              <a:rPr lang="en-US" sz="1500" b="1" dirty="0">
                <a:solidFill>
                  <a:srgbClr val="8B95A1"/>
                </a:solidFill>
                <a:latin typeface="Pretendard" pitchFamily="34" charset="0"/>
                <a:ea typeface="Pretendard" pitchFamily="34" charset="-122"/>
                <a:cs typeface="Pretendard" pitchFamily="34" charset="-120"/>
              </a:rPr>
              <a:t>실제 앱 · 코드 고르기</a:t>
            </a:r>
            <a:endParaRPr lang="en-US" sz="1500" dirty="0"/>
          </a:p>
        </p:txBody>
      </p:sp>
      <p:sp>
        <p:nvSpPr>
          <p:cNvPr id="14" name="Text 10"/>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3423563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182F6"/>
          </a:solidFill>
          <a:ln/>
        </p:spPr>
        <p:txBody>
          <a:bodyPr/>
          <a:lstStyle/>
          <a:p>
            <a:endParaRPr lang="ko-KR" altLang="en-US"/>
          </a:p>
        </p:txBody>
      </p:sp>
      <p:sp>
        <p:nvSpPr>
          <p:cNvPr id="3" name="Text 1"/>
          <p:cNvSpPr/>
          <p:nvPr/>
        </p:nvSpPr>
        <p:spPr>
          <a:xfrm>
            <a:off x="1238250" y="3443139"/>
            <a:ext cx="17392650" cy="1912590"/>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8000" b="1" kern="0" spc="-720" dirty="0">
                <a:solidFill>
                  <a:srgbClr val="FFFFFF">
                    <a:alpha val="18000"/>
                  </a:srgbClr>
                </a:solidFill>
                <a:latin typeface="Pretendard Black" panose="02000A03000000020004" pitchFamily="50" charset="-127"/>
                <a:ea typeface="Pretendard Black" panose="02000A03000000020004" pitchFamily="50" charset="-127"/>
                <a:cs typeface="Pretendard Black" panose="02000A03000000020004" pitchFamily="50" charset="-127"/>
              </a:rPr>
              <a:t>02</a:t>
            </a:r>
            <a:endParaRPr lang="en-US" sz="180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4" name="Text 2"/>
          <p:cNvSpPr/>
          <p:nvPr/>
        </p:nvSpPr>
        <p:spPr>
          <a:xfrm>
            <a:off x="1238250" y="5489079"/>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시스템 아키텍처</a:t>
            </a:r>
            <a:endParaRPr lang="en-US" sz="58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6500961"/>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FFFF">
                    <a:alpha val="85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외부 의존성 0의 단순한 스택, 추정이 아니라 실측</a:t>
            </a:r>
            <a:endParaRPr lang="en-US" sz="187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Tree>
    <p:extLst>
      <p:ext uri="{BB962C8B-B14F-4D97-AF65-F5344CB8AC3E}">
        <p14:creationId xmlns:p14="http://schemas.microsoft.com/office/powerpoint/2010/main" val="3753539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시스템 아키텍처</a:t>
            </a:r>
            <a:endParaRPr lang="en-US" sz="1875" dirty="0"/>
          </a:p>
        </p:txBody>
      </p:sp>
      <p:sp>
        <p:nvSpPr>
          <p:cNvPr id="4" name="Text 2"/>
          <p:cNvSpPr/>
          <p:nvPr/>
        </p:nvSpPr>
        <p:spPr>
          <a:xfrm>
            <a:off x="1238250" y="1390650"/>
            <a:ext cx="17392650" cy="55245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750" b="1" kern="0" spc="-112"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솔로는 클라이언트에서 완결, 합주만 서버</a:t>
            </a:r>
            <a:endParaRPr lang="en-US" sz="37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19300"/>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4E5968"/>
                </a:solidFill>
                <a:latin typeface="Pretendard" pitchFamily="34" charset="0"/>
                <a:ea typeface="Pretendard" pitchFamily="34" charset="-122"/>
                <a:cs typeface="Pretendard" pitchFamily="34" charset="-120"/>
              </a:rPr>
              <a:t>외부 의존성 0의 단순한 스택</a:t>
            </a:r>
            <a:endParaRPr lang="en-US" sz="1875" dirty="0"/>
          </a:p>
        </p:txBody>
      </p:sp>
      <p:grpSp>
        <p:nvGrpSpPr>
          <p:cNvPr id="30" name="그룹 29">
            <a:extLst>
              <a:ext uri="{FF2B5EF4-FFF2-40B4-BE49-F238E27FC236}">
                <a16:creationId xmlns:a16="http://schemas.microsoft.com/office/drawing/2014/main" id="{39F01885-ACDC-8ACD-4373-192FAC826815}"/>
              </a:ext>
            </a:extLst>
          </p:cNvPr>
          <p:cNvGrpSpPr/>
          <p:nvPr/>
        </p:nvGrpSpPr>
        <p:grpSpPr>
          <a:xfrm>
            <a:off x="1238250" y="3333750"/>
            <a:ext cx="16046768" cy="2757488"/>
            <a:chOff x="1238250" y="3517900"/>
            <a:chExt cx="16046768" cy="2757488"/>
          </a:xfrm>
        </p:grpSpPr>
        <p:sp>
          <p:nvSpPr>
            <p:cNvPr id="6" name="Shape 4"/>
            <p:cNvSpPr/>
            <p:nvPr/>
          </p:nvSpPr>
          <p:spPr>
            <a:xfrm>
              <a:off x="1238250" y="3517900"/>
              <a:ext cx="6924675" cy="2757488"/>
            </a:xfrm>
            <a:prstGeom prst="roundRect">
              <a:avLst>
                <a:gd name="adj" fmla="val 8290"/>
              </a:avLst>
            </a:prstGeom>
            <a:solidFill>
              <a:srgbClr val="F7F8FA"/>
            </a:solidFill>
            <a:ln/>
          </p:spPr>
          <p:txBody>
            <a:bodyPr/>
            <a:lstStyle/>
            <a:p>
              <a:endParaRPr lang="ko-KR" altLang="en-US"/>
            </a:p>
          </p:txBody>
        </p:sp>
        <p:sp>
          <p:nvSpPr>
            <p:cNvPr id="7" name="Text 5"/>
            <p:cNvSpPr/>
            <p:nvPr/>
          </p:nvSpPr>
          <p:spPr>
            <a:xfrm>
              <a:off x="1619250" y="3879850"/>
              <a:ext cx="6778943"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191F28"/>
                  </a:solidFill>
                  <a:latin typeface="Pretendard" pitchFamily="34" charset="0"/>
                  <a:ea typeface="Pretendard" pitchFamily="34" charset="-122"/>
                  <a:cs typeface="Pretendard" pitchFamily="34" charset="-120"/>
                </a:rPr>
                <a:t>토스 앱 · WebView 미니앱</a:t>
              </a:r>
              <a:endParaRPr lang="en-US" sz="1875" dirty="0"/>
            </a:p>
          </p:txBody>
        </p:sp>
        <p:sp>
          <p:nvSpPr>
            <p:cNvPr id="8" name="Text 6"/>
            <p:cNvSpPr/>
            <p:nvPr/>
          </p:nvSpPr>
          <p:spPr>
            <a:xfrm>
              <a:off x="1619250" y="4413250"/>
              <a:ext cx="677894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React 18 · TS · Vite 6 · Granite</a:t>
              </a:r>
              <a:endParaRPr lang="en-US" sz="1575" dirty="0"/>
            </a:p>
          </p:txBody>
        </p:sp>
        <p:sp>
          <p:nvSpPr>
            <p:cNvPr id="9" name="Text 7"/>
            <p:cNvSpPr/>
            <p:nvPr/>
          </p:nvSpPr>
          <p:spPr>
            <a:xfrm>
              <a:off x="1619250" y="4775200"/>
              <a:ext cx="6778943"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Tone.js </a:t>
              </a:r>
              <a:r>
                <a:rPr lang="en-US" sz="1575" dirty="0">
                  <a:solidFill>
                    <a:srgbClr val="8B95A1"/>
                  </a:solidFill>
                  <a:latin typeface="Pretendard" pitchFamily="34" charset="0"/>
                  <a:ea typeface="Pretendard" pitchFamily="34" charset="-122"/>
                  <a:cs typeface="Pretendard" pitchFamily="34" charset="-120"/>
                </a:rPr>
                <a:t>오디오 샘플 우선, 합성 폴백</a:t>
              </a:r>
              <a:endParaRPr lang="en-US" sz="1575" dirty="0"/>
            </a:p>
          </p:txBody>
        </p:sp>
        <p:sp>
          <p:nvSpPr>
            <p:cNvPr id="10" name="Text 8"/>
            <p:cNvSpPr/>
            <p:nvPr/>
          </p:nvSpPr>
          <p:spPr>
            <a:xfrm>
              <a:off x="1619250" y="5199063"/>
              <a:ext cx="6778943"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MediaPipe </a:t>
              </a:r>
              <a:r>
                <a:rPr lang="en-US" sz="1575" dirty="0">
                  <a:solidFill>
                    <a:srgbClr val="8B95A1"/>
                  </a:solidFill>
                  <a:latin typeface="Pretendard" pitchFamily="34" charset="0"/>
                  <a:ea typeface="Pretendard" pitchFamily="34" charset="-122"/>
                  <a:cs typeface="Pretendard" pitchFamily="34" charset="-120"/>
                </a:rPr>
                <a:t>카메라 손 제스처 입력</a:t>
              </a:r>
              <a:endParaRPr lang="en-US" sz="1575" dirty="0"/>
            </a:p>
          </p:txBody>
        </p:sp>
        <p:sp>
          <p:nvSpPr>
            <p:cNvPr id="11" name="Text 9"/>
            <p:cNvSpPr/>
            <p:nvPr/>
          </p:nvSpPr>
          <p:spPr>
            <a:xfrm>
              <a:off x="1619250" y="5622925"/>
              <a:ext cx="6778943"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localStorage </a:t>
              </a:r>
              <a:r>
                <a:rPr lang="en-US" sz="1575" dirty="0">
                  <a:solidFill>
                    <a:srgbClr val="8B95A1"/>
                  </a:solidFill>
                  <a:latin typeface="Pretendard" pitchFamily="34" charset="0"/>
                  <a:ea typeface="Pretendard" pitchFamily="34" charset="-122"/>
                  <a:cs typeface="Pretendard" pitchFamily="34" charset="-120"/>
                </a:rPr>
                <a:t>내가 만든 곡은 기기에만</a:t>
              </a:r>
              <a:endParaRPr lang="en-US" sz="1575" dirty="0"/>
            </a:p>
          </p:txBody>
        </p:sp>
        <p:sp>
          <p:nvSpPr>
            <p:cNvPr id="12" name="Text 10"/>
            <p:cNvSpPr/>
            <p:nvPr/>
          </p:nvSpPr>
          <p:spPr>
            <a:xfrm>
              <a:off x="9001125" y="4494213"/>
              <a:ext cx="361950" cy="366713"/>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3182F6"/>
                  </a:solidFill>
                  <a:latin typeface="Pretendard" pitchFamily="34" charset="0"/>
                  <a:ea typeface="Pretendard" pitchFamily="34" charset="-122"/>
                  <a:cs typeface="Pretendard" pitchFamily="34" charset="-120"/>
                </a:rPr>
                <a:t>→</a:t>
              </a:r>
              <a:endParaRPr lang="en-US" sz="2250" dirty="0"/>
            </a:p>
          </p:txBody>
        </p:sp>
        <p:sp>
          <p:nvSpPr>
            <p:cNvPr id="13" name="Text 11"/>
            <p:cNvSpPr/>
            <p:nvPr/>
          </p:nvSpPr>
          <p:spPr>
            <a:xfrm>
              <a:off x="8824838" y="4899025"/>
              <a:ext cx="638249" cy="438150"/>
            </a:xfrm>
            <a:prstGeom prst="rect">
              <a:avLst/>
            </a:prstGeom>
            <a:noFill/>
            <a:ln/>
          </p:spPr>
          <p:txBody>
            <a:bodyPr wrap="square" lIns="25400" tIns="25400" rIns="25400" bIns="25400" rtlCol="0" anchor="t">
              <a:normAutofit lnSpcReduction="10000"/>
            </a:bodyPr>
            <a:lstStyle/>
            <a:p>
              <a:pPr marL="0" indent="0" algn="ctr">
                <a:buNone/>
              </a:pPr>
              <a:r>
                <a:rPr lang="en-US" sz="1350" b="1" dirty="0">
                  <a:solidFill>
                    <a:srgbClr val="3182F6"/>
                  </a:solidFill>
                  <a:latin typeface="Pretendard" pitchFamily="34" charset="0"/>
                  <a:ea typeface="Pretendard" pitchFamily="34" charset="-122"/>
                  <a:cs typeface="Pretendard" pitchFamily="34" charset="-120"/>
                </a:rPr>
                <a:t>HTTPS REST</a:t>
              </a:r>
              <a:endParaRPr lang="en-US" sz="1350" dirty="0"/>
            </a:p>
          </p:txBody>
        </p:sp>
        <p:sp>
          <p:nvSpPr>
            <p:cNvPr id="14" name="Shape 12"/>
            <p:cNvSpPr/>
            <p:nvPr/>
          </p:nvSpPr>
          <p:spPr>
            <a:xfrm>
              <a:off x="10125075" y="3517900"/>
              <a:ext cx="6924675" cy="2757488"/>
            </a:xfrm>
            <a:prstGeom prst="roundRect">
              <a:avLst>
                <a:gd name="adj" fmla="val 8290"/>
              </a:avLst>
            </a:prstGeom>
            <a:solidFill>
              <a:srgbClr val="F7F8FA"/>
            </a:solidFill>
            <a:ln/>
          </p:spPr>
          <p:txBody>
            <a:bodyPr/>
            <a:lstStyle/>
            <a:p>
              <a:endParaRPr lang="ko-KR" altLang="en-US"/>
            </a:p>
          </p:txBody>
        </p:sp>
        <p:sp>
          <p:nvSpPr>
            <p:cNvPr id="15" name="Text 13"/>
            <p:cNvSpPr/>
            <p:nvPr/>
          </p:nvSpPr>
          <p:spPr>
            <a:xfrm>
              <a:off x="10506075" y="3879850"/>
              <a:ext cx="6778943"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91F28"/>
                  </a:solidFill>
                  <a:latin typeface="Pretendard" pitchFamily="34" charset="0"/>
                  <a:ea typeface="Pretendard" pitchFamily="34" charset="-122"/>
                  <a:cs typeface="Pretendard" pitchFamily="34" charset="-120"/>
                </a:rPr>
                <a:t>AWS EC2 · Ubuntu </a:t>
              </a:r>
              <a:r>
                <a:rPr lang="en-US" sz="1500" dirty="0">
                  <a:solidFill>
                    <a:srgbClr val="8B95A1"/>
                  </a:solidFill>
                  <a:latin typeface="Pretendard" pitchFamily="34" charset="0"/>
                  <a:ea typeface="Pretendard" pitchFamily="34" charset="-122"/>
                  <a:cs typeface="Pretendard" pitchFamily="34" charset="-120"/>
                </a:rPr>
                <a:t>24/7</a:t>
              </a:r>
              <a:endParaRPr lang="en-US" sz="1875" dirty="0"/>
            </a:p>
          </p:txBody>
        </p:sp>
        <p:sp>
          <p:nvSpPr>
            <p:cNvPr id="16" name="Text 14"/>
            <p:cNvSpPr/>
            <p:nvPr/>
          </p:nvSpPr>
          <p:spPr>
            <a:xfrm>
              <a:off x="10506075" y="4346575"/>
              <a:ext cx="6778943"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nginx </a:t>
              </a:r>
              <a:r>
                <a:rPr lang="en-US" sz="1575" dirty="0">
                  <a:solidFill>
                    <a:srgbClr val="8B95A1"/>
                  </a:solidFill>
                  <a:latin typeface="Pretendard" pitchFamily="34" charset="0"/>
                  <a:ea typeface="Pretendard" pitchFamily="34" charset="-122"/>
                  <a:cs typeface="Pretendard" pitchFamily="34" charset="-120"/>
                </a:rPr>
                <a:t>TLS · Let's Encrypt · 리버스프록시</a:t>
              </a:r>
              <a:endParaRPr lang="en-US" sz="1575" dirty="0"/>
            </a:p>
          </p:txBody>
        </p:sp>
        <p:sp>
          <p:nvSpPr>
            <p:cNvPr id="17" name="Text 15"/>
            <p:cNvSpPr/>
            <p:nvPr/>
          </p:nvSpPr>
          <p:spPr>
            <a:xfrm>
              <a:off x="10506075" y="4770438"/>
              <a:ext cx="677894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harmony-api </a:t>
              </a:r>
              <a:r>
                <a:rPr lang="en-US" sz="1575" dirty="0">
                  <a:solidFill>
                    <a:srgbClr val="8B95A1"/>
                  </a:solidFill>
                  <a:latin typeface="Pretendard" pitchFamily="34" charset="0"/>
                  <a:ea typeface="Pretendard" pitchFamily="34" charset="-122"/>
                  <a:cs typeface="Pretendard" pitchFamily="34" charset="-120"/>
                </a:rPr>
                <a:t>node:http+sqlite · :8080</a:t>
              </a:r>
              <a:endParaRPr lang="en-US" sz="1575" dirty="0"/>
            </a:p>
          </p:txBody>
        </p:sp>
        <p:sp>
          <p:nvSpPr>
            <p:cNvPr id="18" name="Text 16"/>
            <p:cNvSpPr/>
            <p:nvPr/>
          </p:nvSpPr>
          <p:spPr>
            <a:xfrm>
              <a:off x="10506075" y="5132388"/>
              <a:ext cx="677894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SQLite </a:t>
              </a:r>
              <a:r>
                <a:rPr lang="en-US" sz="1575" dirty="0">
                  <a:solidFill>
                    <a:srgbClr val="8B95A1"/>
                  </a:solidFill>
                  <a:latin typeface="Pretendard" pitchFamily="34" charset="0"/>
                  <a:ea typeface="Pretendard" pitchFamily="34" charset="-122"/>
                  <a:cs typeface="Pretendard" pitchFamily="34" charset="-120"/>
                </a:rPr>
                <a:t>sessions · tracks</a:t>
              </a:r>
              <a:endParaRPr lang="en-US" sz="1575" dirty="0"/>
            </a:p>
          </p:txBody>
        </p:sp>
        <p:sp>
          <p:nvSpPr>
            <p:cNvPr id="19" name="Text 17"/>
            <p:cNvSpPr/>
            <p:nvPr/>
          </p:nvSpPr>
          <p:spPr>
            <a:xfrm>
              <a:off x="10506075" y="5494338"/>
              <a:ext cx="6778943" cy="328613"/>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systemd · certbot </a:t>
              </a:r>
              <a:r>
                <a:rPr lang="en-US" sz="1575" dirty="0">
                  <a:solidFill>
                    <a:srgbClr val="8B95A1"/>
                  </a:solidFill>
                  <a:latin typeface="Pretendard" pitchFamily="34" charset="0"/>
                  <a:ea typeface="Pretendard" pitchFamily="34" charset="-122"/>
                  <a:cs typeface="Pretendard" pitchFamily="34" charset="-120"/>
                </a:rPr>
                <a:t>자동 갱신 · 상시 가동</a:t>
              </a:r>
              <a:endParaRPr lang="en-US" sz="1575" dirty="0"/>
            </a:p>
          </p:txBody>
        </p:sp>
      </p:grpSp>
      <p:grpSp>
        <p:nvGrpSpPr>
          <p:cNvPr id="28" name="그룹 27">
            <a:extLst>
              <a:ext uri="{FF2B5EF4-FFF2-40B4-BE49-F238E27FC236}">
                <a16:creationId xmlns:a16="http://schemas.microsoft.com/office/drawing/2014/main" id="{AC4D9FB1-813C-FD44-1B5E-3A79A87C2EB5}"/>
              </a:ext>
            </a:extLst>
          </p:cNvPr>
          <p:cNvGrpSpPr/>
          <p:nvPr/>
        </p:nvGrpSpPr>
        <p:grpSpPr>
          <a:xfrm>
            <a:off x="1238250" y="6954839"/>
            <a:ext cx="17392650" cy="1595437"/>
            <a:chOff x="1238250" y="6561138"/>
            <a:chExt cx="17392650" cy="1595437"/>
          </a:xfrm>
        </p:grpSpPr>
        <p:sp>
          <p:nvSpPr>
            <p:cNvPr id="20" name="Shape 18"/>
            <p:cNvSpPr/>
            <p:nvPr/>
          </p:nvSpPr>
          <p:spPr>
            <a:xfrm>
              <a:off x="1238250" y="6561138"/>
              <a:ext cx="5118050" cy="1071563"/>
            </a:xfrm>
            <a:prstGeom prst="roundRect">
              <a:avLst>
                <a:gd name="adj" fmla="val 16000"/>
              </a:avLst>
            </a:prstGeom>
            <a:solidFill>
              <a:srgbClr val="EAF2FE"/>
            </a:solidFill>
            <a:ln/>
          </p:spPr>
          <p:txBody>
            <a:bodyPr/>
            <a:lstStyle/>
            <a:p>
              <a:endParaRPr lang="ko-KR" altLang="en-US"/>
            </a:p>
          </p:txBody>
        </p:sp>
        <p:sp>
          <p:nvSpPr>
            <p:cNvPr id="21" name="Text 19"/>
            <p:cNvSpPr/>
            <p:nvPr/>
          </p:nvSpPr>
          <p:spPr>
            <a:xfrm>
              <a:off x="1524000" y="6789738"/>
              <a:ext cx="4700092" cy="652463"/>
            </a:xfrm>
            <a:prstGeom prst="rect">
              <a:avLst/>
            </a:prstGeom>
            <a:noFill/>
            <a:ln/>
          </p:spPr>
          <p:txBody>
            <a:bodyPr wrap="square" lIns="25400" tIns="25400" rIns="25400" bIns="25400" rtlCol="0" anchor="t">
              <a:normAutofit/>
            </a:bodyPr>
            <a:lstStyle/>
            <a:p>
              <a:pPr marL="0" indent="0" algn="l">
                <a:buNone/>
              </a:pPr>
              <a:r>
                <a:rPr lang="en-US" sz="3300" b="1" dirty="0">
                  <a:solidFill>
                    <a:srgbClr val="3182F6"/>
                  </a:solidFill>
                  <a:latin typeface="Pretendard" pitchFamily="34" charset="0"/>
                  <a:ea typeface="Pretendard" pitchFamily="34" charset="-122"/>
                  <a:cs typeface="Pretendard" pitchFamily="34" charset="-120"/>
                </a:rPr>
                <a:t>0 </a:t>
              </a:r>
              <a:r>
                <a:rPr lang="en-US" sz="1575" b="1" dirty="0">
                  <a:solidFill>
                    <a:srgbClr val="4E5968"/>
                  </a:solidFill>
                  <a:latin typeface="Pretendard" pitchFamily="34" charset="0"/>
                  <a:ea typeface="Pretendard" pitchFamily="34" charset="-122"/>
                  <a:cs typeface="Pretendard" pitchFamily="34" charset="-120"/>
                </a:rPr>
                <a:t>API 외부 의존성</a:t>
              </a:r>
              <a:endParaRPr lang="en-US" sz="1200" dirty="0"/>
            </a:p>
          </p:txBody>
        </p:sp>
        <p:sp>
          <p:nvSpPr>
            <p:cNvPr id="22" name="Shape 20"/>
            <p:cNvSpPr/>
            <p:nvPr/>
          </p:nvSpPr>
          <p:spPr>
            <a:xfrm>
              <a:off x="6584900" y="6561138"/>
              <a:ext cx="5118125" cy="1071563"/>
            </a:xfrm>
            <a:prstGeom prst="roundRect">
              <a:avLst>
                <a:gd name="adj" fmla="val 16000"/>
              </a:avLst>
            </a:prstGeom>
            <a:solidFill>
              <a:srgbClr val="EAF2FE"/>
            </a:solidFill>
            <a:ln/>
          </p:spPr>
          <p:txBody>
            <a:bodyPr/>
            <a:lstStyle/>
            <a:p>
              <a:endParaRPr lang="ko-KR" altLang="en-US"/>
            </a:p>
          </p:txBody>
        </p:sp>
        <p:sp>
          <p:nvSpPr>
            <p:cNvPr id="23" name="Text 21"/>
            <p:cNvSpPr/>
            <p:nvPr/>
          </p:nvSpPr>
          <p:spPr>
            <a:xfrm>
              <a:off x="6870650" y="6789738"/>
              <a:ext cx="4700169" cy="652463"/>
            </a:xfrm>
            <a:prstGeom prst="rect">
              <a:avLst/>
            </a:prstGeom>
            <a:noFill/>
            <a:ln/>
          </p:spPr>
          <p:txBody>
            <a:bodyPr wrap="square" lIns="25400" tIns="25400" rIns="25400" bIns="25400" rtlCol="0" anchor="t">
              <a:normAutofit/>
            </a:bodyPr>
            <a:lstStyle/>
            <a:p>
              <a:pPr marL="0" indent="0" algn="l">
                <a:buNone/>
              </a:pPr>
              <a:r>
                <a:rPr lang="en-US" sz="3300" b="1" dirty="0">
                  <a:solidFill>
                    <a:srgbClr val="3182F6"/>
                  </a:solidFill>
                  <a:latin typeface="Pretendard" pitchFamily="34" charset="0"/>
                  <a:ea typeface="Pretendard" pitchFamily="34" charset="-122"/>
                  <a:cs typeface="Pretendard" pitchFamily="34" charset="-120"/>
                </a:rPr>
                <a:t>1.5초 </a:t>
              </a:r>
              <a:r>
                <a:rPr lang="en-US" sz="1575" b="1" dirty="0">
                  <a:solidFill>
                    <a:srgbClr val="4E5968"/>
                  </a:solidFill>
                  <a:latin typeface="Pretendard" pitchFamily="34" charset="0"/>
                  <a:ea typeface="Pretendard" pitchFamily="34" charset="-122"/>
                  <a:cs typeface="Pretendard" pitchFamily="34" charset="-120"/>
                </a:rPr>
                <a:t>비동기 합주 폴링</a:t>
              </a:r>
              <a:endParaRPr lang="en-US" sz="1200" dirty="0"/>
            </a:p>
          </p:txBody>
        </p:sp>
        <p:sp>
          <p:nvSpPr>
            <p:cNvPr id="24" name="Shape 22"/>
            <p:cNvSpPr/>
            <p:nvPr/>
          </p:nvSpPr>
          <p:spPr>
            <a:xfrm>
              <a:off x="11931625" y="6561138"/>
              <a:ext cx="5118125" cy="1071563"/>
            </a:xfrm>
            <a:prstGeom prst="roundRect">
              <a:avLst>
                <a:gd name="adj" fmla="val 16000"/>
              </a:avLst>
            </a:prstGeom>
            <a:solidFill>
              <a:srgbClr val="EAF2FE"/>
            </a:solidFill>
            <a:ln/>
          </p:spPr>
          <p:txBody>
            <a:bodyPr/>
            <a:lstStyle/>
            <a:p>
              <a:endParaRPr lang="ko-KR" altLang="en-US"/>
            </a:p>
          </p:txBody>
        </p:sp>
        <p:sp>
          <p:nvSpPr>
            <p:cNvPr id="25" name="Text 23"/>
            <p:cNvSpPr/>
            <p:nvPr/>
          </p:nvSpPr>
          <p:spPr>
            <a:xfrm>
              <a:off x="12217375" y="6789738"/>
              <a:ext cx="4700169" cy="652463"/>
            </a:xfrm>
            <a:prstGeom prst="rect">
              <a:avLst/>
            </a:prstGeom>
            <a:noFill/>
            <a:ln/>
          </p:spPr>
          <p:txBody>
            <a:bodyPr wrap="square" lIns="25400" tIns="25400" rIns="25400" bIns="25400" rtlCol="0" anchor="t">
              <a:normAutofit/>
            </a:bodyPr>
            <a:lstStyle/>
            <a:p>
              <a:pPr marL="0" indent="0" algn="l">
                <a:buNone/>
              </a:pPr>
              <a:r>
                <a:rPr lang="en-US" sz="3300" b="1" dirty="0">
                  <a:solidFill>
                    <a:srgbClr val="3182F6"/>
                  </a:solidFill>
                  <a:latin typeface="Pretendard" pitchFamily="34" charset="0"/>
                  <a:ea typeface="Pretendard" pitchFamily="34" charset="-122"/>
                  <a:cs typeface="Pretendard" pitchFamily="34" charset="-120"/>
                </a:rPr>
                <a:t>127.0.0.1 </a:t>
              </a:r>
              <a:r>
                <a:rPr lang="en-US" sz="1575" b="1" dirty="0">
                  <a:solidFill>
                    <a:srgbClr val="4E5968"/>
                  </a:solidFill>
                  <a:latin typeface="Pretendard" pitchFamily="34" charset="0"/>
                  <a:ea typeface="Pretendard" pitchFamily="34" charset="-122"/>
                  <a:cs typeface="Pretendard" pitchFamily="34" charset="-120"/>
                </a:rPr>
                <a:t>API 바인드 · 외부 차단</a:t>
              </a:r>
              <a:endParaRPr lang="en-US" sz="1200" dirty="0"/>
            </a:p>
          </p:txBody>
        </p:sp>
        <p:sp>
          <p:nvSpPr>
            <p:cNvPr id="26" name="Text 24"/>
            <p:cNvSpPr/>
            <p:nvPr/>
          </p:nvSpPr>
          <p:spPr>
            <a:xfrm>
              <a:off x="1238250" y="7842250"/>
              <a:ext cx="17392650" cy="314325"/>
            </a:xfrm>
            <a:prstGeom prst="rect">
              <a:avLst/>
            </a:prstGeom>
            <a:noFill/>
            <a:ln/>
          </p:spPr>
          <p:txBody>
            <a:bodyPr wrap="square" lIns="25400" tIns="25400" rIns="25400" bIns="25400" rtlCol="0" anchor="t">
              <a:normAutofit/>
            </a:bodyPr>
            <a:lstStyle/>
            <a:p>
              <a:pPr marL="0" indent="0" algn="l">
                <a:buNone/>
              </a:pPr>
              <a:r>
                <a:rPr lang="en-US" sz="1500" dirty="0">
                  <a:solidFill>
                    <a:srgbClr val="8B95A1"/>
                  </a:solidFill>
                  <a:latin typeface="Pretendard" pitchFamily="34" charset="0"/>
                  <a:ea typeface="Pretendard" pitchFamily="34" charset="-122"/>
                  <a:cs typeface="Pretendard" pitchFamily="34" charset="-120"/>
                </a:rPr>
                <a:t>사용자 식별은 두 갈래입니다. 토스 WebView에선 getAnonymousKey 실호출, 브라우저에선 익명키(데모용 약한 소유권).</a:t>
              </a:r>
              <a:endParaRPr lang="en-US" sz="1500" dirty="0"/>
            </a:p>
          </p:txBody>
        </p:sp>
      </p:grpSp>
      <p:sp>
        <p:nvSpPr>
          <p:cNvPr id="27" name="Text 25"/>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4053790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시스템 아키텍처</a:t>
            </a:r>
            <a:endParaRPr lang="en-US" sz="1875" dirty="0"/>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실기기에서 진짜로 돌아갑니다</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39838"/>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4E5968"/>
                </a:solidFill>
                <a:latin typeface="Pretendard" pitchFamily="34" charset="0"/>
                <a:ea typeface="Pretendard" pitchFamily="34" charset="-122"/>
                <a:cs typeface="Pretendard" pitchFamily="34" charset="-120"/>
              </a:rPr>
              <a:t>앱인토스 정식 등록·심사 제출 완료(검토 중), 식별은 정직하게 2트랙.</a:t>
            </a:r>
            <a:endParaRPr lang="en-US" sz="1875" dirty="0"/>
          </a:p>
        </p:txBody>
      </p:sp>
      <p:sp>
        <p:nvSpPr>
          <p:cNvPr id="6" name="Shape 4"/>
          <p:cNvSpPr/>
          <p:nvPr/>
        </p:nvSpPr>
        <p:spPr>
          <a:xfrm>
            <a:off x="1238250" y="3688110"/>
            <a:ext cx="2076450" cy="4321969"/>
          </a:xfrm>
          <a:prstGeom prst="roundRect">
            <a:avLst>
              <a:gd name="adj" fmla="val 13761"/>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1238250" y="3688110"/>
            <a:ext cx="2076450" cy="4321969"/>
          </a:xfrm>
          <a:prstGeom prst="rect">
            <a:avLst/>
          </a:prstGeom>
        </p:spPr>
      </p:pic>
      <p:sp>
        <p:nvSpPr>
          <p:cNvPr id="8" name="Text 5"/>
          <p:cNvSpPr/>
          <p:nvPr/>
        </p:nvSpPr>
        <p:spPr>
          <a:xfrm>
            <a:off x="1134428" y="8143429"/>
            <a:ext cx="2284095" cy="285750"/>
          </a:xfrm>
          <a:prstGeom prst="rect">
            <a:avLst/>
          </a:prstGeom>
          <a:noFill/>
          <a:ln/>
        </p:spPr>
        <p:txBody>
          <a:bodyPr wrap="square" lIns="25400" tIns="25400" rIns="25400" bIns="25400" rtlCol="0" anchor="t">
            <a:normAutofit/>
          </a:bodyPr>
          <a:lstStyle/>
          <a:p>
            <a:pPr marL="0" indent="0" algn="ctr">
              <a:buNone/>
            </a:pPr>
            <a:r>
              <a:rPr lang="en-US" sz="1350" b="1" dirty="0">
                <a:solidFill>
                  <a:srgbClr val="8B95A1"/>
                </a:solidFill>
                <a:latin typeface="Pretendard" pitchFamily="34" charset="0"/>
                <a:ea typeface="Pretendard" pitchFamily="34" charset="-122"/>
                <a:cs typeface="Pretendard" pitchFamily="34" charset="-120"/>
              </a:rPr>
              <a:t>실기기 홈 · 하모니 등록</a:t>
            </a:r>
            <a:endParaRPr lang="en-US" sz="1350" dirty="0"/>
          </a:p>
        </p:txBody>
      </p:sp>
      <p:sp>
        <p:nvSpPr>
          <p:cNvPr id="9" name="Shape 6"/>
          <p:cNvSpPr/>
          <p:nvPr/>
        </p:nvSpPr>
        <p:spPr>
          <a:xfrm>
            <a:off x="3524250" y="3688110"/>
            <a:ext cx="2076450" cy="4321969"/>
          </a:xfrm>
          <a:prstGeom prst="roundRect">
            <a:avLst>
              <a:gd name="adj" fmla="val 13761"/>
            </a:avLst>
          </a:prstGeom>
          <a:solidFill>
            <a:srgbClr val="0E0F12"/>
          </a:solidFill>
          <a:ln/>
          <a:effectLst>
            <a:outerShdw blurRad="476250" dist="209550" dir="5400000" algn="bl" rotWithShape="0">
              <a:srgbClr val="141E32">
                <a:alpha val="20000"/>
              </a:srgbClr>
            </a:outerShdw>
          </a:effectLst>
        </p:spPr>
        <p:txBody>
          <a:bodyPr/>
          <a:lstStyle/>
          <a:p>
            <a:endParaRPr lang="ko-KR" altLang="en-US"/>
          </a:p>
        </p:txBody>
      </p:sp>
      <p:pic>
        <p:nvPicPr>
          <p:cNvPr id="10" name="Image 1" descr="preencoded.png"/>
          <p:cNvPicPr>
            <a:picLocks noChangeAspect="1"/>
          </p:cNvPicPr>
          <p:nvPr/>
        </p:nvPicPr>
        <p:blipFill>
          <a:blip r:embed="rId4"/>
          <a:stretch>
            <a:fillRect/>
          </a:stretch>
        </p:blipFill>
        <p:spPr>
          <a:xfrm>
            <a:off x="3524250" y="3688110"/>
            <a:ext cx="2076450" cy="4321969"/>
          </a:xfrm>
          <a:prstGeom prst="rect">
            <a:avLst/>
          </a:prstGeom>
        </p:spPr>
      </p:pic>
      <p:sp>
        <p:nvSpPr>
          <p:cNvPr id="11" name="Text 7"/>
          <p:cNvSpPr/>
          <p:nvPr/>
        </p:nvSpPr>
        <p:spPr>
          <a:xfrm>
            <a:off x="3420427" y="8143429"/>
            <a:ext cx="2284095" cy="285750"/>
          </a:xfrm>
          <a:prstGeom prst="rect">
            <a:avLst/>
          </a:prstGeom>
          <a:noFill/>
          <a:ln/>
        </p:spPr>
        <p:txBody>
          <a:bodyPr wrap="square" lIns="25400" tIns="25400" rIns="25400" bIns="25400" rtlCol="0" anchor="t">
            <a:normAutofit/>
          </a:bodyPr>
          <a:lstStyle/>
          <a:p>
            <a:pPr marL="0" indent="0" algn="ctr">
              <a:buNone/>
            </a:pPr>
            <a:r>
              <a:rPr lang="en-US" sz="1350" b="1" dirty="0">
                <a:solidFill>
                  <a:srgbClr val="8B95A1"/>
                </a:solidFill>
                <a:latin typeface="Pretendard" pitchFamily="34" charset="0"/>
                <a:ea typeface="Pretendard" pitchFamily="34" charset="-122"/>
                <a:cs typeface="Pretendard" pitchFamily="34" charset="-120"/>
              </a:rPr>
              <a:t>설정 · 2트랙 실증</a:t>
            </a:r>
            <a:endParaRPr lang="en-US" sz="1350" dirty="0"/>
          </a:p>
        </p:txBody>
      </p:sp>
      <p:sp>
        <p:nvSpPr>
          <p:cNvPr id="12" name="Text 8"/>
          <p:cNvSpPr/>
          <p:nvPr/>
        </p:nvSpPr>
        <p:spPr>
          <a:xfrm>
            <a:off x="6096000" y="4984700"/>
            <a:ext cx="1341120"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앱인토스 등록</a:t>
            </a:r>
            <a:endParaRPr lang="en-US" sz="1425" dirty="0"/>
          </a:p>
        </p:txBody>
      </p:sp>
      <p:sp>
        <p:nvSpPr>
          <p:cNvPr id="13" name="Text 9"/>
          <p:cNvSpPr/>
          <p:nvPr/>
        </p:nvSpPr>
        <p:spPr>
          <a:xfrm>
            <a:off x="7467600" y="4965650"/>
            <a:ext cx="7190430"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191F28"/>
                </a:solidFill>
                <a:latin typeface="Pretendard" pitchFamily="34" charset="0"/>
                <a:ea typeface="Pretendard" pitchFamily="34" charset="-122"/>
                <a:cs typeface="Pretendard" pitchFamily="34" charset="-120"/>
              </a:rPr>
              <a:t>appName </a:t>
            </a:r>
            <a:r>
              <a:rPr lang="en-US" sz="1575" b="1" dirty="0">
                <a:solidFill>
                  <a:srgbClr val="191F28"/>
                </a:solidFill>
                <a:latin typeface="Pretendard" pitchFamily="34" charset="0"/>
                <a:ea typeface="Pretendard" pitchFamily="34" charset="-122"/>
                <a:cs typeface="Pretendard" pitchFamily="34" charset="-120"/>
              </a:rPr>
              <a:t>harmony </a:t>
            </a:r>
            <a:r>
              <a:rPr lang="en-US" sz="1575" dirty="0">
                <a:solidFill>
                  <a:srgbClr val="191F28"/>
                </a:solidFill>
                <a:latin typeface="Pretendard" pitchFamily="34" charset="0"/>
                <a:ea typeface="Pretendard" pitchFamily="34" charset="-122"/>
                <a:cs typeface="Pretendard" pitchFamily="34" charset="-120"/>
              </a:rPr>
              <a:t>· 정식 등록·심사 제출 완료 </a:t>
            </a:r>
            <a:r>
              <a:rPr lang="en-US" sz="1575" dirty="0">
                <a:solidFill>
                  <a:srgbClr val="B26B00"/>
                </a:solidFill>
                <a:latin typeface="Pretendard" pitchFamily="34" charset="0"/>
                <a:ea typeface="Pretendard" pitchFamily="34" charset="-122"/>
                <a:cs typeface="Pretendard" pitchFamily="34" charset="-120"/>
              </a:rPr>
              <a:t>(검토 중, 승인 시 가산점 +10)</a:t>
            </a:r>
            <a:endParaRPr lang="en-US" sz="1575" dirty="0"/>
          </a:p>
        </p:txBody>
      </p:sp>
      <p:sp>
        <p:nvSpPr>
          <p:cNvPr id="14" name="Text 10"/>
          <p:cNvSpPr/>
          <p:nvPr/>
        </p:nvSpPr>
        <p:spPr>
          <a:xfrm>
            <a:off x="6096000" y="5446663"/>
            <a:ext cx="1341120"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실행 환경</a:t>
            </a:r>
            <a:endParaRPr lang="en-US" sz="1425" dirty="0"/>
          </a:p>
        </p:txBody>
      </p:sp>
      <p:sp>
        <p:nvSpPr>
          <p:cNvPr id="15" name="Text 11"/>
          <p:cNvSpPr/>
          <p:nvPr/>
        </p:nvSpPr>
        <p:spPr>
          <a:xfrm>
            <a:off x="7467600" y="5427613"/>
            <a:ext cx="2828598"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b="1" dirty="0">
                <a:solidFill>
                  <a:srgbClr val="191F28"/>
                </a:solidFill>
                <a:latin typeface="Pretendard" pitchFamily="34" charset="0"/>
                <a:ea typeface="Pretendard" pitchFamily="34" charset="-122"/>
                <a:cs typeface="Pretendard" pitchFamily="34" charset="-120"/>
              </a:rPr>
              <a:t>sandbox </a:t>
            </a:r>
            <a:r>
              <a:rPr lang="en-US" sz="1575" dirty="0">
                <a:solidFill>
                  <a:srgbClr val="191F28"/>
                </a:solidFill>
                <a:latin typeface="Pretendard" pitchFamily="34" charset="0"/>
                <a:ea typeface="Pretendard" pitchFamily="34" charset="-122"/>
                <a:cs typeface="Pretendard" pitchFamily="34" charset="-120"/>
              </a:rPr>
              <a:t>· 아이폰 13·갤럭시 S23 실기기</a:t>
            </a:r>
            <a:endParaRPr lang="en-US" sz="1575" dirty="0"/>
          </a:p>
        </p:txBody>
      </p:sp>
      <p:sp>
        <p:nvSpPr>
          <p:cNvPr id="16" name="Text 12"/>
          <p:cNvSpPr/>
          <p:nvPr/>
        </p:nvSpPr>
        <p:spPr>
          <a:xfrm>
            <a:off x="6096000" y="5908625"/>
            <a:ext cx="1341120"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식별 · 토스</a:t>
            </a:r>
            <a:endParaRPr lang="en-US" sz="1425" dirty="0"/>
          </a:p>
        </p:txBody>
      </p:sp>
      <p:sp>
        <p:nvSpPr>
          <p:cNvPr id="17" name="Text 13"/>
          <p:cNvSpPr/>
          <p:nvPr/>
        </p:nvSpPr>
        <p:spPr>
          <a:xfrm>
            <a:off x="7467600" y="5889575"/>
            <a:ext cx="4684834" cy="338138"/>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575" dirty="0">
                <a:solidFill>
                  <a:srgbClr val="191F28"/>
                </a:solidFill>
                <a:latin typeface="Pretendard" pitchFamily="34" charset="0"/>
                <a:ea typeface="Pretendard" pitchFamily="34" charset="-122"/>
                <a:cs typeface="Pretendard" pitchFamily="34" charset="-120"/>
              </a:rPr>
              <a:t>getAnonymousKey </a:t>
            </a:r>
            <a:r>
              <a:rPr lang="en-US" sz="1575" b="1" dirty="0">
                <a:solidFill>
                  <a:srgbClr val="15C47E"/>
                </a:solidFill>
                <a:latin typeface="Pretendard" pitchFamily="34" charset="0"/>
                <a:ea typeface="Pretendard" pitchFamily="34" charset="-122"/>
                <a:cs typeface="Pretendard" pitchFamily="34" charset="-120"/>
              </a:rPr>
              <a:t>실호출 </a:t>
            </a:r>
            <a:r>
              <a:rPr lang="en-US" sz="1575" dirty="0">
                <a:solidFill>
                  <a:srgbClr val="191F28"/>
                </a:solidFill>
                <a:latin typeface="Pretendard" pitchFamily="34" charset="0"/>
                <a:ea typeface="Pretendard" pitchFamily="34" charset="-122"/>
                <a:cs typeface="Pretendard" pitchFamily="34" charset="-120"/>
              </a:rPr>
              <a:t>· 키 </a:t>
            </a:r>
            <a:r>
              <a:rPr lang="en-US" sz="1575" b="1" dirty="0">
                <a:solidFill>
                  <a:srgbClr val="191F28"/>
                </a:solidFill>
                <a:latin typeface="Pretendard" pitchFamily="34" charset="0"/>
                <a:ea typeface="Pretendard" pitchFamily="34" charset="-122"/>
                <a:cs typeface="Pretendard" pitchFamily="34" charset="-120"/>
              </a:rPr>
              <a:t>toss_5KtXJR0q…</a:t>
            </a:r>
            <a:endParaRPr lang="en-US" sz="1575" dirty="0"/>
          </a:p>
        </p:txBody>
      </p:sp>
      <p:sp>
        <p:nvSpPr>
          <p:cNvPr id="18" name="Text 14"/>
          <p:cNvSpPr/>
          <p:nvPr/>
        </p:nvSpPr>
        <p:spPr>
          <a:xfrm>
            <a:off x="6096000" y="6370588"/>
            <a:ext cx="1341120"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식별 · 브라우저</a:t>
            </a:r>
            <a:endParaRPr lang="en-US" sz="1425" dirty="0"/>
          </a:p>
        </p:txBody>
      </p:sp>
      <p:sp>
        <p:nvSpPr>
          <p:cNvPr id="19" name="Text 15"/>
          <p:cNvSpPr/>
          <p:nvPr/>
        </p:nvSpPr>
        <p:spPr>
          <a:xfrm>
            <a:off x="7467600" y="6351538"/>
            <a:ext cx="5830647"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191F28"/>
                </a:solidFill>
                <a:latin typeface="Pretendard" pitchFamily="34" charset="0"/>
                <a:ea typeface="Pretendard" pitchFamily="34" charset="-122"/>
                <a:cs typeface="Pretendard" pitchFamily="34" charset="-120"/>
              </a:rPr>
              <a:t>익명키 발급(데모 트랙) · 약한 소유권은 데모 한정으로 정직 고지</a:t>
            </a:r>
            <a:endParaRPr lang="en-US" sz="1575" dirty="0"/>
          </a:p>
        </p:txBody>
      </p:sp>
      <p:sp>
        <p:nvSpPr>
          <p:cNvPr id="20" name="Text 16"/>
          <p:cNvSpPr/>
          <p:nvPr/>
        </p:nvSpPr>
        <p:spPr>
          <a:xfrm>
            <a:off x="6096000" y="6832550"/>
            <a:ext cx="1341120"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기타</a:t>
            </a:r>
            <a:endParaRPr lang="en-US" sz="1425" dirty="0"/>
          </a:p>
        </p:txBody>
      </p:sp>
      <p:sp>
        <p:nvSpPr>
          <p:cNvPr id="21" name="Text 17"/>
          <p:cNvSpPr/>
          <p:nvPr/>
        </p:nvSpPr>
        <p:spPr>
          <a:xfrm>
            <a:off x="7467600" y="6813500"/>
            <a:ext cx="4632447"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191F28"/>
                </a:solidFill>
                <a:latin typeface="Pretendard" pitchFamily="34" charset="0"/>
                <a:ea typeface="Pretendard" pitchFamily="34" charset="-122"/>
                <a:cs typeface="Pretendard" pitchFamily="34" charset="-120"/>
              </a:rPr>
              <a:t>TDS 렌더 </a:t>
            </a:r>
            <a:r>
              <a:rPr lang="en-US" sz="1575" b="1" dirty="0">
                <a:solidFill>
                  <a:srgbClr val="15C47E"/>
                </a:solidFill>
                <a:latin typeface="Pretendard" pitchFamily="34" charset="0"/>
                <a:ea typeface="Pretendard" pitchFamily="34" charset="-122"/>
                <a:cs typeface="Pretendard" pitchFamily="34" charset="-120"/>
              </a:rPr>
              <a:t>OK </a:t>
            </a:r>
            <a:r>
              <a:rPr lang="en-US" sz="1575" dirty="0">
                <a:solidFill>
                  <a:srgbClr val="191F28"/>
                </a:solidFill>
                <a:latin typeface="Pretendard" pitchFamily="34" charset="0"/>
                <a:ea typeface="Pretendard" pitchFamily="34" charset="-122"/>
                <a:cs typeface="Pretendard" pitchFamily="34" charset="-120"/>
              </a:rPr>
              <a:t>· 익명 식별만 사용, 개인정보 미수집</a:t>
            </a:r>
            <a:endParaRPr lang="en-US" sz="1575" dirty="0"/>
          </a:p>
        </p:txBody>
      </p:sp>
      <p:sp>
        <p:nvSpPr>
          <p:cNvPr id="22" name="Text 18"/>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1203086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시스템 아키텍처</a:t>
            </a:r>
            <a:endParaRPr lang="en-US" sz="1875" dirty="0"/>
          </a:p>
        </p:txBody>
      </p:sp>
      <p:sp>
        <p:nvSpPr>
          <p:cNvPr id="4" name="Text 2"/>
          <p:cNvSpPr/>
          <p:nvPr/>
        </p:nvSpPr>
        <p:spPr>
          <a:xfrm>
            <a:off x="1238250" y="1390650"/>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추정이 아니라 실측</a:t>
            </a:r>
            <a:endParaRPr lang="en-US" sz="58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345382"/>
            <a:ext cx="17392650" cy="414338"/>
          </a:xfrm>
          <a:prstGeom prst="rect">
            <a:avLst/>
          </a:prstGeom>
          <a:noFill/>
          <a:ln/>
        </p:spPr>
        <p:txBody>
          <a:bodyPr wrap="square" lIns="25400" tIns="25400" rIns="25400" bIns="25400" rtlCol="0" anchor="t">
            <a:normAutofit/>
          </a:bodyPr>
          <a:lstStyle/>
          <a:p>
            <a:pPr marL="0" indent="0" algn="l">
              <a:buNone/>
            </a:pPr>
            <a:r>
              <a:rPr lang="en-US" sz="2025" dirty="0">
                <a:solidFill>
                  <a:srgbClr val="4E5968"/>
                </a:solidFill>
                <a:latin typeface="Pretendard" pitchFamily="34" charset="0"/>
                <a:ea typeface="Pretendard" pitchFamily="34" charset="-122"/>
                <a:cs typeface="Pretendard" pitchFamily="34" charset="-120"/>
              </a:rPr>
              <a:t>실행 로그와 종료코드로 추적되는 결과만 기록합니다.</a:t>
            </a:r>
            <a:endParaRPr lang="en-US" sz="2025" dirty="0"/>
          </a:p>
        </p:txBody>
      </p:sp>
      <p:sp>
        <p:nvSpPr>
          <p:cNvPr id="6" name="Text 4"/>
          <p:cNvSpPr/>
          <p:nvPr/>
        </p:nvSpPr>
        <p:spPr>
          <a:xfrm>
            <a:off x="1238250" y="4704085"/>
            <a:ext cx="4348163" cy="1028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800" b="1" kern="0" spc="-312" dirty="0">
                <a:solidFill>
                  <a:srgbClr val="3182F6"/>
                </a:solidFill>
                <a:latin typeface="Pretendard" pitchFamily="34" charset="0"/>
                <a:ea typeface="Pretendard" pitchFamily="34" charset="-122"/>
                <a:cs typeface="Pretendard" pitchFamily="34" charset="-120"/>
              </a:rPr>
              <a:t>58</a:t>
            </a:r>
            <a:r>
              <a:rPr lang="en-US" sz="7800" b="1" kern="0" spc="-312" dirty="0">
                <a:solidFill>
                  <a:srgbClr val="C4CAD2"/>
                </a:solidFill>
                <a:latin typeface="Pretendard" pitchFamily="34" charset="0"/>
                <a:ea typeface="Pretendard" pitchFamily="34" charset="-122"/>
                <a:cs typeface="Pretendard" pitchFamily="34" charset="-120"/>
              </a:rPr>
              <a:t>/58</a:t>
            </a:r>
            <a:endParaRPr lang="en-US" sz="7800" dirty="0"/>
          </a:p>
        </p:txBody>
      </p:sp>
      <p:sp>
        <p:nvSpPr>
          <p:cNvPr id="7" name="Text 5"/>
          <p:cNvSpPr/>
          <p:nvPr/>
        </p:nvSpPr>
        <p:spPr>
          <a:xfrm>
            <a:off x="1238250" y="5828035"/>
            <a:ext cx="4348163"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E5968"/>
                </a:solidFill>
                <a:latin typeface="Pretendard" pitchFamily="34" charset="0"/>
                <a:ea typeface="Pretendard" pitchFamily="34" charset="-122"/>
                <a:cs typeface="Pretendard" pitchFamily="34" charset="-120"/>
              </a:rPr>
              <a:t>단위테스트 Pass</a:t>
            </a:r>
            <a:endParaRPr lang="en-US" sz="1800" dirty="0"/>
          </a:p>
        </p:txBody>
      </p:sp>
      <p:sp>
        <p:nvSpPr>
          <p:cNvPr id="8" name="Text 6"/>
          <p:cNvSpPr/>
          <p:nvPr/>
        </p:nvSpPr>
        <p:spPr>
          <a:xfrm>
            <a:off x="5191125" y="4704085"/>
            <a:ext cx="4348163" cy="1028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800" b="1" kern="0" spc="-312" dirty="0">
                <a:solidFill>
                  <a:srgbClr val="3182F6"/>
                </a:solidFill>
                <a:latin typeface="Pretendard" pitchFamily="34" charset="0"/>
                <a:ea typeface="Pretendard" pitchFamily="34" charset="-122"/>
                <a:cs typeface="Pretendard" pitchFamily="34" charset="-120"/>
              </a:rPr>
              <a:t>34</a:t>
            </a:r>
            <a:r>
              <a:rPr lang="en-US" sz="7800" b="1" kern="0" spc="-312" dirty="0">
                <a:solidFill>
                  <a:srgbClr val="C4CAD2"/>
                </a:solidFill>
                <a:latin typeface="Pretendard" pitchFamily="34" charset="0"/>
                <a:ea typeface="Pretendard" pitchFamily="34" charset="-122"/>
                <a:cs typeface="Pretendard" pitchFamily="34" charset="-120"/>
              </a:rPr>
              <a:t>/34</a:t>
            </a:r>
            <a:endParaRPr lang="en-US" sz="7800" dirty="0"/>
          </a:p>
        </p:txBody>
      </p:sp>
      <p:sp>
        <p:nvSpPr>
          <p:cNvPr id="9" name="Text 7"/>
          <p:cNvSpPr/>
          <p:nvPr/>
        </p:nvSpPr>
        <p:spPr>
          <a:xfrm>
            <a:off x="5191125" y="5828035"/>
            <a:ext cx="4348163"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E5968"/>
                </a:solidFill>
                <a:latin typeface="Pretendard" pitchFamily="34" charset="0"/>
                <a:ea typeface="Pretendard" pitchFamily="34" charset="-122"/>
                <a:cs typeface="Pretendard" pitchFamily="34" charset="-120"/>
              </a:rPr>
              <a:t>통합 Pass</a:t>
            </a:r>
            <a:endParaRPr lang="en-US" sz="1800" dirty="0"/>
          </a:p>
        </p:txBody>
      </p:sp>
      <p:sp>
        <p:nvSpPr>
          <p:cNvPr id="10" name="Text 8"/>
          <p:cNvSpPr/>
          <p:nvPr/>
        </p:nvSpPr>
        <p:spPr>
          <a:xfrm>
            <a:off x="5191125" y="6199510"/>
            <a:ext cx="4348163" cy="285750"/>
          </a:xfrm>
          <a:prstGeom prst="rect">
            <a:avLst/>
          </a:prstGeom>
          <a:noFill/>
          <a:ln/>
        </p:spPr>
        <p:txBody>
          <a:bodyPr wrap="square" lIns="25400" tIns="25400" rIns="25400" bIns="25400" rtlCol="0" anchor="t">
            <a:normAutofit/>
          </a:bodyPr>
          <a:lstStyle/>
          <a:p>
            <a:pPr marL="0" indent="0" algn="l">
              <a:buNone/>
            </a:pPr>
            <a:r>
              <a:rPr lang="en-US" sz="1350" dirty="0">
                <a:solidFill>
                  <a:srgbClr val="8B95A1"/>
                </a:solidFill>
                <a:latin typeface="Pretendard" pitchFamily="34" charset="0"/>
                <a:ea typeface="Pretendard" pitchFamily="34" charset="-122"/>
                <a:cs typeface="Pretendard" pitchFamily="34" charset="-120"/>
              </a:rPr>
              <a:t>API 12 · 보안 7 · 클라 6 · 실기기 9</a:t>
            </a:r>
            <a:endParaRPr lang="en-US" sz="1350" dirty="0"/>
          </a:p>
        </p:txBody>
      </p:sp>
      <p:sp>
        <p:nvSpPr>
          <p:cNvPr id="11" name="Text 9"/>
          <p:cNvSpPr/>
          <p:nvPr/>
        </p:nvSpPr>
        <p:spPr>
          <a:xfrm>
            <a:off x="9144000" y="4704085"/>
            <a:ext cx="4348163" cy="1028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800" b="1" kern="0" spc="-312" dirty="0">
                <a:solidFill>
                  <a:srgbClr val="3182F6"/>
                </a:solidFill>
                <a:latin typeface="Pretendard" pitchFamily="34" charset="0"/>
                <a:ea typeface="Pretendard" pitchFamily="34" charset="-122"/>
                <a:cs typeface="Pretendard" pitchFamily="34" charset="-120"/>
              </a:rPr>
              <a:t>7</a:t>
            </a:r>
            <a:r>
              <a:rPr lang="en-US" sz="7800" b="1" kern="0" spc="-312" dirty="0">
                <a:solidFill>
                  <a:srgbClr val="C4CAD2"/>
                </a:solidFill>
                <a:latin typeface="Pretendard" pitchFamily="34" charset="0"/>
                <a:ea typeface="Pretendard" pitchFamily="34" charset="-122"/>
                <a:cs typeface="Pretendard" pitchFamily="34" charset="-120"/>
              </a:rPr>
              <a:t>/7</a:t>
            </a:r>
            <a:endParaRPr lang="en-US" sz="7800" dirty="0"/>
          </a:p>
        </p:txBody>
      </p:sp>
      <p:sp>
        <p:nvSpPr>
          <p:cNvPr id="12" name="Text 10"/>
          <p:cNvSpPr/>
          <p:nvPr/>
        </p:nvSpPr>
        <p:spPr>
          <a:xfrm>
            <a:off x="9144000" y="5828035"/>
            <a:ext cx="4348163"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E5968"/>
                </a:solidFill>
                <a:latin typeface="Pretendard" pitchFamily="34" charset="0"/>
                <a:ea typeface="Pretendard" pitchFamily="34" charset="-122"/>
                <a:cs typeface="Pretendard" pitchFamily="34" charset="-120"/>
              </a:rPr>
              <a:t>블랙박스 보안</a:t>
            </a:r>
            <a:endParaRPr lang="en-US" sz="1800" dirty="0"/>
          </a:p>
        </p:txBody>
      </p:sp>
      <p:sp>
        <p:nvSpPr>
          <p:cNvPr id="13" name="Text 11"/>
          <p:cNvSpPr/>
          <p:nvPr/>
        </p:nvSpPr>
        <p:spPr>
          <a:xfrm>
            <a:off x="13096875" y="4704085"/>
            <a:ext cx="4348163" cy="102870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6000" b="1" kern="0" spc="-240" dirty="0">
                <a:solidFill>
                  <a:srgbClr val="191F28"/>
                </a:solidFill>
                <a:latin typeface="Pretendard" pitchFamily="34" charset="0"/>
                <a:ea typeface="Pretendard" pitchFamily="34" charset="-122"/>
                <a:cs typeface="Pretendard" pitchFamily="34" charset="-120"/>
              </a:rPr>
              <a:t>645.87</a:t>
            </a:r>
            <a:r>
              <a:rPr lang="en-US" sz="3300" b="1" kern="0" spc="-240" dirty="0">
                <a:solidFill>
                  <a:srgbClr val="8B95A1"/>
                </a:solidFill>
                <a:latin typeface="Pretendard" pitchFamily="34" charset="0"/>
                <a:ea typeface="Pretendard" pitchFamily="34" charset="-122"/>
                <a:cs typeface="Pretendard" pitchFamily="34" charset="-120"/>
              </a:rPr>
              <a:t>kB</a:t>
            </a:r>
            <a:endParaRPr lang="en-US" sz="6000" dirty="0"/>
          </a:p>
        </p:txBody>
      </p:sp>
      <p:sp>
        <p:nvSpPr>
          <p:cNvPr id="14" name="Text 12"/>
          <p:cNvSpPr/>
          <p:nvPr/>
        </p:nvSpPr>
        <p:spPr>
          <a:xfrm>
            <a:off x="13096875" y="5828035"/>
            <a:ext cx="4348163"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E5968"/>
                </a:solidFill>
                <a:latin typeface="Pretendard" pitchFamily="34" charset="0"/>
                <a:ea typeface="Pretendard" pitchFamily="34" charset="-122"/>
                <a:cs typeface="Pretendard" pitchFamily="34" charset="-120"/>
              </a:rPr>
              <a:t>vite 프로덕션 빌드</a:t>
            </a:r>
            <a:endParaRPr lang="en-US" sz="1800" dirty="0"/>
          </a:p>
        </p:txBody>
      </p:sp>
      <p:sp>
        <p:nvSpPr>
          <p:cNvPr id="15" name="Shape 13"/>
          <p:cNvSpPr/>
          <p:nvPr/>
        </p:nvSpPr>
        <p:spPr>
          <a:xfrm>
            <a:off x="1238250" y="8429625"/>
            <a:ext cx="15811500" cy="9525"/>
          </a:xfrm>
          <a:prstGeom prst="rect">
            <a:avLst/>
          </a:prstGeom>
          <a:solidFill>
            <a:srgbClr val="E5E8EB"/>
          </a:solidFill>
          <a:ln/>
        </p:spPr>
        <p:txBody>
          <a:bodyPr/>
          <a:lstStyle/>
          <a:p>
            <a:endParaRPr lang="ko-KR" altLang="en-US"/>
          </a:p>
        </p:txBody>
      </p:sp>
      <p:sp>
        <p:nvSpPr>
          <p:cNvPr id="16" name="Text 14"/>
          <p:cNvSpPr/>
          <p:nvPr/>
        </p:nvSpPr>
        <p:spPr>
          <a:xfrm>
            <a:off x="1238250" y="8705850"/>
            <a:ext cx="8382000"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5C47E"/>
                </a:solidFill>
                <a:latin typeface="Pretendard" pitchFamily="34" charset="0"/>
                <a:ea typeface="Pretendard" pitchFamily="34" charset="-122"/>
                <a:cs typeface="Pretendard" pitchFamily="34" charset="-120"/>
              </a:rPr>
              <a:t>✓ 헤드리스로 검증됨</a:t>
            </a:r>
            <a:endParaRPr lang="en-US" sz="1650" dirty="0"/>
          </a:p>
        </p:txBody>
      </p:sp>
      <p:sp>
        <p:nvSpPr>
          <p:cNvPr id="17" name="Text 15"/>
          <p:cNvSpPr/>
          <p:nvPr/>
        </p:nvSpPr>
        <p:spPr>
          <a:xfrm>
            <a:off x="1238250" y="9086850"/>
            <a:ext cx="838200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6B7684"/>
                </a:solidFill>
                <a:latin typeface="Pretendard" pitchFamily="34" charset="0"/>
                <a:ea typeface="Pretendard" pitchFamily="34" charset="-122"/>
                <a:cs typeface="Pretendard" pitchFamily="34" charset="-120"/>
              </a:rPr>
              <a:t>도메인 로직 · API 계약 · 보안(IDOR, SQL 인젝션, XFF 위조 방어)</a:t>
            </a:r>
            <a:endParaRPr lang="en-US" sz="1500" dirty="0"/>
          </a:p>
        </p:txBody>
      </p:sp>
      <p:sp>
        <p:nvSpPr>
          <p:cNvPr id="18" name="Text 16"/>
          <p:cNvSpPr/>
          <p:nvPr/>
        </p:nvSpPr>
        <p:spPr>
          <a:xfrm>
            <a:off x="9429750" y="8705850"/>
            <a:ext cx="8382000"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B26B00"/>
                </a:solidFill>
                <a:latin typeface="Pretendard" pitchFamily="34" charset="0"/>
                <a:ea typeface="Pretendard" pitchFamily="34" charset="-122"/>
                <a:cs typeface="Pretendard" pitchFamily="34" charset="-120"/>
              </a:rPr>
              <a:t>△ 실기기 9건 Pass</a:t>
            </a:r>
            <a:endParaRPr lang="en-US" sz="1650" dirty="0"/>
          </a:p>
        </p:txBody>
      </p:sp>
      <p:sp>
        <p:nvSpPr>
          <p:cNvPr id="19" name="Text 17"/>
          <p:cNvSpPr/>
          <p:nvPr/>
        </p:nvSpPr>
        <p:spPr>
          <a:xfrm>
            <a:off x="9429750" y="9086850"/>
            <a:ext cx="838200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dirty="0">
                <a:solidFill>
                  <a:srgbClr val="6B7684"/>
                </a:solidFill>
                <a:latin typeface="Pretendard" pitchFamily="34" charset="0"/>
                <a:ea typeface="Pretendard" pitchFamily="34" charset="-122"/>
                <a:cs typeface="Pretendard" pitchFamily="34" charset="-120"/>
              </a:rPr>
              <a:t>아이폰 13·갤럭시 S23 Ultra 육안 검증 · 소리, 카메라, 2기기 합주 (증빙 EV-201~209)</a:t>
            </a:r>
            <a:endParaRPr lang="en-US" sz="1500" dirty="0"/>
          </a:p>
        </p:txBody>
      </p:sp>
      <p:sp>
        <p:nvSpPr>
          <p:cNvPr id="20" name="Text 18"/>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1675843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182F6"/>
          </a:solidFill>
          <a:ln/>
        </p:spPr>
        <p:txBody>
          <a:bodyPr/>
          <a:lstStyle/>
          <a:p>
            <a:endParaRPr lang="ko-KR" altLang="en-US"/>
          </a:p>
        </p:txBody>
      </p:sp>
      <p:sp>
        <p:nvSpPr>
          <p:cNvPr id="3" name="Text 1"/>
          <p:cNvSpPr/>
          <p:nvPr/>
        </p:nvSpPr>
        <p:spPr>
          <a:xfrm>
            <a:off x="1238250" y="3443139"/>
            <a:ext cx="17392650" cy="1912590"/>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8000" b="1" kern="0" spc="-720" dirty="0">
                <a:solidFill>
                  <a:srgbClr val="FFFFFF">
                    <a:alpha val="18000"/>
                  </a:srgbClr>
                </a:solidFill>
                <a:latin typeface="Pretendard Black" panose="02000A03000000020004" pitchFamily="50" charset="-127"/>
                <a:ea typeface="Pretendard Black" panose="02000A03000000020004" pitchFamily="50" charset="-127"/>
                <a:cs typeface="Pretendard Black" panose="02000A03000000020004" pitchFamily="50" charset="-127"/>
              </a:rPr>
              <a:t>03</a:t>
            </a:r>
            <a:endParaRPr lang="en-US" sz="180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4" name="Text 2"/>
          <p:cNvSpPr/>
          <p:nvPr/>
        </p:nvSpPr>
        <p:spPr>
          <a:xfrm>
            <a:off x="1238250" y="5489079"/>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AI 활용 파이프라인</a:t>
            </a:r>
            <a:endParaRPr lang="en-US" sz="58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6500961"/>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FFFF">
                    <a:alpha val="85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역할 분리 · Loop · Harness, 사람이 통제하는 자동화</a:t>
            </a:r>
            <a:endParaRPr lang="en-US" sz="187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Tree>
    <p:extLst>
      <p:ext uri="{BB962C8B-B14F-4D97-AF65-F5344CB8AC3E}">
        <p14:creationId xmlns:p14="http://schemas.microsoft.com/office/powerpoint/2010/main" val="3116931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활용 파이프라인</a:t>
            </a:r>
            <a:endParaRPr lang="en-US" sz="1875" dirty="0"/>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AI가 만들고, 다른 AI가 검증하고, 사람이 승인한다</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1238250" y="2306538"/>
            <a:ext cx="3781425" cy="6141244"/>
          </a:xfrm>
          <a:prstGeom prst="roundRect">
            <a:avLst>
              <a:gd name="adj" fmla="val 5542"/>
            </a:avLst>
          </a:prstGeom>
          <a:solidFill>
            <a:srgbClr val="F7F8FA"/>
          </a:solidFill>
          <a:ln/>
        </p:spPr>
        <p:txBody>
          <a:bodyPr/>
          <a:lstStyle/>
          <a:p>
            <a:endParaRPr lang="ko-KR" altLang="en-US"/>
          </a:p>
        </p:txBody>
      </p:sp>
      <p:sp>
        <p:nvSpPr>
          <p:cNvPr id="6" name="Shape 4"/>
          <p:cNvSpPr/>
          <p:nvPr/>
        </p:nvSpPr>
        <p:spPr>
          <a:xfrm>
            <a:off x="1524000" y="2630388"/>
            <a:ext cx="620316" cy="381000"/>
          </a:xfrm>
          <a:prstGeom prst="roundRect">
            <a:avLst>
              <a:gd name="adj" fmla="val 22500"/>
            </a:avLst>
          </a:prstGeom>
          <a:solidFill>
            <a:srgbClr val="EAF2FE"/>
          </a:solidFill>
          <a:ln/>
        </p:spPr>
        <p:txBody>
          <a:bodyPr/>
          <a:lstStyle/>
          <a:p>
            <a:endParaRPr lang="ko-KR" altLang="en-US"/>
          </a:p>
        </p:txBody>
      </p:sp>
      <p:sp>
        <p:nvSpPr>
          <p:cNvPr id="7" name="Text 5"/>
          <p:cNvSpPr/>
          <p:nvPr/>
        </p:nvSpPr>
        <p:spPr>
          <a:xfrm>
            <a:off x="1676400" y="2697063"/>
            <a:ext cx="391716"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3182F6"/>
                </a:solidFill>
                <a:latin typeface="Pretendard" pitchFamily="34" charset="0"/>
                <a:ea typeface="Pretendard" pitchFamily="34" charset="-122"/>
                <a:cs typeface="Pretendard" pitchFamily="34" charset="-120"/>
              </a:rPr>
              <a:t>통제</a:t>
            </a:r>
            <a:endParaRPr lang="en-US" sz="1350" dirty="0"/>
          </a:p>
        </p:txBody>
      </p:sp>
      <p:sp>
        <p:nvSpPr>
          <p:cNvPr id="8" name="Text 6"/>
          <p:cNvSpPr/>
          <p:nvPr/>
        </p:nvSpPr>
        <p:spPr>
          <a:xfrm>
            <a:off x="1524000" y="3220938"/>
            <a:ext cx="3306223" cy="706636"/>
          </a:xfrm>
          <a:prstGeom prst="rect">
            <a:avLst/>
          </a:prstGeom>
          <a:noFill/>
          <a:ln/>
        </p:spPr>
        <p:txBody>
          <a:bodyPr wrap="square" lIns="25400" tIns="25400" rIns="25400" bIns="25400" rtlCol="0" anchor="t">
            <a:normAutofit/>
          </a:bodyPr>
          <a:lstStyle/>
          <a:p>
            <a:pPr marL="0" indent="0" algn="l">
              <a:lnSpc>
                <a:spcPct val="130000"/>
              </a:lnSpc>
              <a:buNone/>
            </a:pPr>
            <a:r>
              <a:rPr lang="en-US" sz="2025" b="1" dirty="0">
                <a:solidFill>
                  <a:srgbClr val="191F28"/>
                </a:solidFill>
                <a:latin typeface="Pretendard" pitchFamily="34" charset="0"/>
                <a:ea typeface="Pretendard" pitchFamily="34" charset="-122"/>
                <a:cs typeface="Pretendard" pitchFamily="34" charset="-120"/>
              </a:rPr>
              <a:t>ChatGPT Pro · Gemini Pro</a:t>
            </a:r>
            <a:endParaRPr lang="en-US" sz="2025" dirty="0"/>
          </a:p>
        </p:txBody>
      </p:sp>
      <p:sp>
        <p:nvSpPr>
          <p:cNvPr id="9" name="Text 7"/>
          <p:cNvSpPr/>
          <p:nvPr/>
        </p:nvSpPr>
        <p:spPr>
          <a:xfrm>
            <a:off x="1524000" y="4022824"/>
            <a:ext cx="3530918" cy="33337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요구사항 · 정책 · 독립 감사 · 출시 판정</a:t>
            </a:r>
            <a:endParaRPr lang="en-US" sz="1500" dirty="0"/>
          </a:p>
        </p:txBody>
      </p:sp>
      <p:sp>
        <p:nvSpPr>
          <p:cNvPr id="10" name="Shape 8"/>
          <p:cNvSpPr/>
          <p:nvPr/>
        </p:nvSpPr>
        <p:spPr>
          <a:xfrm>
            <a:off x="5248275" y="2306538"/>
            <a:ext cx="3781425" cy="6141244"/>
          </a:xfrm>
          <a:prstGeom prst="roundRect">
            <a:avLst>
              <a:gd name="adj" fmla="val 5542"/>
            </a:avLst>
          </a:prstGeom>
          <a:solidFill>
            <a:srgbClr val="F7F8FA"/>
          </a:solidFill>
          <a:ln/>
        </p:spPr>
        <p:txBody>
          <a:bodyPr/>
          <a:lstStyle/>
          <a:p>
            <a:endParaRPr lang="ko-KR" altLang="en-US"/>
          </a:p>
        </p:txBody>
      </p:sp>
      <p:sp>
        <p:nvSpPr>
          <p:cNvPr id="11" name="Shape 9"/>
          <p:cNvSpPr/>
          <p:nvPr/>
        </p:nvSpPr>
        <p:spPr>
          <a:xfrm>
            <a:off x="5534025" y="2630388"/>
            <a:ext cx="1408956" cy="381000"/>
          </a:xfrm>
          <a:prstGeom prst="roundRect">
            <a:avLst>
              <a:gd name="adj" fmla="val 22500"/>
            </a:avLst>
          </a:prstGeom>
          <a:solidFill>
            <a:srgbClr val="EAF2FE"/>
          </a:solidFill>
          <a:ln/>
        </p:spPr>
        <p:txBody>
          <a:bodyPr/>
          <a:lstStyle/>
          <a:p>
            <a:endParaRPr lang="ko-KR" altLang="en-US"/>
          </a:p>
        </p:txBody>
      </p:sp>
      <p:sp>
        <p:nvSpPr>
          <p:cNvPr id="12" name="Text 10"/>
          <p:cNvSpPr/>
          <p:nvPr/>
        </p:nvSpPr>
        <p:spPr>
          <a:xfrm>
            <a:off x="5686425" y="2697063"/>
            <a:ext cx="1180356"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3182F6"/>
                </a:solidFill>
                <a:latin typeface="Pretendard" pitchFamily="34" charset="0"/>
                <a:ea typeface="Pretendard" pitchFamily="34" charset="-122"/>
                <a:cs typeface="Pretendard" pitchFamily="34" charset="-120"/>
              </a:rPr>
              <a:t>오케스트레이션</a:t>
            </a:r>
            <a:endParaRPr lang="en-US" sz="1350" dirty="0"/>
          </a:p>
        </p:txBody>
      </p:sp>
      <p:sp>
        <p:nvSpPr>
          <p:cNvPr id="13" name="Text 11"/>
          <p:cNvSpPr/>
          <p:nvPr/>
        </p:nvSpPr>
        <p:spPr>
          <a:xfrm>
            <a:off x="5534025" y="3220938"/>
            <a:ext cx="3530918" cy="400050"/>
          </a:xfrm>
          <a:prstGeom prst="rect">
            <a:avLst/>
          </a:prstGeom>
          <a:noFill/>
          <a:ln/>
        </p:spPr>
        <p:txBody>
          <a:bodyPr wrap="square" lIns="25400" tIns="25400" rIns="25400" bIns="25400" rtlCol="0" anchor="t">
            <a:normAutofit/>
          </a:bodyPr>
          <a:lstStyle/>
          <a:p>
            <a:pPr marL="0" indent="0" algn="l">
              <a:buNone/>
            </a:pPr>
            <a:r>
              <a:rPr lang="en-US" sz="2025" b="1" dirty="0">
                <a:solidFill>
                  <a:srgbClr val="191F28"/>
                </a:solidFill>
                <a:latin typeface="Pretendard" pitchFamily="34" charset="0"/>
                <a:ea typeface="Pretendard" pitchFamily="34" charset="-122"/>
                <a:cs typeface="Pretendard" pitchFamily="34" charset="-120"/>
              </a:rPr>
              <a:t>Claude Code</a:t>
            </a:r>
            <a:endParaRPr lang="en-US" sz="2025" dirty="0"/>
          </a:p>
        </p:txBody>
      </p:sp>
      <p:sp>
        <p:nvSpPr>
          <p:cNvPr id="14" name="Text 12"/>
          <p:cNvSpPr/>
          <p:nvPr/>
        </p:nvSpPr>
        <p:spPr>
          <a:xfrm>
            <a:off x="5534025" y="3716238"/>
            <a:ext cx="3530918" cy="33337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저장소 · 아키텍처 · 통합 구현</a:t>
            </a:r>
            <a:endParaRPr lang="en-US" sz="1500" dirty="0"/>
          </a:p>
        </p:txBody>
      </p:sp>
      <p:sp>
        <p:nvSpPr>
          <p:cNvPr id="15" name="Shape 13"/>
          <p:cNvSpPr/>
          <p:nvPr/>
        </p:nvSpPr>
        <p:spPr>
          <a:xfrm>
            <a:off x="9258300" y="2306538"/>
            <a:ext cx="3781425" cy="6141244"/>
          </a:xfrm>
          <a:prstGeom prst="roundRect">
            <a:avLst>
              <a:gd name="adj" fmla="val 5542"/>
            </a:avLst>
          </a:prstGeom>
          <a:solidFill>
            <a:srgbClr val="F7F8FA"/>
          </a:solidFill>
          <a:ln/>
        </p:spPr>
        <p:txBody>
          <a:bodyPr/>
          <a:lstStyle/>
          <a:p>
            <a:endParaRPr lang="ko-KR" altLang="en-US"/>
          </a:p>
        </p:txBody>
      </p:sp>
      <p:sp>
        <p:nvSpPr>
          <p:cNvPr id="16" name="Shape 14"/>
          <p:cNvSpPr/>
          <p:nvPr/>
        </p:nvSpPr>
        <p:spPr>
          <a:xfrm>
            <a:off x="9544050" y="2630388"/>
            <a:ext cx="1088157" cy="381000"/>
          </a:xfrm>
          <a:prstGeom prst="roundRect">
            <a:avLst>
              <a:gd name="adj" fmla="val 22500"/>
            </a:avLst>
          </a:prstGeom>
          <a:solidFill>
            <a:srgbClr val="EAF2FE"/>
          </a:solidFill>
          <a:ln/>
        </p:spPr>
        <p:txBody>
          <a:bodyPr/>
          <a:lstStyle/>
          <a:p>
            <a:endParaRPr lang="ko-KR" altLang="en-US"/>
          </a:p>
        </p:txBody>
      </p:sp>
      <p:sp>
        <p:nvSpPr>
          <p:cNvPr id="17" name="Text 15"/>
          <p:cNvSpPr/>
          <p:nvPr/>
        </p:nvSpPr>
        <p:spPr>
          <a:xfrm>
            <a:off x="9696450" y="2697063"/>
            <a:ext cx="859557"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3182F6"/>
                </a:solidFill>
                <a:latin typeface="Pretendard" pitchFamily="34" charset="0"/>
                <a:ea typeface="Pretendard" pitchFamily="34" charset="-122"/>
                <a:cs typeface="Pretendard" pitchFamily="34" charset="-120"/>
              </a:rPr>
              <a:t>구현 · 검증</a:t>
            </a:r>
            <a:endParaRPr lang="en-US" sz="1350" dirty="0"/>
          </a:p>
        </p:txBody>
      </p:sp>
      <p:sp>
        <p:nvSpPr>
          <p:cNvPr id="18" name="Text 16"/>
          <p:cNvSpPr/>
          <p:nvPr/>
        </p:nvSpPr>
        <p:spPr>
          <a:xfrm>
            <a:off x="9544050" y="3220938"/>
            <a:ext cx="3530918" cy="400050"/>
          </a:xfrm>
          <a:prstGeom prst="rect">
            <a:avLst/>
          </a:prstGeom>
          <a:noFill/>
          <a:ln/>
        </p:spPr>
        <p:txBody>
          <a:bodyPr wrap="square" lIns="25400" tIns="25400" rIns="25400" bIns="25400" rtlCol="0" anchor="t">
            <a:normAutofit/>
          </a:bodyPr>
          <a:lstStyle/>
          <a:p>
            <a:pPr marL="0" indent="0" algn="l">
              <a:buNone/>
            </a:pPr>
            <a:r>
              <a:rPr lang="en-US" sz="2025" b="1" dirty="0">
                <a:solidFill>
                  <a:srgbClr val="191F28"/>
                </a:solidFill>
                <a:latin typeface="Pretendard" pitchFamily="34" charset="0"/>
                <a:ea typeface="Pretendard" pitchFamily="34" charset="-122"/>
                <a:cs typeface="Pretendard" pitchFamily="34" charset="-120"/>
              </a:rPr>
              <a:t>Codex</a:t>
            </a:r>
            <a:endParaRPr lang="en-US" sz="2025" dirty="0"/>
          </a:p>
        </p:txBody>
      </p:sp>
      <p:sp>
        <p:nvSpPr>
          <p:cNvPr id="19" name="Text 17"/>
          <p:cNvSpPr/>
          <p:nvPr/>
        </p:nvSpPr>
        <p:spPr>
          <a:xfrm>
            <a:off x="9544050" y="3716238"/>
            <a:ext cx="3530918" cy="33337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격리 브랜치 구현 · 자동 테스트</a:t>
            </a:r>
            <a:endParaRPr lang="en-US" sz="1500" dirty="0"/>
          </a:p>
        </p:txBody>
      </p:sp>
      <p:sp>
        <p:nvSpPr>
          <p:cNvPr id="20" name="Shape 18"/>
          <p:cNvSpPr/>
          <p:nvPr/>
        </p:nvSpPr>
        <p:spPr>
          <a:xfrm>
            <a:off x="13268325" y="2306538"/>
            <a:ext cx="3781425" cy="6141244"/>
          </a:xfrm>
          <a:prstGeom prst="roundRect">
            <a:avLst>
              <a:gd name="adj" fmla="val 5542"/>
            </a:avLst>
          </a:prstGeom>
          <a:solidFill>
            <a:srgbClr val="191F28"/>
          </a:solidFill>
          <a:ln/>
        </p:spPr>
        <p:txBody>
          <a:bodyPr/>
          <a:lstStyle/>
          <a:p>
            <a:endParaRPr lang="ko-KR" altLang="en-US"/>
          </a:p>
        </p:txBody>
      </p:sp>
      <p:sp>
        <p:nvSpPr>
          <p:cNvPr id="21" name="Shape 19"/>
          <p:cNvSpPr/>
          <p:nvPr/>
        </p:nvSpPr>
        <p:spPr>
          <a:xfrm>
            <a:off x="13554075" y="2630388"/>
            <a:ext cx="620316" cy="381000"/>
          </a:xfrm>
          <a:prstGeom prst="roundRect">
            <a:avLst>
              <a:gd name="adj" fmla="val 22500"/>
            </a:avLst>
          </a:prstGeom>
          <a:solidFill>
            <a:srgbClr val="FFFFFF">
              <a:alpha val="16000"/>
            </a:srgbClr>
          </a:solidFill>
          <a:ln/>
        </p:spPr>
        <p:txBody>
          <a:bodyPr/>
          <a:lstStyle/>
          <a:p>
            <a:endParaRPr lang="ko-KR" altLang="en-US"/>
          </a:p>
        </p:txBody>
      </p:sp>
      <p:sp>
        <p:nvSpPr>
          <p:cNvPr id="22" name="Text 20"/>
          <p:cNvSpPr/>
          <p:nvPr/>
        </p:nvSpPr>
        <p:spPr>
          <a:xfrm>
            <a:off x="13706475" y="2697063"/>
            <a:ext cx="391716"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FFFFFF"/>
                </a:solidFill>
                <a:latin typeface="Pretendard" pitchFamily="34" charset="0"/>
                <a:ea typeface="Pretendard" pitchFamily="34" charset="-122"/>
                <a:cs typeface="Pretendard" pitchFamily="34" charset="-120"/>
              </a:rPr>
              <a:t>승인</a:t>
            </a:r>
            <a:endParaRPr lang="en-US" sz="1350" dirty="0"/>
          </a:p>
        </p:txBody>
      </p:sp>
      <p:sp>
        <p:nvSpPr>
          <p:cNvPr id="23" name="Text 21"/>
          <p:cNvSpPr/>
          <p:nvPr/>
        </p:nvSpPr>
        <p:spPr>
          <a:xfrm>
            <a:off x="13554075" y="3220938"/>
            <a:ext cx="3530918" cy="419100"/>
          </a:xfrm>
          <a:prstGeom prst="rect">
            <a:avLst/>
          </a:prstGeom>
          <a:noFill/>
          <a:ln/>
        </p:spPr>
        <p:txBody>
          <a:bodyPr wrap="square" lIns="25400" tIns="25400" rIns="25400" bIns="25400" rtlCol="0" anchor="t">
            <a:normAutofit/>
          </a:bodyPr>
          <a:lstStyle/>
          <a:p>
            <a:pPr marL="0" indent="0" algn="l">
              <a:buNone/>
            </a:pPr>
            <a:r>
              <a:rPr lang="en-US" sz="2025" b="1" dirty="0">
                <a:solidFill>
                  <a:srgbClr val="FFFFFF"/>
                </a:solidFill>
                <a:latin typeface="Pretendard" pitchFamily="34" charset="0"/>
                <a:ea typeface="Pretendard" pitchFamily="34" charset="-122"/>
                <a:cs typeface="Pretendard" pitchFamily="34" charset="-120"/>
              </a:rPr>
              <a:t>사람</a:t>
            </a:r>
            <a:endParaRPr lang="en-US" sz="2025" dirty="0"/>
          </a:p>
        </p:txBody>
      </p:sp>
      <p:sp>
        <p:nvSpPr>
          <p:cNvPr id="24" name="Text 22"/>
          <p:cNvSpPr/>
          <p:nvPr/>
        </p:nvSpPr>
        <p:spPr>
          <a:xfrm>
            <a:off x="13554075" y="3735288"/>
            <a:ext cx="3530918" cy="33337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00" dirty="0">
                <a:solidFill>
                  <a:srgbClr val="B0B8C1"/>
                </a:solidFill>
                <a:latin typeface="Pretendard" pitchFamily="34" charset="0"/>
                <a:ea typeface="Pretendard" pitchFamily="34" charset="-122"/>
                <a:cs typeface="Pretendard" pitchFamily="34" charset="-120"/>
              </a:rPr>
              <a:t>머지 · 배포 · 최종 책임</a:t>
            </a:r>
            <a:endParaRPr lang="en-US" sz="1500" dirty="0"/>
          </a:p>
        </p:txBody>
      </p:sp>
      <p:sp>
        <p:nvSpPr>
          <p:cNvPr id="25" name="Text 23"/>
          <p:cNvSpPr/>
          <p:nvPr/>
        </p:nvSpPr>
        <p:spPr>
          <a:xfrm>
            <a:off x="1238250" y="8752582"/>
            <a:ext cx="7907465" cy="658118"/>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75" b="1" dirty="0">
                <a:solidFill>
                  <a:srgbClr val="191F28"/>
                </a:solidFill>
                <a:latin typeface="Pretendard" pitchFamily="34" charset="0"/>
                <a:ea typeface="Pretendard" pitchFamily="34" charset="-122"/>
                <a:cs typeface="Pretendard" pitchFamily="34" charset="-120"/>
              </a:rPr>
              <a:t>자기검토 금지. </a:t>
            </a:r>
            <a:r>
              <a:rPr lang="en-US" sz="1575" dirty="0">
                <a:solidFill>
                  <a:srgbClr val="4E5968"/>
                </a:solidFill>
                <a:latin typeface="Pretendard" pitchFamily="34" charset="0"/>
                <a:ea typeface="Pretendard" pitchFamily="34" charset="-122"/>
                <a:cs typeface="Pretendard" pitchFamily="34" charset="-120"/>
              </a:rPr>
              <a:t>구현하는 AI와 검토하는 AI를 다른 계열로 강제 분리해, 자기 코드를 자기가 합격시킬 수 없습니다.</a:t>
            </a:r>
            <a:endParaRPr lang="en-US" sz="1575" dirty="0"/>
          </a:p>
        </p:txBody>
      </p:sp>
      <p:sp>
        <p:nvSpPr>
          <p:cNvPr id="26" name="Text 24"/>
          <p:cNvSpPr/>
          <p:nvPr/>
        </p:nvSpPr>
        <p:spPr>
          <a:xfrm>
            <a:off x="9372600" y="8752582"/>
            <a:ext cx="7907465" cy="658118"/>
          </a:xfrm>
          <a:prstGeom prst="rect">
            <a:avLst/>
          </a:prstGeom>
          <a:noFill/>
          <a:ln/>
        </p:spPr>
        <p:txBody>
          <a:bodyPr wrap="square" lIns="25400" tIns="25400" rIns="25400" bIns="25400" rtlCol="0" anchor="t">
            <a:normAutofit/>
          </a:bodyPr>
          <a:lstStyle/>
          <a:p>
            <a:pPr marL="0" indent="0" algn="l">
              <a:lnSpc>
                <a:spcPct val="155000"/>
              </a:lnSpc>
              <a:buNone/>
            </a:pPr>
            <a:r>
              <a:rPr lang="en-US" sz="1575" b="1" dirty="0">
                <a:solidFill>
                  <a:srgbClr val="191F28"/>
                </a:solidFill>
                <a:latin typeface="Pretendard" pitchFamily="34" charset="0"/>
                <a:ea typeface="Pretendard" pitchFamily="34" charset="-122"/>
                <a:cs typeface="Pretendard" pitchFamily="34" charset="-120"/>
              </a:rPr>
              <a:t>git이 메시지 버스. </a:t>
            </a:r>
            <a:r>
              <a:rPr lang="en-US" sz="1575" dirty="0">
                <a:solidFill>
                  <a:srgbClr val="4E5968"/>
                </a:solidFill>
                <a:latin typeface="Pretendard" pitchFamily="34" charset="0"/>
                <a:ea typeface="Pretendard" pitchFamily="34" charset="-122"/>
                <a:cs typeface="Pretendard" pitchFamily="34" charset="-120"/>
              </a:rPr>
              <a:t>AI끼리 직접 대화하지 않고 작업지시서·독립검토서·diff 문서로만 주고받습니다.</a:t>
            </a:r>
            <a:endParaRPr lang="en-US" sz="1575" dirty="0"/>
          </a:p>
        </p:txBody>
      </p:sp>
      <p:sp>
        <p:nvSpPr>
          <p:cNvPr id="27" name="Text 25"/>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1719585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활용 파이프라인</a:t>
            </a:r>
            <a:endParaRPr lang="en-US" sz="1875" dirty="0"/>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요구사항 한 줄이, 배포까지 자동으로 흐른다</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1238250" y="3825032"/>
            <a:ext cx="2365325" cy="1600200"/>
          </a:xfrm>
          <a:prstGeom prst="roundRect">
            <a:avLst>
              <a:gd name="adj" fmla="val 10714"/>
            </a:avLst>
          </a:prstGeom>
          <a:solidFill>
            <a:srgbClr val="F7F8FA"/>
          </a:solidFill>
          <a:ln/>
        </p:spPr>
        <p:txBody>
          <a:bodyPr/>
          <a:lstStyle/>
          <a:p>
            <a:endParaRPr lang="ko-KR" altLang="en-US"/>
          </a:p>
        </p:txBody>
      </p:sp>
      <p:sp>
        <p:nvSpPr>
          <p:cNvPr id="6" name="Text 4"/>
          <p:cNvSpPr/>
          <p:nvPr/>
        </p:nvSpPr>
        <p:spPr>
          <a:xfrm>
            <a:off x="1266669" y="4148882"/>
            <a:ext cx="2308488"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C4CAD2"/>
                </a:solidFill>
                <a:latin typeface="Pretendard" pitchFamily="34" charset="0"/>
                <a:ea typeface="Pretendard" pitchFamily="34" charset="-122"/>
                <a:cs typeface="Pretendard" pitchFamily="34" charset="-120"/>
              </a:rPr>
              <a:t>01</a:t>
            </a:r>
            <a:endParaRPr lang="en-US" sz="1050" dirty="0"/>
          </a:p>
        </p:txBody>
      </p:sp>
      <p:sp>
        <p:nvSpPr>
          <p:cNvPr id="7" name="Text 5"/>
          <p:cNvSpPr/>
          <p:nvPr/>
        </p:nvSpPr>
        <p:spPr>
          <a:xfrm>
            <a:off x="1266669" y="4434632"/>
            <a:ext cx="2308488"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191F28"/>
                </a:solidFill>
                <a:latin typeface="Pretendard" pitchFamily="34" charset="0"/>
                <a:ea typeface="Pretendard" pitchFamily="34" charset="-122"/>
                <a:cs typeface="Pretendard" pitchFamily="34" charset="-120"/>
              </a:rPr>
              <a:t>요구사항</a:t>
            </a:r>
            <a:endParaRPr lang="en-US" sz="1875" dirty="0"/>
          </a:p>
        </p:txBody>
      </p:sp>
      <p:sp>
        <p:nvSpPr>
          <p:cNvPr id="8" name="Text 6"/>
          <p:cNvSpPr/>
          <p:nvPr/>
        </p:nvSpPr>
        <p:spPr>
          <a:xfrm>
            <a:off x="1266669" y="4868019"/>
            <a:ext cx="2308488" cy="271463"/>
          </a:xfrm>
          <a:prstGeom prst="rect">
            <a:avLst/>
          </a:prstGeom>
          <a:noFill/>
          <a:ln/>
        </p:spPr>
        <p:txBody>
          <a:bodyPr wrap="square" lIns="25400" tIns="25400" rIns="25400" bIns="25400" rtlCol="0" anchor="t">
            <a:normAutofit/>
          </a:bodyPr>
          <a:lstStyle/>
          <a:p>
            <a:pPr marL="0" indent="0" algn="ctr">
              <a:buNone/>
            </a:pPr>
            <a:r>
              <a:rPr lang="en-US" sz="1275" dirty="0">
                <a:solidFill>
                  <a:srgbClr val="8B95A1"/>
                </a:solidFill>
                <a:latin typeface="Pretendard" pitchFamily="34" charset="0"/>
                <a:ea typeface="Pretendard" pitchFamily="34" charset="-122"/>
                <a:cs typeface="Pretendard" pitchFamily="34" charset="-120"/>
              </a:rPr>
              <a:t>한 줄</a:t>
            </a:r>
            <a:endParaRPr lang="en-US" sz="1275" dirty="0"/>
          </a:p>
        </p:txBody>
      </p:sp>
      <p:sp>
        <p:nvSpPr>
          <p:cNvPr id="9" name="Text 7"/>
          <p:cNvSpPr/>
          <p:nvPr/>
        </p:nvSpPr>
        <p:spPr>
          <a:xfrm>
            <a:off x="3565475" y="3825032"/>
            <a:ext cx="400050" cy="1638300"/>
          </a:xfrm>
          <a:prstGeom prst="rect">
            <a:avLst/>
          </a:prstGeom>
          <a:noFill/>
          <a:ln/>
        </p:spPr>
        <p:txBody>
          <a:bodyPr wrap="square" lIns="25400" tIns="25400" rIns="25400" bIns="25400" rtlCol="0" anchor="ctr">
            <a:normAutofit/>
          </a:bodyPr>
          <a:lstStyle/>
          <a:p>
            <a:pPr marL="0" indent="0" algn="ctr">
              <a:buNone/>
            </a:pPr>
            <a:r>
              <a:rPr lang="en-US" sz="1950" dirty="0">
                <a:solidFill>
                  <a:srgbClr val="C4CAD2"/>
                </a:solidFill>
                <a:latin typeface="Pretendard" pitchFamily="34" charset="0"/>
                <a:ea typeface="Pretendard" pitchFamily="34" charset="-122"/>
                <a:cs typeface="Pretendard" pitchFamily="34" charset="-120"/>
              </a:rPr>
              <a:t>›</a:t>
            </a:r>
            <a:endParaRPr lang="en-US" sz="1950" dirty="0"/>
          </a:p>
        </p:txBody>
      </p:sp>
      <p:sp>
        <p:nvSpPr>
          <p:cNvPr id="10" name="Shape 8"/>
          <p:cNvSpPr/>
          <p:nvPr/>
        </p:nvSpPr>
        <p:spPr>
          <a:xfrm>
            <a:off x="3927425" y="3825032"/>
            <a:ext cx="2365400" cy="1552575"/>
          </a:xfrm>
          <a:prstGeom prst="roundRect">
            <a:avLst>
              <a:gd name="adj" fmla="val 11043"/>
            </a:avLst>
          </a:prstGeom>
          <a:solidFill>
            <a:srgbClr val="F7F8FA"/>
          </a:solidFill>
          <a:ln/>
        </p:spPr>
        <p:txBody>
          <a:bodyPr/>
          <a:lstStyle/>
          <a:p>
            <a:endParaRPr lang="ko-KR" altLang="en-US"/>
          </a:p>
        </p:txBody>
      </p:sp>
      <p:sp>
        <p:nvSpPr>
          <p:cNvPr id="11" name="Text 9"/>
          <p:cNvSpPr/>
          <p:nvPr/>
        </p:nvSpPr>
        <p:spPr>
          <a:xfrm>
            <a:off x="3955840" y="4148882"/>
            <a:ext cx="2308570"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C4CAD2"/>
                </a:solidFill>
                <a:latin typeface="Pretendard" pitchFamily="34" charset="0"/>
                <a:ea typeface="Pretendard" pitchFamily="34" charset="-122"/>
                <a:cs typeface="Pretendard" pitchFamily="34" charset="-120"/>
              </a:rPr>
              <a:t>02</a:t>
            </a:r>
            <a:endParaRPr lang="en-US" sz="1050" dirty="0"/>
          </a:p>
        </p:txBody>
      </p:sp>
      <p:sp>
        <p:nvSpPr>
          <p:cNvPr id="12" name="Text 10"/>
          <p:cNvSpPr/>
          <p:nvPr/>
        </p:nvSpPr>
        <p:spPr>
          <a:xfrm>
            <a:off x="3955840" y="4434632"/>
            <a:ext cx="2308570"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191F28"/>
                </a:solidFill>
                <a:latin typeface="Pretendard" pitchFamily="34" charset="0"/>
                <a:ea typeface="Pretendard" pitchFamily="34" charset="-122"/>
                <a:cs typeface="Pretendard" pitchFamily="34" charset="-120"/>
              </a:rPr>
              <a:t>작업지시</a:t>
            </a:r>
            <a:endParaRPr lang="en-US" sz="1875" dirty="0"/>
          </a:p>
        </p:txBody>
      </p:sp>
      <p:sp>
        <p:nvSpPr>
          <p:cNvPr id="13" name="Text 11"/>
          <p:cNvSpPr/>
          <p:nvPr/>
        </p:nvSpPr>
        <p:spPr>
          <a:xfrm>
            <a:off x="3955840" y="4868019"/>
            <a:ext cx="2308570" cy="223838"/>
          </a:xfrm>
          <a:prstGeom prst="rect">
            <a:avLst/>
          </a:prstGeom>
          <a:noFill/>
          <a:ln/>
        </p:spPr>
        <p:txBody>
          <a:bodyPr wrap="square" lIns="25400" tIns="25400" rIns="25400" bIns="25400" rtlCol="0" anchor="t">
            <a:normAutofit fontScale="92500" lnSpcReduction="10000"/>
          </a:bodyPr>
          <a:lstStyle/>
          <a:p>
            <a:pPr marL="0" indent="0" algn="ctr">
              <a:buNone/>
            </a:pPr>
            <a:r>
              <a:rPr lang="en-US" sz="1275" dirty="0">
                <a:solidFill>
                  <a:srgbClr val="8B95A1"/>
                </a:solidFill>
                <a:latin typeface="Pretendard" pitchFamily="34" charset="0"/>
                <a:ea typeface="Pretendard" pitchFamily="34" charset="-122"/>
                <a:cs typeface="Pretendard" pitchFamily="34" charset="-120"/>
              </a:rPr>
              <a:t>ChatGPT Pro</a:t>
            </a:r>
            <a:endParaRPr lang="en-US" sz="1275" dirty="0"/>
          </a:p>
        </p:txBody>
      </p:sp>
      <p:sp>
        <p:nvSpPr>
          <p:cNvPr id="14" name="Text 12"/>
          <p:cNvSpPr/>
          <p:nvPr/>
        </p:nvSpPr>
        <p:spPr>
          <a:xfrm>
            <a:off x="6254725" y="3825032"/>
            <a:ext cx="400050" cy="1638300"/>
          </a:xfrm>
          <a:prstGeom prst="rect">
            <a:avLst/>
          </a:prstGeom>
          <a:noFill/>
          <a:ln/>
        </p:spPr>
        <p:txBody>
          <a:bodyPr wrap="square" lIns="25400" tIns="25400" rIns="25400" bIns="25400" rtlCol="0" anchor="ctr">
            <a:normAutofit/>
          </a:bodyPr>
          <a:lstStyle/>
          <a:p>
            <a:pPr marL="0" indent="0" algn="ctr">
              <a:buNone/>
            </a:pPr>
            <a:r>
              <a:rPr lang="en-US" sz="1950" dirty="0">
                <a:solidFill>
                  <a:srgbClr val="C4CAD2"/>
                </a:solidFill>
                <a:latin typeface="Pretendard" pitchFamily="34" charset="0"/>
                <a:ea typeface="Pretendard" pitchFamily="34" charset="-122"/>
                <a:cs typeface="Pretendard" pitchFamily="34" charset="-120"/>
              </a:rPr>
              <a:t>›</a:t>
            </a:r>
            <a:endParaRPr lang="en-US" sz="1950" dirty="0"/>
          </a:p>
        </p:txBody>
      </p:sp>
      <p:sp>
        <p:nvSpPr>
          <p:cNvPr id="15" name="Shape 13"/>
          <p:cNvSpPr/>
          <p:nvPr/>
        </p:nvSpPr>
        <p:spPr>
          <a:xfrm>
            <a:off x="6616675" y="3825032"/>
            <a:ext cx="2365325" cy="1552575"/>
          </a:xfrm>
          <a:prstGeom prst="roundRect">
            <a:avLst>
              <a:gd name="adj" fmla="val 11043"/>
            </a:avLst>
          </a:prstGeom>
          <a:solidFill>
            <a:srgbClr val="F7F8FA"/>
          </a:solidFill>
          <a:ln/>
        </p:spPr>
        <p:txBody>
          <a:bodyPr/>
          <a:lstStyle/>
          <a:p>
            <a:endParaRPr lang="ko-KR" altLang="en-US"/>
          </a:p>
        </p:txBody>
      </p:sp>
      <p:sp>
        <p:nvSpPr>
          <p:cNvPr id="16" name="Text 14"/>
          <p:cNvSpPr/>
          <p:nvPr/>
        </p:nvSpPr>
        <p:spPr>
          <a:xfrm>
            <a:off x="6645094" y="4148882"/>
            <a:ext cx="2308488"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C4CAD2"/>
                </a:solidFill>
                <a:latin typeface="Pretendard" pitchFamily="34" charset="0"/>
                <a:ea typeface="Pretendard" pitchFamily="34" charset="-122"/>
                <a:cs typeface="Pretendard" pitchFamily="34" charset="-120"/>
              </a:rPr>
              <a:t>03</a:t>
            </a:r>
            <a:endParaRPr lang="en-US" sz="1050" dirty="0"/>
          </a:p>
        </p:txBody>
      </p:sp>
      <p:sp>
        <p:nvSpPr>
          <p:cNvPr id="17" name="Text 15"/>
          <p:cNvSpPr/>
          <p:nvPr/>
        </p:nvSpPr>
        <p:spPr>
          <a:xfrm>
            <a:off x="6645094" y="4434632"/>
            <a:ext cx="2308488"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191F28"/>
                </a:solidFill>
                <a:latin typeface="Pretendard" pitchFamily="34" charset="0"/>
                <a:ea typeface="Pretendard" pitchFamily="34" charset="-122"/>
                <a:cs typeface="Pretendard" pitchFamily="34" charset="-120"/>
              </a:rPr>
              <a:t>구현</a:t>
            </a:r>
            <a:endParaRPr lang="en-US" sz="1875" dirty="0"/>
          </a:p>
        </p:txBody>
      </p:sp>
      <p:sp>
        <p:nvSpPr>
          <p:cNvPr id="18" name="Text 16"/>
          <p:cNvSpPr/>
          <p:nvPr/>
        </p:nvSpPr>
        <p:spPr>
          <a:xfrm>
            <a:off x="6645094" y="4868019"/>
            <a:ext cx="2308488" cy="223838"/>
          </a:xfrm>
          <a:prstGeom prst="rect">
            <a:avLst/>
          </a:prstGeom>
          <a:noFill/>
          <a:ln/>
        </p:spPr>
        <p:txBody>
          <a:bodyPr wrap="square" lIns="25400" tIns="25400" rIns="25400" bIns="25400" rtlCol="0" anchor="t">
            <a:normAutofit fontScale="92500" lnSpcReduction="10000"/>
          </a:bodyPr>
          <a:lstStyle/>
          <a:p>
            <a:pPr marL="0" indent="0" algn="ctr">
              <a:buNone/>
            </a:pPr>
            <a:r>
              <a:rPr lang="en-US" sz="1275" dirty="0">
                <a:solidFill>
                  <a:srgbClr val="8B95A1"/>
                </a:solidFill>
                <a:latin typeface="Pretendard" pitchFamily="34" charset="0"/>
                <a:ea typeface="Pretendard" pitchFamily="34" charset="-122"/>
                <a:cs typeface="Pretendard" pitchFamily="34" charset="-120"/>
              </a:rPr>
              <a:t>Claude · Codex</a:t>
            </a:r>
            <a:endParaRPr lang="en-US" sz="1275" dirty="0"/>
          </a:p>
        </p:txBody>
      </p:sp>
      <p:sp>
        <p:nvSpPr>
          <p:cNvPr id="19" name="Text 17"/>
          <p:cNvSpPr/>
          <p:nvPr/>
        </p:nvSpPr>
        <p:spPr>
          <a:xfrm>
            <a:off x="8943901" y="3825032"/>
            <a:ext cx="400050" cy="1638300"/>
          </a:xfrm>
          <a:prstGeom prst="rect">
            <a:avLst/>
          </a:prstGeom>
          <a:noFill/>
          <a:ln/>
        </p:spPr>
        <p:txBody>
          <a:bodyPr wrap="square" lIns="25400" tIns="25400" rIns="25400" bIns="25400" rtlCol="0" anchor="ctr">
            <a:normAutofit/>
          </a:bodyPr>
          <a:lstStyle/>
          <a:p>
            <a:pPr marL="0" indent="0" algn="ctr">
              <a:buNone/>
            </a:pPr>
            <a:r>
              <a:rPr lang="en-US" sz="1950" dirty="0">
                <a:solidFill>
                  <a:srgbClr val="C4CAD2"/>
                </a:solidFill>
                <a:latin typeface="Pretendard" pitchFamily="34" charset="0"/>
                <a:ea typeface="Pretendard" pitchFamily="34" charset="-122"/>
                <a:cs typeface="Pretendard" pitchFamily="34" charset="-120"/>
              </a:rPr>
              <a:t>›</a:t>
            </a:r>
            <a:endParaRPr lang="en-US" sz="1950" dirty="0"/>
          </a:p>
        </p:txBody>
      </p:sp>
      <p:sp>
        <p:nvSpPr>
          <p:cNvPr id="20" name="Shape 18"/>
          <p:cNvSpPr/>
          <p:nvPr/>
        </p:nvSpPr>
        <p:spPr>
          <a:xfrm>
            <a:off x="9305851" y="3825032"/>
            <a:ext cx="2365400" cy="1600200"/>
          </a:xfrm>
          <a:prstGeom prst="roundRect">
            <a:avLst>
              <a:gd name="adj" fmla="val 10714"/>
            </a:avLst>
          </a:prstGeom>
          <a:solidFill>
            <a:srgbClr val="EAF2FE"/>
          </a:solidFill>
          <a:ln/>
        </p:spPr>
        <p:txBody>
          <a:bodyPr/>
          <a:lstStyle/>
          <a:p>
            <a:endParaRPr lang="ko-KR" altLang="en-US"/>
          </a:p>
        </p:txBody>
      </p:sp>
      <p:sp>
        <p:nvSpPr>
          <p:cNvPr id="21" name="Text 19"/>
          <p:cNvSpPr/>
          <p:nvPr/>
        </p:nvSpPr>
        <p:spPr>
          <a:xfrm>
            <a:off x="9334266" y="4148882"/>
            <a:ext cx="2308570"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3182F6"/>
                </a:solidFill>
                <a:latin typeface="Pretendard" pitchFamily="34" charset="0"/>
                <a:ea typeface="Pretendard" pitchFamily="34" charset="-122"/>
                <a:cs typeface="Pretendard" pitchFamily="34" charset="-120"/>
              </a:rPr>
              <a:t>04</a:t>
            </a:r>
            <a:endParaRPr lang="en-US" sz="1050" dirty="0"/>
          </a:p>
        </p:txBody>
      </p:sp>
      <p:sp>
        <p:nvSpPr>
          <p:cNvPr id="22" name="Text 20"/>
          <p:cNvSpPr/>
          <p:nvPr/>
        </p:nvSpPr>
        <p:spPr>
          <a:xfrm>
            <a:off x="9334266" y="4434632"/>
            <a:ext cx="2308570"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3182F6"/>
                </a:solidFill>
                <a:latin typeface="Pretendard" pitchFamily="34" charset="0"/>
                <a:ea typeface="Pretendard" pitchFamily="34" charset="-122"/>
                <a:cs typeface="Pretendard" pitchFamily="34" charset="-120"/>
              </a:rPr>
              <a:t>자동검증</a:t>
            </a:r>
            <a:endParaRPr lang="en-US" sz="1875" dirty="0"/>
          </a:p>
        </p:txBody>
      </p:sp>
      <p:sp>
        <p:nvSpPr>
          <p:cNvPr id="23" name="Text 21"/>
          <p:cNvSpPr/>
          <p:nvPr/>
        </p:nvSpPr>
        <p:spPr>
          <a:xfrm>
            <a:off x="9334266" y="4868019"/>
            <a:ext cx="2308570" cy="271463"/>
          </a:xfrm>
          <a:prstGeom prst="rect">
            <a:avLst/>
          </a:prstGeom>
          <a:noFill/>
          <a:ln/>
        </p:spPr>
        <p:txBody>
          <a:bodyPr wrap="square" lIns="25400" tIns="25400" rIns="25400" bIns="25400" rtlCol="0" anchor="t">
            <a:normAutofit/>
          </a:bodyPr>
          <a:lstStyle/>
          <a:p>
            <a:pPr marL="0" indent="0" algn="ctr">
              <a:buNone/>
            </a:pPr>
            <a:r>
              <a:rPr lang="en-US" sz="1275" dirty="0">
                <a:solidFill>
                  <a:srgbClr val="3182F6"/>
                </a:solidFill>
                <a:latin typeface="Pretendard" pitchFamily="34" charset="0"/>
                <a:ea typeface="Pretendard" pitchFamily="34" charset="-122"/>
                <a:cs typeface="Pretendard" pitchFamily="34" charset="-120"/>
              </a:rPr>
              <a:t>게이트 6검사</a:t>
            </a:r>
            <a:endParaRPr lang="en-US" sz="1275" dirty="0"/>
          </a:p>
        </p:txBody>
      </p:sp>
      <p:sp>
        <p:nvSpPr>
          <p:cNvPr id="24" name="Text 22"/>
          <p:cNvSpPr/>
          <p:nvPr/>
        </p:nvSpPr>
        <p:spPr>
          <a:xfrm>
            <a:off x="11633150" y="3825032"/>
            <a:ext cx="400050" cy="1638300"/>
          </a:xfrm>
          <a:prstGeom prst="rect">
            <a:avLst/>
          </a:prstGeom>
          <a:noFill/>
          <a:ln/>
        </p:spPr>
        <p:txBody>
          <a:bodyPr wrap="square" lIns="25400" tIns="25400" rIns="25400" bIns="25400" rtlCol="0" anchor="ctr">
            <a:normAutofit/>
          </a:bodyPr>
          <a:lstStyle/>
          <a:p>
            <a:pPr marL="0" indent="0" algn="ctr">
              <a:buNone/>
            </a:pPr>
            <a:r>
              <a:rPr lang="en-US" sz="1950" dirty="0">
                <a:solidFill>
                  <a:srgbClr val="C4CAD2"/>
                </a:solidFill>
                <a:latin typeface="Pretendard" pitchFamily="34" charset="0"/>
                <a:ea typeface="Pretendard" pitchFamily="34" charset="-122"/>
                <a:cs typeface="Pretendard" pitchFamily="34" charset="-120"/>
              </a:rPr>
              <a:t>›</a:t>
            </a:r>
            <a:endParaRPr lang="en-US" sz="1950" dirty="0"/>
          </a:p>
        </p:txBody>
      </p:sp>
      <p:sp>
        <p:nvSpPr>
          <p:cNvPr id="25" name="Shape 23"/>
          <p:cNvSpPr/>
          <p:nvPr/>
        </p:nvSpPr>
        <p:spPr>
          <a:xfrm>
            <a:off x="11995100" y="3825032"/>
            <a:ext cx="2365400" cy="1600200"/>
          </a:xfrm>
          <a:prstGeom prst="roundRect">
            <a:avLst>
              <a:gd name="adj" fmla="val 10714"/>
            </a:avLst>
          </a:prstGeom>
          <a:solidFill>
            <a:srgbClr val="F7F8FA"/>
          </a:solidFill>
          <a:ln/>
        </p:spPr>
        <p:txBody>
          <a:bodyPr/>
          <a:lstStyle/>
          <a:p>
            <a:endParaRPr lang="ko-KR" altLang="en-US"/>
          </a:p>
        </p:txBody>
      </p:sp>
      <p:sp>
        <p:nvSpPr>
          <p:cNvPr id="26" name="Text 24"/>
          <p:cNvSpPr/>
          <p:nvPr/>
        </p:nvSpPr>
        <p:spPr>
          <a:xfrm>
            <a:off x="12023515" y="4148882"/>
            <a:ext cx="2308570"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C4CAD2"/>
                </a:solidFill>
                <a:latin typeface="Pretendard" pitchFamily="34" charset="0"/>
                <a:ea typeface="Pretendard" pitchFamily="34" charset="-122"/>
                <a:cs typeface="Pretendard" pitchFamily="34" charset="-120"/>
              </a:rPr>
              <a:t>05</a:t>
            </a:r>
            <a:endParaRPr lang="en-US" sz="1050" dirty="0"/>
          </a:p>
        </p:txBody>
      </p:sp>
      <p:sp>
        <p:nvSpPr>
          <p:cNvPr id="27" name="Text 25"/>
          <p:cNvSpPr/>
          <p:nvPr/>
        </p:nvSpPr>
        <p:spPr>
          <a:xfrm>
            <a:off x="12023515" y="4434632"/>
            <a:ext cx="2308570"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191F28"/>
                </a:solidFill>
                <a:latin typeface="Pretendard" pitchFamily="34" charset="0"/>
                <a:ea typeface="Pretendard" pitchFamily="34" charset="-122"/>
                <a:cs typeface="Pretendard" pitchFamily="34" charset="-120"/>
              </a:rPr>
              <a:t>독립검토</a:t>
            </a:r>
            <a:endParaRPr lang="en-US" sz="1875" dirty="0"/>
          </a:p>
        </p:txBody>
      </p:sp>
      <p:sp>
        <p:nvSpPr>
          <p:cNvPr id="28" name="Text 26"/>
          <p:cNvSpPr/>
          <p:nvPr/>
        </p:nvSpPr>
        <p:spPr>
          <a:xfrm>
            <a:off x="12023515" y="4868019"/>
            <a:ext cx="2308570" cy="271463"/>
          </a:xfrm>
          <a:prstGeom prst="rect">
            <a:avLst/>
          </a:prstGeom>
          <a:noFill/>
          <a:ln/>
        </p:spPr>
        <p:txBody>
          <a:bodyPr wrap="square" lIns="25400" tIns="25400" rIns="25400" bIns="25400" rtlCol="0" anchor="t">
            <a:normAutofit/>
          </a:bodyPr>
          <a:lstStyle/>
          <a:p>
            <a:pPr marL="0" indent="0" algn="ctr">
              <a:buNone/>
            </a:pPr>
            <a:r>
              <a:rPr lang="en-US" sz="1275" dirty="0">
                <a:solidFill>
                  <a:srgbClr val="8B95A1"/>
                </a:solidFill>
                <a:latin typeface="Pretendard" pitchFamily="34" charset="0"/>
                <a:ea typeface="Pretendard" pitchFamily="34" charset="-122"/>
                <a:cs typeface="Pretendard" pitchFamily="34" charset="-120"/>
              </a:rPr>
              <a:t>다른 계열 AI</a:t>
            </a:r>
            <a:endParaRPr lang="en-US" sz="1275" dirty="0"/>
          </a:p>
        </p:txBody>
      </p:sp>
      <p:sp>
        <p:nvSpPr>
          <p:cNvPr id="29" name="Text 27"/>
          <p:cNvSpPr/>
          <p:nvPr/>
        </p:nvSpPr>
        <p:spPr>
          <a:xfrm>
            <a:off x="14322400" y="3825032"/>
            <a:ext cx="400050" cy="1638300"/>
          </a:xfrm>
          <a:prstGeom prst="rect">
            <a:avLst/>
          </a:prstGeom>
          <a:noFill/>
          <a:ln/>
        </p:spPr>
        <p:txBody>
          <a:bodyPr wrap="square" lIns="25400" tIns="25400" rIns="25400" bIns="25400" rtlCol="0" anchor="ctr">
            <a:normAutofit/>
          </a:bodyPr>
          <a:lstStyle/>
          <a:p>
            <a:pPr marL="0" indent="0" algn="ctr">
              <a:buNone/>
            </a:pPr>
            <a:r>
              <a:rPr lang="en-US" sz="1950" dirty="0">
                <a:solidFill>
                  <a:srgbClr val="C4CAD2"/>
                </a:solidFill>
                <a:latin typeface="Pretendard" pitchFamily="34" charset="0"/>
                <a:ea typeface="Pretendard" pitchFamily="34" charset="-122"/>
                <a:cs typeface="Pretendard" pitchFamily="34" charset="-120"/>
              </a:rPr>
              <a:t>›</a:t>
            </a:r>
            <a:endParaRPr lang="en-US" sz="1950" dirty="0"/>
          </a:p>
        </p:txBody>
      </p:sp>
      <p:sp>
        <p:nvSpPr>
          <p:cNvPr id="30" name="Shape 28"/>
          <p:cNvSpPr/>
          <p:nvPr/>
        </p:nvSpPr>
        <p:spPr>
          <a:xfrm>
            <a:off x="14684350" y="3825032"/>
            <a:ext cx="2365400" cy="1600200"/>
          </a:xfrm>
          <a:prstGeom prst="roundRect">
            <a:avLst>
              <a:gd name="adj" fmla="val 10714"/>
            </a:avLst>
          </a:prstGeom>
          <a:solidFill>
            <a:srgbClr val="191F28"/>
          </a:solidFill>
          <a:ln/>
        </p:spPr>
        <p:txBody>
          <a:bodyPr/>
          <a:lstStyle/>
          <a:p>
            <a:endParaRPr lang="ko-KR" altLang="en-US"/>
          </a:p>
        </p:txBody>
      </p:sp>
      <p:sp>
        <p:nvSpPr>
          <p:cNvPr id="31" name="Text 29"/>
          <p:cNvSpPr/>
          <p:nvPr/>
        </p:nvSpPr>
        <p:spPr>
          <a:xfrm>
            <a:off x="14712765" y="4148882"/>
            <a:ext cx="2308570" cy="228600"/>
          </a:xfrm>
          <a:prstGeom prst="rect">
            <a:avLst/>
          </a:prstGeom>
          <a:noFill/>
          <a:ln/>
        </p:spPr>
        <p:txBody>
          <a:bodyPr wrap="square" lIns="25400" tIns="25400" rIns="25400" bIns="25400" rtlCol="0" anchor="t">
            <a:normAutofit/>
          </a:bodyPr>
          <a:lstStyle/>
          <a:p>
            <a:pPr marL="0" indent="0" algn="ctr">
              <a:buNone/>
            </a:pPr>
            <a:r>
              <a:rPr lang="en-US" sz="1050" b="1" kern="0" spc="42" dirty="0">
                <a:solidFill>
                  <a:srgbClr val="6B7280"/>
                </a:solidFill>
                <a:latin typeface="Pretendard" pitchFamily="34" charset="0"/>
                <a:ea typeface="Pretendard" pitchFamily="34" charset="-122"/>
                <a:cs typeface="Pretendard" pitchFamily="34" charset="-120"/>
              </a:rPr>
              <a:t>06</a:t>
            </a:r>
            <a:endParaRPr lang="en-US" sz="1050" dirty="0"/>
          </a:p>
        </p:txBody>
      </p:sp>
      <p:sp>
        <p:nvSpPr>
          <p:cNvPr id="32" name="Text 30"/>
          <p:cNvSpPr/>
          <p:nvPr/>
        </p:nvSpPr>
        <p:spPr>
          <a:xfrm>
            <a:off x="14712765" y="4434632"/>
            <a:ext cx="2308570" cy="385763"/>
          </a:xfrm>
          <a:prstGeom prst="rect">
            <a:avLst/>
          </a:prstGeom>
          <a:noFill/>
          <a:ln/>
        </p:spPr>
        <p:txBody>
          <a:bodyPr wrap="square" lIns="25400" tIns="25400" rIns="25400" bIns="25400" rtlCol="0" anchor="t">
            <a:normAutofit/>
          </a:bodyPr>
          <a:lstStyle/>
          <a:p>
            <a:pPr marL="0" indent="0" algn="ctr">
              <a:buNone/>
            </a:pPr>
            <a:r>
              <a:rPr lang="en-US" sz="1875" b="1" dirty="0">
                <a:solidFill>
                  <a:srgbClr val="FFFFFF"/>
                </a:solidFill>
                <a:latin typeface="Pretendard" pitchFamily="34" charset="0"/>
                <a:ea typeface="Pretendard" pitchFamily="34" charset="-122"/>
                <a:cs typeface="Pretendard" pitchFamily="34" charset="-120"/>
              </a:rPr>
              <a:t>사람 승인</a:t>
            </a:r>
            <a:endParaRPr lang="en-US" sz="1875" dirty="0"/>
          </a:p>
        </p:txBody>
      </p:sp>
      <p:sp>
        <p:nvSpPr>
          <p:cNvPr id="33" name="Text 31"/>
          <p:cNvSpPr/>
          <p:nvPr/>
        </p:nvSpPr>
        <p:spPr>
          <a:xfrm>
            <a:off x="14712765" y="4868019"/>
            <a:ext cx="2308570" cy="271463"/>
          </a:xfrm>
          <a:prstGeom prst="rect">
            <a:avLst/>
          </a:prstGeom>
          <a:noFill/>
          <a:ln/>
        </p:spPr>
        <p:txBody>
          <a:bodyPr wrap="square" lIns="25400" tIns="25400" rIns="25400" bIns="25400" rtlCol="0" anchor="t">
            <a:normAutofit/>
          </a:bodyPr>
          <a:lstStyle/>
          <a:p>
            <a:pPr marL="0" indent="0" algn="ctr">
              <a:buNone/>
            </a:pPr>
            <a:r>
              <a:rPr lang="en-US" sz="1275" dirty="0">
                <a:solidFill>
                  <a:srgbClr val="B0B8C1"/>
                </a:solidFill>
                <a:latin typeface="Pretendard" pitchFamily="34" charset="0"/>
                <a:ea typeface="Pretendard" pitchFamily="34" charset="-122"/>
                <a:cs typeface="Pretendard" pitchFamily="34" charset="-120"/>
              </a:rPr>
              <a:t>커밋 · 배포</a:t>
            </a:r>
            <a:endParaRPr lang="en-US" sz="1275" dirty="0"/>
          </a:p>
        </p:txBody>
      </p:sp>
      <p:sp>
        <p:nvSpPr>
          <p:cNvPr id="34" name="Text 32"/>
          <p:cNvSpPr/>
          <p:nvPr/>
        </p:nvSpPr>
        <p:spPr>
          <a:xfrm>
            <a:off x="447675" y="5672882"/>
            <a:ext cx="17392650" cy="342900"/>
          </a:xfrm>
          <a:prstGeom prst="rect">
            <a:avLst/>
          </a:prstGeom>
          <a:noFill/>
          <a:ln/>
        </p:spPr>
        <p:txBody>
          <a:bodyPr wrap="square" lIns="25400" tIns="25400" rIns="25400" bIns="25400" rtlCol="0" anchor="t">
            <a:normAutofit/>
          </a:bodyPr>
          <a:lstStyle/>
          <a:p>
            <a:pPr marL="0" indent="0" algn="ctr">
              <a:buNone/>
            </a:pPr>
            <a:r>
              <a:rPr lang="en-US" sz="1650" dirty="0">
                <a:solidFill>
                  <a:srgbClr val="8B95A1"/>
                </a:solidFill>
                <a:latin typeface="Pretendard" pitchFamily="34" charset="0"/>
                <a:ea typeface="Pretendard" pitchFamily="34" charset="-122"/>
                <a:cs typeface="Pretendard" pitchFamily="34" charset="-120"/>
              </a:rPr>
              <a:t>어느 단계든 실패하면 라인이 멈추고(STOP) 처음으로 되돌립니다.</a:t>
            </a:r>
            <a:endParaRPr lang="en-US" sz="1650" dirty="0"/>
          </a:p>
        </p:txBody>
      </p:sp>
      <p:sp>
        <p:nvSpPr>
          <p:cNvPr id="35" name="Shape 33"/>
          <p:cNvSpPr/>
          <p:nvPr/>
        </p:nvSpPr>
        <p:spPr>
          <a:xfrm>
            <a:off x="1238250" y="7877175"/>
            <a:ext cx="4292947" cy="1495425"/>
          </a:xfrm>
          <a:prstGeom prst="roundRect">
            <a:avLst>
              <a:gd name="adj" fmla="val 11465"/>
            </a:avLst>
          </a:prstGeom>
          <a:solidFill>
            <a:srgbClr val="F7F8FA"/>
          </a:solidFill>
          <a:ln/>
        </p:spPr>
        <p:txBody>
          <a:bodyPr/>
          <a:lstStyle/>
          <a:p>
            <a:endParaRPr lang="ko-KR" altLang="en-US"/>
          </a:p>
        </p:txBody>
      </p:sp>
      <p:sp>
        <p:nvSpPr>
          <p:cNvPr id="36" name="Text 34"/>
          <p:cNvSpPr/>
          <p:nvPr/>
        </p:nvSpPr>
        <p:spPr>
          <a:xfrm>
            <a:off x="1562100" y="8162925"/>
            <a:ext cx="4009772"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작업지시서 · TASK</a:t>
            </a:r>
            <a:endParaRPr lang="en-US" sz="1425" dirty="0"/>
          </a:p>
        </p:txBody>
      </p:sp>
      <p:sp>
        <p:nvSpPr>
          <p:cNvPr id="37" name="Text 35"/>
          <p:cNvSpPr/>
          <p:nvPr/>
        </p:nvSpPr>
        <p:spPr>
          <a:xfrm>
            <a:off x="1562100" y="8501063"/>
            <a:ext cx="4009772" cy="623888"/>
          </a:xfrm>
          <a:prstGeom prst="rect">
            <a:avLst/>
          </a:prstGeom>
          <a:noFill/>
          <a:ln/>
        </p:spPr>
        <p:txBody>
          <a:bodyPr wrap="square" lIns="25400" tIns="25400" rIns="25400" bIns="25400" rtlCol="0" anchor="t">
            <a:normAutofit/>
          </a:bodyPr>
          <a:lstStyle/>
          <a:p>
            <a:pPr marL="0" indent="0" algn="l">
              <a:buNone/>
            </a:pPr>
            <a:r>
              <a:rPr lang="en-US" sz="3150" b="1" kern="0" spc="-63" dirty="0">
                <a:solidFill>
                  <a:srgbClr val="191F28"/>
                </a:solidFill>
                <a:latin typeface="Pretendard" pitchFamily="34" charset="0"/>
                <a:ea typeface="Pretendard" pitchFamily="34" charset="-122"/>
                <a:cs typeface="Pretendard" pitchFamily="34" charset="-120"/>
              </a:rPr>
              <a:t>20건</a:t>
            </a:r>
            <a:endParaRPr lang="en-US" sz="3150" dirty="0"/>
          </a:p>
        </p:txBody>
      </p:sp>
      <p:sp>
        <p:nvSpPr>
          <p:cNvPr id="38" name="Shape 36"/>
          <p:cNvSpPr/>
          <p:nvPr/>
        </p:nvSpPr>
        <p:spPr>
          <a:xfrm>
            <a:off x="5721697" y="7877175"/>
            <a:ext cx="4292947" cy="1495425"/>
          </a:xfrm>
          <a:prstGeom prst="roundRect">
            <a:avLst>
              <a:gd name="adj" fmla="val 11465"/>
            </a:avLst>
          </a:prstGeom>
          <a:solidFill>
            <a:srgbClr val="F7F8FA"/>
          </a:solidFill>
          <a:ln/>
        </p:spPr>
        <p:txBody>
          <a:bodyPr/>
          <a:lstStyle/>
          <a:p>
            <a:endParaRPr lang="ko-KR" altLang="en-US"/>
          </a:p>
        </p:txBody>
      </p:sp>
      <p:sp>
        <p:nvSpPr>
          <p:cNvPr id="39" name="Text 37"/>
          <p:cNvSpPr/>
          <p:nvPr/>
        </p:nvSpPr>
        <p:spPr>
          <a:xfrm>
            <a:off x="6045547" y="8162925"/>
            <a:ext cx="4009772" cy="300038"/>
          </a:xfrm>
          <a:prstGeom prst="rect">
            <a:avLst/>
          </a:prstGeom>
          <a:noFill/>
          <a:ln/>
        </p:spPr>
        <p:txBody>
          <a:bodyPr wrap="square" lIns="25400" tIns="25400" rIns="25400" bIns="25400" rtlCol="0" anchor="t">
            <a:normAutofit/>
          </a:bodyPr>
          <a:lstStyle/>
          <a:p>
            <a:pPr marL="0" indent="0" algn="l">
              <a:buNone/>
            </a:pPr>
            <a:r>
              <a:rPr lang="en-US" sz="1425" b="1" dirty="0">
                <a:solidFill>
                  <a:srgbClr val="8B95A1"/>
                </a:solidFill>
                <a:latin typeface="Pretendard" pitchFamily="34" charset="0"/>
                <a:ea typeface="Pretendard" pitchFamily="34" charset="-122"/>
                <a:cs typeface="Pretendard" pitchFamily="34" charset="-120"/>
              </a:rPr>
              <a:t>독립검토서 · REVIEW</a:t>
            </a:r>
            <a:endParaRPr lang="en-US" sz="1425" dirty="0"/>
          </a:p>
        </p:txBody>
      </p:sp>
      <p:sp>
        <p:nvSpPr>
          <p:cNvPr id="40" name="Text 38"/>
          <p:cNvSpPr/>
          <p:nvPr/>
        </p:nvSpPr>
        <p:spPr>
          <a:xfrm>
            <a:off x="6045547" y="8501063"/>
            <a:ext cx="4009772" cy="623888"/>
          </a:xfrm>
          <a:prstGeom prst="rect">
            <a:avLst/>
          </a:prstGeom>
          <a:noFill/>
          <a:ln/>
        </p:spPr>
        <p:txBody>
          <a:bodyPr wrap="square" lIns="25400" tIns="25400" rIns="25400" bIns="25400" rtlCol="0" anchor="t">
            <a:normAutofit/>
          </a:bodyPr>
          <a:lstStyle/>
          <a:p>
            <a:pPr marL="0" indent="0" algn="l">
              <a:buNone/>
            </a:pPr>
            <a:r>
              <a:rPr lang="en-US" sz="3150" b="1" kern="0" spc="-63" dirty="0">
                <a:solidFill>
                  <a:srgbClr val="191F28"/>
                </a:solidFill>
                <a:latin typeface="Pretendard" pitchFamily="34" charset="0"/>
                <a:ea typeface="Pretendard" pitchFamily="34" charset="-122"/>
                <a:cs typeface="Pretendard" pitchFamily="34" charset="-120"/>
              </a:rPr>
              <a:t>27건</a:t>
            </a:r>
            <a:endParaRPr lang="en-US" sz="3150" dirty="0"/>
          </a:p>
        </p:txBody>
      </p:sp>
      <p:sp>
        <p:nvSpPr>
          <p:cNvPr id="41" name="Shape 39"/>
          <p:cNvSpPr/>
          <p:nvPr/>
        </p:nvSpPr>
        <p:spPr>
          <a:xfrm>
            <a:off x="10205145" y="7877175"/>
            <a:ext cx="6844605" cy="1495425"/>
          </a:xfrm>
          <a:prstGeom prst="roundRect">
            <a:avLst>
              <a:gd name="adj" fmla="val 11465"/>
            </a:avLst>
          </a:prstGeom>
          <a:solidFill>
            <a:srgbClr val="191F28"/>
          </a:solidFill>
          <a:ln/>
        </p:spPr>
        <p:txBody>
          <a:bodyPr/>
          <a:lstStyle/>
          <a:p>
            <a:endParaRPr lang="ko-KR" altLang="en-US"/>
          </a:p>
        </p:txBody>
      </p:sp>
      <p:sp>
        <p:nvSpPr>
          <p:cNvPr id="42" name="Text 40"/>
          <p:cNvSpPr/>
          <p:nvPr/>
        </p:nvSpPr>
        <p:spPr>
          <a:xfrm>
            <a:off x="10528995" y="8298656"/>
            <a:ext cx="6816596" cy="347663"/>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Pretendard" pitchFamily="34" charset="0"/>
                <a:ea typeface="Pretendard" pitchFamily="34" charset="-122"/>
                <a:cs typeface="Pretendard" pitchFamily="34" charset="-120"/>
              </a:rPr>
              <a:t>말이 아니라, 파일로 증명합니다</a:t>
            </a:r>
            <a:endParaRPr lang="en-US" sz="1650" dirty="0"/>
          </a:p>
        </p:txBody>
      </p:sp>
      <p:sp>
        <p:nvSpPr>
          <p:cNvPr id="43" name="Text 41"/>
          <p:cNvSpPr/>
          <p:nvPr/>
        </p:nvSpPr>
        <p:spPr>
          <a:xfrm>
            <a:off x="10528995" y="8693944"/>
            <a:ext cx="6816596" cy="2952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B0B8C1"/>
                </a:solidFill>
                <a:latin typeface="Pretendard" pitchFamily="34" charset="0"/>
                <a:ea typeface="Pretendard" pitchFamily="34" charset="-122"/>
                <a:cs typeface="Pretendard" pitchFamily="34" charset="-120"/>
              </a:rPr>
              <a:t>모든 결정은 git에 추적되고, 검증_전체.mjs는 GitHub CI에서도 매 push 재실행됩니다.</a:t>
            </a:r>
            <a:endParaRPr lang="en-US" sz="1350" dirty="0"/>
          </a:p>
        </p:txBody>
      </p:sp>
      <p:sp>
        <p:nvSpPr>
          <p:cNvPr id="44" name="Text 42"/>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3722575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활용 파이프라인</a:t>
            </a:r>
            <a:endParaRPr lang="en-US" sz="1875" dirty="0"/>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AI 4명을 회의실에 넣고, 서로 반박시켰다</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1238250" y="2287488"/>
            <a:ext cx="3795713" cy="1585913"/>
          </a:xfrm>
          <a:prstGeom prst="roundRect">
            <a:avLst>
              <a:gd name="adj" fmla="val 12012"/>
            </a:avLst>
          </a:prstGeom>
          <a:solidFill>
            <a:srgbClr val="F7F8FA"/>
          </a:solidFill>
          <a:ln/>
        </p:spPr>
        <p:txBody>
          <a:bodyPr/>
          <a:lstStyle/>
          <a:p>
            <a:endParaRPr lang="ko-KR" altLang="en-US"/>
          </a:p>
        </p:txBody>
      </p:sp>
      <p:sp>
        <p:nvSpPr>
          <p:cNvPr id="6" name="Text 4"/>
          <p:cNvSpPr/>
          <p:nvPr/>
        </p:nvSpPr>
        <p:spPr>
          <a:xfrm>
            <a:off x="1524000" y="2573238"/>
            <a:ext cx="3546634" cy="347663"/>
          </a:xfrm>
          <a:prstGeom prst="rect">
            <a:avLst/>
          </a:prstGeom>
          <a:noFill/>
          <a:ln/>
        </p:spPr>
        <p:txBody>
          <a:bodyPr wrap="square" lIns="25400" tIns="25400" rIns="25400" bIns="25400" rtlCol="0" anchor="t">
            <a:normAutofit/>
          </a:bodyPr>
          <a:lstStyle/>
          <a:p>
            <a:pPr marL="0" indent="0" algn="l">
              <a:buNone/>
            </a:pPr>
            <a:r>
              <a:rPr lang="en-US" sz="1650" b="1" dirty="0">
                <a:solidFill>
                  <a:srgbClr val="3182F6"/>
                </a:solidFill>
                <a:latin typeface="Pretendard" pitchFamily="34" charset="0"/>
                <a:ea typeface="Pretendard" pitchFamily="34" charset="-122"/>
                <a:cs typeface="Pretendard" pitchFamily="34" charset="-120"/>
              </a:rPr>
              <a:t>01 제안</a:t>
            </a:r>
            <a:endParaRPr lang="en-US" sz="1650" dirty="0"/>
          </a:p>
        </p:txBody>
      </p:sp>
      <p:sp>
        <p:nvSpPr>
          <p:cNvPr id="7" name="Text 5"/>
          <p:cNvSpPr/>
          <p:nvPr/>
        </p:nvSpPr>
        <p:spPr>
          <a:xfrm>
            <a:off x="1524000" y="2997101"/>
            <a:ext cx="3320939" cy="62865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ChatGPT Pro · Gemini · Codex · Claude가 각자 설계안을 낸다</a:t>
            </a:r>
            <a:endParaRPr lang="en-US" sz="1500" dirty="0"/>
          </a:p>
        </p:txBody>
      </p:sp>
      <p:sp>
        <p:nvSpPr>
          <p:cNvPr id="8" name="Shape 6"/>
          <p:cNvSpPr/>
          <p:nvPr/>
        </p:nvSpPr>
        <p:spPr>
          <a:xfrm>
            <a:off x="5243513" y="2287488"/>
            <a:ext cx="3795713" cy="1585913"/>
          </a:xfrm>
          <a:prstGeom prst="roundRect">
            <a:avLst>
              <a:gd name="adj" fmla="val 12012"/>
            </a:avLst>
          </a:prstGeom>
          <a:solidFill>
            <a:srgbClr val="F7F8FA"/>
          </a:solidFill>
          <a:ln/>
        </p:spPr>
        <p:txBody>
          <a:bodyPr/>
          <a:lstStyle/>
          <a:p>
            <a:endParaRPr lang="ko-KR" altLang="en-US"/>
          </a:p>
        </p:txBody>
      </p:sp>
      <p:sp>
        <p:nvSpPr>
          <p:cNvPr id="9" name="Text 7"/>
          <p:cNvSpPr/>
          <p:nvPr/>
        </p:nvSpPr>
        <p:spPr>
          <a:xfrm>
            <a:off x="5529263" y="2573238"/>
            <a:ext cx="3546634" cy="347663"/>
          </a:xfrm>
          <a:prstGeom prst="rect">
            <a:avLst/>
          </a:prstGeom>
          <a:noFill/>
          <a:ln/>
        </p:spPr>
        <p:txBody>
          <a:bodyPr wrap="square" lIns="25400" tIns="25400" rIns="25400" bIns="25400" rtlCol="0" anchor="t">
            <a:normAutofit/>
          </a:bodyPr>
          <a:lstStyle/>
          <a:p>
            <a:pPr marL="0" indent="0" algn="l">
              <a:buNone/>
            </a:pPr>
            <a:r>
              <a:rPr lang="en-US" sz="1650" b="1" dirty="0">
                <a:solidFill>
                  <a:srgbClr val="3182F6"/>
                </a:solidFill>
                <a:latin typeface="Pretendard" pitchFamily="34" charset="0"/>
                <a:ea typeface="Pretendard" pitchFamily="34" charset="-122"/>
                <a:cs typeface="Pretendard" pitchFamily="34" charset="-120"/>
              </a:rPr>
              <a:t>02 반박</a:t>
            </a:r>
            <a:endParaRPr lang="en-US" sz="1650" dirty="0"/>
          </a:p>
        </p:txBody>
      </p:sp>
      <p:sp>
        <p:nvSpPr>
          <p:cNvPr id="10" name="Text 8"/>
          <p:cNvSpPr/>
          <p:nvPr/>
        </p:nvSpPr>
        <p:spPr>
          <a:xfrm>
            <a:off x="5529263" y="2997101"/>
            <a:ext cx="3320939" cy="62865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서로 약점을 공격. "핵심인 친구 얹기가 빠졌다" 지적에 근거 인정·철회</a:t>
            </a:r>
            <a:endParaRPr lang="en-US" sz="1500" dirty="0"/>
          </a:p>
        </p:txBody>
      </p:sp>
      <p:sp>
        <p:nvSpPr>
          <p:cNvPr id="11" name="Shape 9"/>
          <p:cNvSpPr/>
          <p:nvPr/>
        </p:nvSpPr>
        <p:spPr>
          <a:xfrm>
            <a:off x="9248775" y="2287488"/>
            <a:ext cx="3795713" cy="1585913"/>
          </a:xfrm>
          <a:prstGeom prst="roundRect">
            <a:avLst>
              <a:gd name="adj" fmla="val 12012"/>
            </a:avLst>
          </a:prstGeom>
          <a:solidFill>
            <a:srgbClr val="F7F8FA"/>
          </a:solidFill>
          <a:ln/>
        </p:spPr>
        <p:txBody>
          <a:bodyPr/>
          <a:lstStyle/>
          <a:p>
            <a:endParaRPr lang="ko-KR" altLang="en-US"/>
          </a:p>
        </p:txBody>
      </p:sp>
      <p:sp>
        <p:nvSpPr>
          <p:cNvPr id="12" name="Text 10"/>
          <p:cNvSpPr/>
          <p:nvPr/>
        </p:nvSpPr>
        <p:spPr>
          <a:xfrm>
            <a:off x="9534525" y="2573238"/>
            <a:ext cx="3546634" cy="347663"/>
          </a:xfrm>
          <a:prstGeom prst="rect">
            <a:avLst/>
          </a:prstGeom>
          <a:noFill/>
          <a:ln/>
        </p:spPr>
        <p:txBody>
          <a:bodyPr wrap="square" lIns="25400" tIns="25400" rIns="25400" bIns="25400" rtlCol="0" anchor="t">
            <a:normAutofit/>
          </a:bodyPr>
          <a:lstStyle/>
          <a:p>
            <a:pPr marL="0" indent="0" algn="l">
              <a:buNone/>
            </a:pPr>
            <a:r>
              <a:rPr lang="en-US" sz="1650" b="1" dirty="0">
                <a:solidFill>
                  <a:srgbClr val="3182F6"/>
                </a:solidFill>
                <a:latin typeface="Pretendard" pitchFamily="34" charset="0"/>
                <a:ea typeface="Pretendard" pitchFamily="34" charset="-122"/>
                <a:cs typeface="Pretendard" pitchFamily="34" charset="-120"/>
              </a:rPr>
              <a:t>03 통합</a:t>
            </a:r>
            <a:endParaRPr lang="en-US" sz="1650" dirty="0"/>
          </a:p>
        </p:txBody>
      </p:sp>
      <p:sp>
        <p:nvSpPr>
          <p:cNvPr id="13" name="Text 11"/>
          <p:cNvSpPr/>
          <p:nvPr/>
        </p:nvSpPr>
        <p:spPr>
          <a:xfrm>
            <a:off x="9534525" y="2997101"/>
            <a:ext cx="3320939" cy="62865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라이트 100% · 라우트 3개 · 제스처와 터치 폴백 · 친구 얹기 유지</a:t>
            </a:r>
            <a:endParaRPr lang="en-US" sz="1500" dirty="0"/>
          </a:p>
        </p:txBody>
      </p:sp>
      <p:sp>
        <p:nvSpPr>
          <p:cNvPr id="14" name="Shape 12"/>
          <p:cNvSpPr/>
          <p:nvPr/>
        </p:nvSpPr>
        <p:spPr>
          <a:xfrm>
            <a:off x="13254038" y="2287488"/>
            <a:ext cx="3795713" cy="1585913"/>
          </a:xfrm>
          <a:prstGeom prst="roundRect">
            <a:avLst>
              <a:gd name="adj" fmla="val 12012"/>
            </a:avLst>
          </a:prstGeom>
          <a:solidFill>
            <a:srgbClr val="F7F8FA"/>
          </a:solidFill>
          <a:ln/>
        </p:spPr>
        <p:txBody>
          <a:bodyPr/>
          <a:lstStyle/>
          <a:p>
            <a:endParaRPr lang="ko-KR" altLang="en-US"/>
          </a:p>
        </p:txBody>
      </p:sp>
      <p:sp>
        <p:nvSpPr>
          <p:cNvPr id="15" name="Text 13"/>
          <p:cNvSpPr/>
          <p:nvPr/>
        </p:nvSpPr>
        <p:spPr>
          <a:xfrm>
            <a:off x="13539788" y="2573238"/>
            <a:ext cx="3546634" cy="347663"/>
          </a:xfrm>
          <a:prstGeom prst="rect">
            <a:avLst/>
          </a:prstGeom>
          <a:noFill/>
          <a:ln/>
        </p:spPr>
        <p:txBody>
          <a:bodyPr wrap="square" lIns="25400" tIns="25400" rIns="25400" bIns="25400" rtlCol="0" anchor="t">
            <a:normAutofit/>
          </a:bodyPr>
          <a:lstStyle/>
          <a:p>
            <a:pPr marL="0" indent="0" algn="l">
              <a:buNone/>
            </a:pPr>
            <a:r>
              <a:rPr lang="en-US" sz="1650" b="1" dirty="0">
                <a:solidFill>
                  <a:srgbClr val="3182F6"/>
                </a:solidFill>
                <a:latin typeface="Pretendard" pitchFamily="34" charset="0"/>
                <a:ea typeface="Pretendard" pitchFamily="34" charset="-122"/>
                <a:cs typeface="Pretendard" pitchFamily="34" charset="-120"/>
              </a:rPr>
              <a:t>04 독립검수</a:t>
            </a:r>
            <a:endParaRPr lang="en-US" sz="1650" dirty="0"/>
          </a:p>
        </p:txBody>
      </p:sp>
      <p:sp>
        <p:nvSpPr>
          <p:cNvPr id="16" name="Text 14"/>
          <p:cNvSpPr/>
          <p:nvPr/>
        </p:nvSpPr>
        <p:spPr>
          <a:xfrm>
            <a:off x="13539788" y="2997101"/>
            <a:ext cx="3320939" cy="62865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Codex 판정 GO with fixes, 수정 7건을 붙여 통과</a:t>
            </a:r>
            <a:endParaRPr lang="en-US" sz="1500" dirty="0"/>
          </a:p>
        </p:txBody>
      </p:sp>
      <p:sp>
        <p:nvSpPr>
          <p:cNvPr id="17" name="Text 15"/>
          <p:cNvSpPr/>
          <p:nvPr/>
        </p:nvSpPr>
        <p:spPr>
          <a:xfrm>
            <a:off x="1238250" y="4159151"/>
            <a:ext cx="17392650" cy="33337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00" dirty="0">
                <a:solidFill>
                  <a:srgbClr val="4E5968"/>
                </a:solidFill>
                <a:latin typeface="Pretendard" pitchFamily="34" charset="0"/>
                <a:ea typeface="Pretendard" pitchFamily="34" charset="-122"/>
                <a:cs typeface="Pretendard" pitchFamily="34" charset="-120"/>
              </a:rPr>
              <a:t>실제로 바뀐 결정: 화면 13개 이상이 </a:t>
            </a:r>
            <a:r>
              <a:rPr lang="en-US" sz="1500" b="1" dirty="0">
                <a:solidFill>
                  <a:srgbClr val="191F28"/>
                </a:solidFill>
                <a:latin typeface="Pretendard" pitchFamily="34" charset="0"/>
                <a:ea typeface="Pretendard" pitchFamily="34" charset="-122"/>
                <a:cs typeface="Pretendard" pitchFamily="34" charset="-120"/>
              </a:rPr>
              <a:t>라우트 3개</a:t>
            </a:r>
            <a:r>
              <a:rPr lang="en-US" sz="1500" dirty="0">
                <a:solidFill>
                  <a:srgbClr val="4E5968"/>
                </a:solidFill>
                <a:latin typeface="Pretendard" pitchFamily="34" charset="0"/>
                <a:ea typeface="Pretendard" pitchFamily="34" charset="-122"/>
                <a:cs typeface="Pretendard" pitchFamily="34" charset="-120"/>
              </a:rPr>
              <a:t>로, 전면 다크가 </a:t>
            </a:r>
            <a:r>
              <a:rPr lang="en-US" sz="1500" b="1" dirty="0">
                <a:solidFill>
                  <a:srgbClr val="191F28"/>
                </a:solidFill>
                <a:latin typeface="Pretendard" pitchFamily="34" charset="0"/>
                <a:ea typeface="Pretendard" pitchFamily="34" charset="-122"/>
                <a:cs typeface="Pretendard" pitchFamily="34" charset="-120"/>
              </a:rPr>
              <a:t>라이트</a:t>
            </a:r>
            <a:r>
              <a:rPr lang="en-US" sz="1500" dirty="0">
                <a:solidFill>
                  <a:srgbClr val="4E5968"/>
                </a:solidFill>
                <a:latin typeface="Pretendard" pitchFamily="34" charset="0"/>
                <a:ea typeface="Pretendard" pitchFamily="34" charset="-122"/>
                <a:cs typeface="Pretendard" pitchFamily="34" charset="-120"/>
              </a:rPr>
              <a:t>로(비게임 심사 위험 회피). </a:t>
            </a:r>
            <a:r>
              <a:rPr lang="en-US" sz="1500" dirty="0">
                <a:solidFill>
                  <a:srgbClr val="8B95A1"/>
                </a:solidFill>
                <a:latin typeface="Pretendard" pitchFamily="34" charset="0"/>
                <a:ea typeface="Pretendard" pitchFamily="34" charset="-122"/>
                <a:cs typeface="Pretendard" pitchFamily="34" charset="-120"/>
              </a:rPr>
              <a:t>추적: DEBATE-011·013, DL-019, TASK-031, REVIEW-032</a:t>
            </a:r>
            <a:endParaRPr lang="en-US" sz="1500" dirty="0"/>
          </a:p>
        </p:txBody>
      </p:sp>
      <p:sp>
        <p:nvSpPr>
          <p:cNvPr id="18" name="Shape 16"/>
          <p:cNvSpPr/>
          <p:nvPr/>
        </p:nvSpPr>
        <p:spPr>
          <a:xfrm>
            <a:off x="1238250" y="8605391"/>
            <a:ext cx="15811500" cy="767209"/>
          </a:xfrm>
          <a:prstGeom prst="roundRect">
            <a:avLst>
              <a:gd name="adj" fmla="val 22347"/>
            </a:avLst>
          </a:prstGeom>
          <a:solidFill>
            <a:srgbClr val="FFF8E6"/>
          </a:solidFill>
          <a:ln/>
        </p:spPr>
        <p:txBody>
          <a:bodyPr/>
          <a:lstStyle/>
          <a:p>
            <a:endParaRPr lang="ko-KR" altLang="en-US"/>
          </a:p>
        </p:txBody>
      </p:sp>
      <p:sp>
        <p:nvSpPr>
          <p:cNvPr id="19" name="Text 17"/>
          <p:cNvSpPr/>
          <p:nvPr/>
        </p:nvSpPr>
        <p:spPr>
          <a:xfrm>
            <a:off x="1524000" y="8833991"/>
            <a:ext cx="16764000" cy="348109"/>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575" b="1" dirty="0">
                <a:solidFill>
                  <a:srgbClr val="7A4E00"/>
                </a:solidFill>
                <a:latin typeface="Pretendard" pitchFamily="34" charset="0"/>
                <a:ea typeface="Pretendard" pitchFamily="34" charset="-122"/>
                <a:cs typeface="Pretendard" pitchFamily="34" charset="-120"/>
              </a:rPr>
              <a:t>정직하게. </a:t>
            </a:r>
            <a:r>
              <a:rPr lang="en-US" sz="1575" dirty="0">
                <a:solidFill>
                  <a:srgbClr val="7A4E00"/>
                </a:solidFill>
                <a:latin typeface="Pretendard" pitchFamily="34" charset="0"/>
                <a:ea typeface="Pretendard" pitchFamily="34" charset="-122"/>
                <a:cs typeface="Pretendard" pitchFamily="34" charset="-120"/>
              </a:rPr>
              <a:t>AI끼리 직접 대화한 것이 아니라, 사람이 같은 질문지를 각 실제 모델(ChatGPT Pro · Gemini · Codex · Claude)에 입력해 답을 붙여 토의시켰습니다.</a:t>
            </a:r>
            <a:endParaRPr lang="en-US" sz="1575" dirty="0"/>
          </a:p>
        </p:txBody>
      </p:sp>
      <p:sp>
        <p:nvSpPr>
          <p:cNvPr id="20" name="Text 18"/>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2770663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15" name="직사각형 14">
            <a:extLst>
              <a:ext uri="{FF2B5EF4-FFF2-40B4-BE49-F238E27FC236}">
                <a16:creationId xmlns:a16="http://schemas.microsoft.com/office/drawing/2014/main" id="{B957DF4D-187C-FF9C-8E29-14209F933CDE}"/>
              </a:ext>
            </a:extLst>
          </p:cNvPr>
          <p:cNvSpPr/>
          <p:nvPr/>
        </p:nvSpPr>
        <p:spPr>
          <a:xfrm>
            <a:off x="653143" y="8781143"/>
            <a:ext cx="5979886" cy="10740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C2080C4F-35C9-0C23-3D64-26BFE14468CA}"/>
              </a:ext>
            </a:extLst>
          </p:cNvPr>
          <p:cNvGrpSpPr/>
          <p:nvPr/>
        </p:nvGrpSpPr>
        <p:grpSpPr>
          <a:xfrm>
            <a:off x="1190169" y="8853713"/>
            <a:ext cx="5109030" cy="464458"/>
            <a:chOff x="1233713" y="7576456"/>
            <a:chExt cx="5109030" cy="464458"/>
          </a:xfrm>
        </p:grpSpPr>
        <p:sp>
          <p:nvSpPr>
            <p:cNvPr id="5" name="사각형: 둥근 모서리 4">
              <a:extLst>
                <a:ext uri="{FF2B5EF4-FFF2-40B4-BE49-F238E27FC236}">
                  <a16:creationId xmlns:a16="http://schemas.microsoft.com/office/drawing/2014/main" id="{67065B20-B5BB-5AD0-41DD-1F033DE69F36}"/>
                </a:ext>
              </a:extLst>
            </p:cNvPr>
            <p:cNvSpPr/>
            <p:nvPr/>
          </p:nvSpPr>
          <p:spPr>
            <a:xfrm>
              <a:off x="1233713" y="7576457"/>
              <a:ext cx="1582058" cy="464457"/>
            </a:xfrm>
            <a:prstGeom prst="roundRect">
              <a:avLst/>
            </a:prstGeom>
            <a:solidFill>
              <a:srgbClr val="F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ea typeface="Pretendard Thin" panose="02000203000000020004" pitchFamily="50" charset="-127"/>
                  <a:cs typeface="Pretendard Thin" panose="02000203000000020004" pitchFamily="50" charset="-127"/>
                </a:rPr>
                <a:t>STOP </a:t>
              </a:r>
              <a:r>
                <a:rPr lang="ko-KR" altLang="ko-KR" sz="1400" dirty="0">
                  <a:solidFill>
                    <a:schemeClr val="tx1"/>
                  </a:solidFill>
                  <a:ea typeface="Pretendard Thin" panose="02000203000000020004" pitchFamily="50" charset="-127"/>
                  <a:cs typeface="Pretendard Thin" panose="02000203000000020004" pitchFamily="50" charset="-127"/>
                </a:rPr>
                <a:t>· </a:t>
              </a:r>
              <a:r>
                <a:rPr lang="en-US" altLang="ko-KR" sz="1400" dirty="0">
                  <a:solidFill>
                    <a:schemeClr val="tx1"/>
                  </a:solidFill>
                  <a:ea typeface="Pretendard Thin" panose="02000203000000020004" pitchFamily="50" charset="-127"/>
                  <a:cs typeface="Pretendard Thin" panose="02000203000000020004" pitchFamily="50" charset="-127"/>
                </a:rPr>
                <a:t>10</a:t>
              </a:r>
              <a:endParaRPr lang="ko-KR" altLang="en-US" sz="1400" dirty="0">
                <a:solidFill>
                  <a:schemeClr val="tx1"/>
                </a:solidFill>
                <a:ea typeface="Pretendard Thin" panose="02000203000000020004" pitchFamily="50" charset="-127"/>
                <a:cs typeface="Pretendard Thin" panose="02000203000000020004" pitchFamily="50" charset="-127"/>
              </a:endParaRPr>
            </a:p>
          </p:txBody>
        </p:sp>
        <p:sp>
          <p:nvSpPr>
            <p:cNvPr id="9" name="사각형: 둥근 모서리 8">
              <a:extLst>
                <a:ext uri="{FF2B5EF4-FFF2-40B4-BE49-F238E27FC236}">
                  <a16:creationId xmlns:a16="http://schemas.microsoft.com/office/drawing/2014/main" id="{BECDFC45-F784-CA19-7167-C477E778B310}"/>
                </a:ext>
              </a:extLst>
            </p:cNvPr>
            <p:cNvSpPr/>
            <p:nvPr/>
          </p:nvSpPr>
          <p:spPr>
            <a:xfrm>
              <a:off x="2997199" y="7576457"/>
              <a:ext cx="1582058" cy="464457"/>
            </a:xfrm>
            <a:prstGeom prst="roundRect">
              <a:avLst/>
            </a:prstGeom>
            <a:solidFill>
              <a:srgbClr val="F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ea typeface="Pretendard Thin" panose="02000203000000020004" pitchFamily="50" charset="-127"/>
                  <a:cs typeface="Pretendard Thin" panose="02000203000000020004" pitchFamily="50" charset="-127"/>
                </a:rPr>
                <a:t>범위위반 </a:t>
              </a:r>
              <a:r>
                <a:rPr lang="ko-KR" altLang="ko-KR" sz="1400" dirty="0">
                  <a:solidFill>
                    <a:schemeClr val="tx1"/>
                  </a:solidFill>
                  <a:ea typeface="Pretendard Thin" panose="02000203000000020004" pitchFamily="50" charset="-127"/>
                  <a:cs typeface="Pretendard Thin" panose="02000203000000020004" pitchFamily="50" charset="-127"/>
                </a:rPr>
                <a:t>·</a:t>
              </a:r>
              <a:r>
                <a:rPr lang="en-US" altLang="ko-KR" sz="1400" dirty="0">
                  <a:solidFill>
                    <a:schemeClr val="tx1"/>
                  </a:solidFill>
                  <a:ea typeface="Pretendard Thin" panose="02000203000000020004" pitchFamily="50" charset="-127"/>
                  <a:cs typeface="Pretendard Thin" panose="02000203000000020004" pitchFamily="50" charset="-127"/>
                </a:rPr>
                <a:t> 11</a:t>
              </a:r>
              <a:endParaRPr lang="ko-KR" altLang="en-US" sz="1400" dirty="0">
                <a:solidFill>
                  <a:schemeClr val="tx1"/>
                </a:solidFill>
                <a:ea typeface="Pretendard Thin" panose="02000203000000020004" pitchFamily="50" charset="-127"/>
                <a:cs typeface="Pretendard Thin" panose="02000203000000020004" pitchFamily="50" charset="-127"/>
              </a:endParaRPr>
            </a:p>
          </p:txBody>
        </p:sp>
        <p:sp>
          <p:nvSpPr>
            <p:cNvPr id="11" name="사각형: 둥근 모서리 10">
              <a:extLst>
                <a:ext uri="{FF2B5EF4-FFF2-40B4-BE49-F238E27FC236}">
                  <a16:creationId xmlns:a16="http://schemas.microsoft.com/office/drawing/2014/main" id="{ECDC843A-3386-44CA-1095-165E06D18C0F}"/>
                </a:ext>
              </a:extLst>
            </p:cNvPr>
            <p:cNvSpPr/>
            <p:nvPr/>
          </p:nvSpPr>
          <p:spPr>
            <a:xfrm>
              <a:off x="4760685" y="7576456"/>
              <a:ext cx="1582058" cy="464457"/>
            </a:xfrm>
            <a:prstGeom prst="roundRect">
              <a:avLst/>
            </a:prstGeom>
            <a:solidFill>
              <a:srgbClr val="F2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ea typeface="Pretendard Thin" panose="02000203000000020004" pitchFamily="50" charset="-127"/>
                  <a:cs typeface="Pretendard Thin" panose="02000203000000020004" pitchFamily="50" charset="-127"/>
                </a:rPr>
                <a:t>반복 캡</a:t>
              </a:r>
              <a:r>
                <a:rPr lang="en-US" altLang="ko-KR" sz="1400" dirty="0">
                  <a:solidFill>
                    <a:schemeClr val="tx1"/>
                  </a:solidFill>
                  <a:ea typeface="Pretendard Thin" panose="02000203000000020004" pitchFamily="50" charset="-127"/>
                  <a:cs typeface="Pretendard Thin" panose="02000203000000020004" pitchFamily="50" charset="-127"/>
                </a:rPr>
                <a:t> </a:t>
              </a:r>
              <a:r>
                <a:rPr lang="ko-KR" altLang="ko-KR" sz="1400" dirty="0">
                  <a:solidFill>
                    <a:schemeClr val="tx1"/>
                  </a:solidFill>
                  <a:ea typeface="Pretendard Thin" panose="02000203000000020004" pitchFamily="50" charset="-127"/>
                  <a:cs typeface="Pretendard Thin" panose="02000203000000020004" pitchFamily="50" charset="-127"/>
                </a:rPr>
                <a:t>· </a:t>
              </a:r>
              <a:r>
                <a:rPr lang="en-US" altLang="ko-KR" sz="1400" dirty="0">
                  <a:solidFill>
                    <a:schemeClr val="tx1"/>
                  </a:solidFill>
                  <a:ea typeface="Pretendard Thin" panose="02000203000000020004" pitchFamily="50" charset="-127"/>
                  <a:cs typeface="Pretendard Thin" panose="02000203000000020004" pitchFamily="50" charset="-127"/>
                </a:rPr>
                <a:t>12</a:t>
              </a:r>
              <a:endParaRPr lang="ko-KR" altLang="en-US" sz="1400" dirty="0">
                <a:solidFill>
                  <a:schemeClr val="tx1"/>
                </a:solidFill>
                <a:ea typeface="Pretendard Thin" panose="02000203000000020004" pitchFamily="50" charset="-127"/>
                <a:cs typeface="Pretendard Thin" panose="02000203000000020004" pitchFamily="50" charset="-127"/>
              </a:endParaRPr>
            </a:p>
          </p:txBody>
        </p:sp>
      </p:grpSp>
      <p:sp>
        <p:nvSpPr>
          <p:cNvPr id="17" name="Text 18">
            <a:extLst>
              <a:ext uri="{FF2B5EF4-FFF2-40B4-BE49-F238E27FC236}">
                <a16:creationId xmlns:a16="http://schemas.microsoft.com/office/drawing/2014/main" id="{8B2594BF-E761-C9D0-21B2-5325637E7F0C}"/>
              </a:ext>
            </a:extLst>
          </p:cNvPr>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1307782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0" y="0"/>
            <a:ext cx="18288000" cy="10287000"/>
          </a:xfrm>
          <a:prstGeom prst="rect">
            <a:avLst/>
          </a:prstGeom>
        </p:spPr>
      </p:pic>
    </p:spTree>
    <p:extLst>
      <p:ext uri="{BB962C8B-B14F-4D97-AF65-F5344CB8AC3E}">
        <p14:creationId xmlns:p14="http://schemas.microsoft.com/office/powerpoint/2010/main" val="2814651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905"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ea typeface="Arial" pitchFamily="34" charset="-122"/>
                <a:cs typeface="Arial" pitchFamily="34" charset="-120"/>
              </a:rPr>
              <a:t>AI 활용 파이프라인 · 핵심</a:t>
            </a:r>
            <a:endParaRPr lang="en-US" sz="1875" dirty="0"/>
          </a:p>
        </p:txBody>
      </p:sp>
      <p:sp>
        <p:nvSpPr>
          <p:cNvPr id="4" name="Text 2"/>
          <p:cNvSpPr/>
          <p:nvPr/>
        </p:nvSpPr>
        <p:spPr>
          <a:xfrm>
            <a:off x="1238250" y="1390650"/>
            <a:ext cx="17392650" cy="55245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750" b="1" kern="0" spc="-112"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프롬프트를 믿지 않습니다. 합격은 코드가 결정합니다</a:t>
            </a:r>
            <a:endParaRPr lang="en-US" sz="37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19300"/>
            <a:ext cx="17392650"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191F28"/>
                </a:solidFill>
                <a:ea typeface="Consolas" pitchFamily="34" charset="-122"/>
                <a:cs typeface="Consolas" pitchFamily="34" charset="-120"/>
              </a:rPr>
              <a:t>검증_전체.mjs</a:t>
            </a:r>
            <a:r>
              <a:rPr lang="en-US" sz="1800" dirty="0">
                <a:solidFill>
                  <a:srgbClr val="4E5968"/>
                </a:solidFill>
                <a:ea typeface="Arial" pitchFamily="34" charset="-122"/>
                <a:cs typeface="Arial" pitchFamily="34" charset="-120"/>
              </a:rPr>
              <a:t>가 여러 검사를 단일 종료코드 하나로 묶어, 하나라도 실패하면 라인을 멈춥니다.</a:t>
            </a:r>
            <a:endParaRPr lang="en-US" sz="1800" dirty="0"/>
          </a:p>
        </p:txBody>
      </p:sp>
      <p:sp>
        <p:nvSpPr>
          <p:cNvPr id="6" name="Shape 4"/>
          <p:cNvSpPr/>
          <p:nvPr/>
        </p:nvSpPr>
        <p:spPr>
          <a:xfrm>
            <a:off x="1238250" y="2638425"/>
            <a:ext cx="2524125" cy="1238250"/>
          </a:xfrm>
          <a:prstGeom prst="roundRect">
            <a:avLst>
              <a:gd name="adj" fmla="val 12308"/>
            </a:avLst>
          </a:prstGeom>
          <a:solidFill>
            <a:srgbClr val="F7F8FA"/>
          </a:solidFill>
          <a:ln/>
        </p:spPr>
        <p:txBody>
          <a:bodyPr/>
          <a:lstStyle/>
          <a:p>
            <a:endParaRPr lang="ko-KR" altLang="en-US"/>
          </a:p>
        </p:txBody>
      </p:sp>
      <p:sp>
        <p:nvSpPr>
          <p:cNvPr id="7" name="Text 5"/>
          <p:cNvSpPr/>
          <p:nvPr/>
        </p:nvSpPr>
        <p:spPr>
          <a:xfrm>
            <a:off x="1409700"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팀 공유 문서</a:t>
            </a:r>
            <a:endParaRPr lang="en-US" sz="1575" dirty="0"/>
          </a:p>
        </p:txBody>
      </p:sp>
      <p:sp>
        <p:nvSpPr>
          <p:cNvPr id="8" name="Text 6"/>
          <p:cNvSpPr/>
          <p:nvPr/>
        </p:nvSpPr>
        <p:spPr>
          <a:xfrm>
            <a:off x="1409700"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8B95A1"/>
                </a:solidFill>
                <a:ea typeface="Consolas" pitchFamily="34" charset="-122"/>
                <a:cs typeface="Consolas" pitchFamily="34" charset="-120"/>
              </a:rPr>
              <a:t>팀공유문서_검증</a:t>
            </a:r>
            <a:endParaRPr lang="en-US" sz="1125" dirty="0"/>
          </a:p>
        </p:txBody>
      </p:sp>
      <p:sp>
        <p:nvSpPr>
          <p:cNvPr id="9" name="Shape 7"/>
          <p:cNvSpPr/>
          <p:nvPr/>
        </p:nvSpPr>
        <p:spPr>
          <a:xfrm>
            <a:off x="3895725" y="2638425"/>
            <a:ext cx="2524125" cy="1238250"/>
          </a:xfrm>
          <a:prstGeom prst="roundRect">
            <a:avLst>
              <a:gd name="adj" fmla="val 12308"/>
            </a:avLst>
          </a:prstGeom>
          <a:solidFill>
            <a:srgbClr val="F7F8FA"/>
          </a:solidFill>
          <a:ln/>
        </p:spPr>
        <p:txBody>
          <a:bodyPr/>
          <a:lstStyle/>
          <a:p>
            <a:endParaRPr lang="ko-KR" altLang="en-US"/>
          </a:p>
        </p:txBody>
      </p:sp>
      <p:sp>
        <p:nvSpPr>
          <p:cNvPr id="10" name="Text 8"/>
          <p:cNvSpPr/>
          <p:nvPr/>
        </p:nvSpPr>
        <p:spPr>
          <a:xfrm>
            <a:off x="4067175"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산출물 존재</a:t>
            </a:r>
            <a:endParaRPr lang="en-US" sz="1575" dirty="0"/>
          </a:p>
        </p:txBody>
      </p:sp>
      <p:sp>
        <p:nvSpPr>
          <p:cNvPr id="11" name="Text 9"/>
          <p:cNvSpPr/>
          <p:nvPr/>
        </p:nvSpPr>
        <p:spPr>
          <a:xfrm>
            <a:off x="4067175"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8B95A1"/>
                </a:solidFill>
                <a:ea typeface="Consolas" pitchFamily="34" charset="-122"/>
                <a:cs typeface="Consolas" pitchFamily="34" charset="-120"/>
              </a:rPr>
              <a:t>산출물_검증</a:t>
            </a:r>
            <a:endParaRPr lang="en-US" sz="1125" dirty="0"/>
          </a:p>
        </p:txBody>
      </p:sp>
      <p:sp>
        <p:nvSpPr>
          <p:cNvPr id="12" name="Shape 10"/>
          <p:cNvSpPr/>
          <p:nvPr/>
        </p:nvSpPr>
        <p:spPr>
          <a:xfrm>
            <a:off x="6553200" y="2638425"/>
            <a:ext cx="2524125" cy="1238250"/>
          </a:xfrm>
          <a:prstGeom prst="roundRect">
            <a:avLst>
              <a:gd name="adj" fmla="val 12308"/>
            </a:avLst>
          </a:prstGeom>
          <a:solidFill>
            <a:srgbClr val="F7F8FA"/>
          </a:solidFill>
          <a:ln/>
        </p:spPr>
        <p:txBody>
          <a:bodyPr/>
          <a:lstStyle/>
          <a:p>
            <a:endParaRPr lang="ko-KR" altLang="en-US"/>
          </a:p>
        </p:txBody>
      </p:sp>
      <p:sp>
        <p:nvSpPr>
          <p:cNvPr id="13" name="Text 11"/>
          <p:cNvSpPr/>
          <p:nvPr/>
        </p:nvSpPr>
        <p:spPr>
          <a:xfrm>
            <a:off x="6724650"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내부 링크</a:t>
            </a:r>
            <a:endParaRPr lang="en-US" sz="1575" dirty="0"/>
          </a:p>
        </p:txBody>
      </p:sp>
      <p:sp>
        <p:nvSpPr>
          <p:cNvPr id="14" name="Text 12"/>
          <p:cNvSpPr/>
          <p:nvPr/>
        </p:nvSpPr>
        <p:spPr>
          <a:xfrm>
            <a:off x="6724650"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8B95A1"/>
                </a:solidFill>
                <a:ea typeface="Consolas" pitchFamily="34" charset="-122"/>
                <a:cs typeface="Consolas" pitchFamily="34" charset="-120"/>
              </a:rPr>
              <a:t>링크_검증</a:t>
            </a:r>
            <a:endParaRPr lang="en-US" sz="1125" dirty="0"/>
          </a:p>
        </p:txBody>
      </p:sp>
      <p:sp>
        <p:nvSpPr>
          <p:cNvPr id="15" name="Shape 13"/>
          <p:cNvSpPr/>
          <p:nvPr/>
        </p:nvSpPr>
        <p:spPr>
          <a:xfrm>
            <a:off x="9210675" y="2638425"/>
            <a:ext cx="2524125" cy="1238250"/>
          </a:xfrm>
          <a:prstGeom prst="roundRect">
            <a:avLst>
              <a:gd name="adj" fmla="val 12308"/>
            </a:avLst>
          </a:prstGeom>
          <a:solidFill>
            <a:srgbClr val="EAF2FE"/>
          </a:solidFill>
          <a:ln/>
        </p:spPr>
        <p:txBody>
          <a:bodyPr/>
          <a:lstStyle/>
          <a:p>
            <a:endParaRPr lang="ko-KR" altLang="en-US"/>
          </a:p>
        </p:txBody>
      </p:sp>
      <p:sp>
        <p:nvSpPr>
          <p:cNvPr id="16" name="Text 14"/>
          <p:cNvSpPr/>
          <p:nvPr/>
        </p:nvSpPr>
        <p:spPr>
          <a:xfrm>
            <a:off x="9382125"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작업지시서</a:t>
            </a:r>
            <a:endParaRPr lang="en-US" sz="1575" dirty="0"/>
          </a:p>
        </p:txBody>
      </p:sp>
      <p:sp>
        <p:nvSpPr>
          <p:cNvPr id="17" name="Text 15"/>
          <p:cNvSpPr/>
          <p:nvPr/>
        </p:nvSpPr>
        <p:spPr>
          <a:xfrm>
            <a:off x="9382125"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3182F6"/>
                </a:solidFill>
                <a:ea typeface="Consolas" pitchFamily="34" charset="-122"/>
                <a:cs typeface="Consolas" pitchFamily="34" charset="-120"/>
              </a:rPr>
              <a:t>작업지시서_검증</a:t>
            </a:r>
            <a:endParaRPr lang="en-US" sz="1125" dirty="0"/>
          </a:p>
        </p:txBody>
      </p:sp>
      <p:sp>
        <p:nvSpPr>
          <p:cNvPr id="18" name="Text 16"/>
          <p:cNvSpPr/>
          <p:nvPr/>
        </p:nvSpPr>
        <p:spPr>
          <a:xfrm>
            <a:off x="9382125" y="3476625"/>
            <a:ext cx="2399348" cy="228600"/>
          </a:xfrm>
          <a:prstGeom prst="rect">
            <a:avLst/>
          </a:prstGeom>
          <a:noFill/>
          <a:ln/>
        </p:spPr>
        <p:txBody>
          <a:bodyPr wrap="square" lIns="25400" tIns="25400" rIns="25400" bIns="25400" rtlCol="0" anchor="t">
            <a:normAutofit/>
          </a:bodyPr>
          <a:lstStyle/>
          <a:p>
            <a:pPr marL="0" indent="0" algn="l">
              <a:buNone/>
            </a:pPr>
            <a:r>
              <a:rPr lang="en-US" sz="1050" b="1" dirty="0">
                <a:solidFill>
                  <a:srgbClr val="3182F6"/>
                </a:solidFill>
                <a:ea typeface="Arial" pitchFamily="34" charset="-122"/>
                <a:cs typeface="Arial" pitchFamily="34" charset="-120"/>
              </a:rPr>
              <a:t>구현자 ≠ 검토자</a:t>
            </a:r>
            <a:endParaRPr lang="en-US" sz="1050" dirty="0"/>
          </a:p>
        </p:txBody>
      </p:sp>
      <p:sp>
        <p:nvSpPr>
          <p:cNvPr id="19" name="Shape 17"/>
          <p:cNvSpPr/>
          <p:nvPr/>
        </p:nvSpPr>
        <p:spPr>
          <a:xfrm>
            <a:off x="11868150" y="2638425"/>
            <a:ext cx="2524125" cy="1238250"/>
          </a:xfrm>
          <a:prstGeom prst="roundRect">
            <a:avLst>
              <a:gd name="adj" fmla="val 12308"/>
            </a:avLst>
          </a:prstGeom>
          <a:solidFill>
            <a:srgbClr val="F7F8FA"/>
          </a:solidFill>
          <a:ln/>
        </p:spPr>
        <p:txBody>
          <a:bodyPr/>
          <a:lstStyle/>
          <a:p>
            <a:endParaRPr lang="ko-KR" altLang="en-US"/>
          </a:p>
        </p:txBody>
      </p:sp>
      <p:sp>
        <p:nvSpPr>
          <p:cNvPr id="20" name="Text 18"/>
          <p:cNvSpPr/>
          <p:nvPr/>
        </p:nvSpPr>
        <p:spPr>
          <a:xfrm>
            <a:off x="12039600"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비밀값 스캔</a:t>
            </a:r>
            <a:endParaRPr lang="en-US" sz="1575" dirty="0"/>
          </a:p>
        </p:txBody>
      </p:sp>
      <p:sp>
        <p:nvSpPr>
          <p:cNvPr id="21" name="Text 19"/>
          <p:cNvSpPr/>
          <p:nvPr/>
        </p:nvSpPr>
        <p:spPr>
          <a:xfrm>
            <a:off x="12039600"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8B95A1"/>
                </a:solidFill>
                <a:ea typeface="Consolas" pitchFamily="34" charset="-122"/>
                <a:cs typeface="Consolas" pitchFamily="34" charset="-120"/>
              </a:rPr>
              <a:t>비밀값_스캔</a:t>
            </a:r>
            <a:endParaRPr lang="en-US" sz="1125" dirty="0"/>
          </a:p>
        </p:txBody>
      </p:sp>
      <p:sp>
        <p:nvSpPr>
          <p:cNvPr id="22" name="Shape 20"/>
          <p:cNvSpPr/>
          <p:nvPr/>
        </p:nvSpPr>
        <p:spPr>
          <a:xfrm>
            <a:off x="14525625" y="2638425"/>
            <a:ext cx="2524125" cy="1238250"/>
          </a:xfrm>
          <a:prstGeom prst="roundRect">
            <a:avLst>
              <a:gd name="adj" fmla="val 12308"/>
            </a:avLst>
          </a:prstGeom>
          <a:solidFill>
            <a:srgbClr val="F7F8FA"/>
          </a:solidFill>
          <a:ln/>
        </p:spPr>
        <p:txBody>
          <a:bodyPr/>
          <a:lstStyle/>
          <a:p>
            <a:endParaRPr lang="ko-KR" altLang="en-US"/>
          </a:p>
        </p:txBody>
      </p:sp>
      <p:sp>
        <p:nvSpPr>
          <p:cNvPr id="23" name="Text 21"/>
          <p:cNvSpPr/>
          <p:nvPr/>
        </p:nvSpPr>
        <p:spPr>
          <a:xfrm>
            <a:off x="14697075" y="2847975"/>
            <a:ext cx="239934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ea typeface="Arial" pitchFamily="34" charset="-122"/>
                <a:cs typeface="Arial" pitchFamily="34" charset="-120"/>
              </a:rPr>
              <a:t>코드 검증</a:t>
            </a:r>
            <a:endParaRPr lang="en-US" sz="1575" dirty="0"/>
          </a:p>
        </p:txBody>
      </p:sp>
      <p:sp>
        <p:nvSpPr>
          <p:cNvPr id="24" name="Text 22"/>
          <p:cNvSpPr/>
          <p:nvPr/>
        </p:nvSpPr>
        <p:spPr>
          <a:xfrm>
            <a:off x="14697075" y="3228975"/>
            <a:ext cx="2399348"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8B95A1"/>
                </a:solidFill>
                <a:ea typeface="Consolas" pitchFamily="34" charset="-122"/>
                <a:cs typeface="Consolas" pitchFamily="34" charset="-120"/>
              </a:rPr>
              <a:t>코드검증 --code</a:t>
            </a:r>
            <a:endParaRPr lang="en-US" sz="1125" dirty="0"/>
          </a:p>
        </p:txBody>
      </p:sp>
      <p:sp>
        <p:nvSpPr>
          <p:cNvPr id="25" name="Text 23"/>
          <p:cNvSpPr/>
          <p:nvPr/>
        </p:nvSpPr>
        <p:spPr>
          <a:xfrm>
            <a:off x="14697075" y="3476625"/>
            <a:ext cx="239934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dirty="0">
                <a:solidFill>
                  <a:srgbClr val="8B95A1"/>
                </a:solidFill>
                <a:ea typeface="Arial" pitchFamily="34" charset="-122"/>
                <a:cs typeface="Arial" pitchFamily="34" charset="-120"/>
              </a:rPr>
              <a:t>tsc · vitest</a:t>
            </a:r>
            <a:endParaRPr lang="en-US" sz="1050" dirty="0"/>
          </a:p>
        </p:txBody>
      </p:sp>
      <p:sp>
        <p:nvSpPr>
          <p:cNvPr id="26" name="Shape 24"/>
          <p:cNvSpPr/>
          <p:nvPr/>
        </p:nvSpPr>
        <p:spPr>
          <a:xfrm>
            <a:off x="1238250" y="4105275"/>
            <a:ext cx="15811500" cy="800100"/>
          </a:xfrm>
          <a:prstGeom prst="roundRect">
            <a:avLst>
              <a:gd name="adj" fmla="val 21429"/>
            </a:avLst>
          </a:prstGeom>
          <a:solidFill>
            <a:srgbClr val="191F28"/>
          </a:solidFill>
          <a:ln/>
        </p:spPr>
        <p:txBody>
          <a:bodyPr/>
          <a:lstStyle/>
          <a:p>
            <a:endParaRPr lang="ko-KR" altLang="en-US"/>
          </a:p>
        </p:txBody>
      </p:sp>
      <p:sp>
        <p:nvSpPr>
          <p:cNvPr id="27" name="Text 25"/>
          <p:cNvSpPr/>
          <p:nvPr/>
        </p:nvSpPr>
        <p:spPr>
          <a:xfrm>
            <a:off x="1524000" y="4362450"/>
            <a:ext cx="2207806"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ea typeface="Arial" pitchFamily="34" charset="-122"/>
                <a:cs typeface="Arial" pitchFamily="34" charset="-120"/>
              </a:rPr>
              <a:t>여섯 검사 모두 통과해야</a:t>
            </a:r>
            <a:endParaRPr lang="en-US" sz="1575" dirty="0"/>
          </a:p>
        </p:txBody>
      </p:sp>
      <p:sp>
        <p:nvSpPr>
          <p:cNvPr id="28" name="Text 26"/>
          <p:cNvSpPr/>
          <p:nvPr/>
        </p:nvSpPr>
        <p:spPr>
          <a:xfrm>
            <a:off x="3721596" y="4371975"/>
            <a:ext cx="152400" cy="304800"/>
          </a:xfrm>
          <a:prstGeom prst="rect">
            <a:avLst/>
          </a:prstGeom>
          <a:noFill/>
          <a:ln/>
        </p:spPr>
        <p:txBody>
          <a:bodyPr wrap="square" lIns="25400" tIns="25400" rIns="25400" bIns="25400" rtlCol="0" anchor="t">
            <a:normAutofit fontScale="70000" lnSpcReduction="20000"/>
          </a:bodyPr>
          <a:lstStyle/>
          <a:p>
            <a:pPr marL="0" indent="0" algn="l">
              <a:buNone/>
            </a:pPr>
            <a:r>
              <a:rPr lang="en-US" sz="1800" dirty="0">
                <a:solidFill>
                  <a:srgbClr val="6B7280"/>
                </a:solidFill>
                <a:ea typeface="Arial" pitchFamily="34" charset="-122"/>
                <a:cs typeface="Arial" pitchFamily="34" charset="-120"/>
              </a:rPr>
              <a:t> ›</a:t>
            </a:r>
            <a:endParaRPr lang="en-US" sz="1800" dirty="0"/>
          </a:p>
        </p:txBody>
      </p:sp>
      <p:sp>
        <p:nvSpPr>
          <p:cNvPr id="29" name="Shape 27"/>
          <p:cNvSpPr/>
          <p:nvPr/>
        </p:nvSpPr>
        <p:spPr>
          <a:xfrm>
            <a:off x="3988296" y="4324350"/>
            <a:ext cx="2050554" cy="361950"/>
          </a:xfrm>
          <a:prstGeom prst="roundRect">
            <a:avLst>
              <a:gd name="adj" fmla="val 23684"/>
            </a:avLst>
          </a:prstGeom>
          <a:solidFill>
            <a:srgbClr val="FFFFFF">
              <a:alpha val="12000"/>
            </a:srgbClr>
          </a:solidFill>
          <a:ln/>
        </p:spPr>
        <p:txBody>
          <a:bodyPr/>
          <a:lstStyle/>
          <a:p>
            <a:endParaRPr lang="ko-KR" altLang="en-US"/>
          </a:p>
        </p:txBody>
      </p:sp>
      <p:sp>
        <p:nvSpPr>
          <p:cNvPr id="30" name="Text 28"/>
          <p:cNvSpPr/>
          <p:nvPr/>
        </p:nvSpPr>
        <p:spPr>
          <a:xfrm>
            <a:off x="4140696" y="4400550"/>
            <a:ext cx="1821954" cy="247650"/>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FFFFFF"/>
                </a:solidFill>
                <a:ea typeface="Consolas" pitchFamily="34" charset="-122"/>
                <a:cs typeface="Consolas" pitchFamily="34" charset="-120"/>
              </a:rPr>
              <a:t>단일 종료코드 0 / 1</a:t>
            </a:r>
            <a:endParaRPr lang="en-US" sz="1350" dirty="0"/>
          </a:p>
        </p:txBody>
      </p:sp>
      <p:sp>
        <p:nvSpPr>
          <p:cNvPr id="31" name="Text 29"/>
          <p:cNvSpPr/>
          <p:nvPr/>
        </p:nvSpPr>
        <p:spPr>
          <a:xfrm>
            <a:off x="6229350" y="4371975"/>
            <a:ext cx="1524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280"/>
                </a:solidFill>
                <a:ea typeface="Arial" pitchFamily="34" charset="-122"/>
                <a:cs typeface="Arial" pitchFamily="34" charset="-120"/>
              </a:rPr>
              <a:t>›</a:t>
            </a:r>
            <a:endParaRPr lang="en-US" sz="1800" dirty="0"/>
          </a:p>
        </p:txBody>
      </p:sp>
      <p:sp>
        <p:nvSpPr>
          <p:cNvPr id="32" name="Shape 30"/>
          <p:cNvSpPr/>
          <p:nvPr/>
        </p:nvSpPr>
        <p:spPr>
          <a:xfrm>
            <a:off x="6496050" y="4314825"/>
            <a:ext cx="1037927" cy="381000"/>
          </a:xfrm>
          <a:prstGeom prst="roundRect">
            <a:avLst>
              <a:gd name="adj" fmla="val 22500"/>
            </a:avLst>
          </a:prstGeom>
          <a:solidFill>
            <a:srgbClr val="15C47E"/>
          </a:solidFill>
          <a:ln/>
        </p:spPr>
        <p:txBody>
          <a:bodyPr/>
          <a:lstStyle/>
          <a:p>
            <a:endParaRPr lang="ko-KR" altLang="en-US"/>
          </a:p>
        </p:txBody>
      </p:sp>
      <p:sp>
        <p:nvSpPr>
          <p:cNvPr id="33" name="Text 31"/>
          <p:cNvSpPr/>
          <p:nvPr/>
        </p:nvSpPr>
        <p:spPr>
          <a:xfrm>
            <a:off x="6648450" y="4391025"/>
            <a:ext cx="809327" cy="26670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ea typeface="Arial" pitchFamily="34" charset="-122"/>
                <a:cs typeface="Arial" pitchFamily="34" charset="-120"/>
              </a:rPr>
              <a:t>0 · PASS</a:t>
            </a:r>
            <a:endParaRPr lang="en-US" sz="1275" dirty="0"/>
          </a:p>
        </p:txBody>
      </p:sp>
      <p:sp>
        <p:nvSpPr>
          <p:cNvPr id="34" name="Shape 32"/>
          <p:cNvSpPr/>
          <p:nvPr/>
        </p:nvSpPr>
        <p:spPr>
          <a:xfrm>
            <a:off x="7724477" y="4314825"/>
            <a:ext cx="964555" cy="381000"/>
          </a:xfrm>
          <a:prstGeom prst="roundRect">
            <a:avLst>
              <a:gd name="adj" fmla="val 22500"/>
            </a:avLst>
          </a:prstGeom>
          <a:solidFill>
            <a:srgbClr val="FF5247"/>
          </a:solidFill>
          <a:ln/>
        </p:spPr>
        <p:txBody>
          <a:bodyPr/>
          <a:lstStyle/>
          <a:p>
            <a:endParaRPr lang="ko-KR" altLang="en-US"/>
          </a:p>
        </p:txBody>
      </p:sp>
      <p:sp>
        <p:nvSpPr>
          <p:cNvPr id="35" name="Text 33"/>
          <p:cNvSpPr/>
          <p:nvPr/>
        </p:nvSpPr>
        <p:spPr>
          <a:xfrm>
            <a:off x="7876877" y="4391025"/>
            <a:ext cx="735955" cy="26670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ea typeface="Arial" pitchFamily="34" charset="-122"/>
                <a:cs typeface="Arial" pitchFamily="34" charset="-120"/>
              </a:rPr>
              <a:t>1 · FAIL</a:t>
            </a:r>
            <a:endParaRPr lang="en-US" sz="1275" dirty="0"/>
          </a:p>
        </p:txBody>
      </p:sp>
      <p:sp>
        <p:nvSpPr>
          <p:cNvPr id="36" name="Text 34"/>
          <p:cNvSpPr/>
          <p:nvPr/>
        </p:nvSpPr>
        <p:spPr>
          <a:xfrm>
            <a:off x="14313491" y="4367213"/>
            <a:ext cx="2491844"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FF8A82"/>
                </a:solidFill>
                <a:ea typeface="Arial" pitchFamily="34" charset="-122"/>
                <a:cs typeface="Arial" pitchFamily="34" charset="-120"/>
              </a:rPr>
              <a:t>실패 시 커밋 · 머지 · CI 차단</a:t>
            </a:r>
            <a:endParaRPr lang="en-US" sz="1500" dirty="0"/>
          </a:p>
        </p:txBody>
      </p:sp>
      <p:sp>
        <p:nvSpPr>
          <p:cNvPr id="37" name="Shape 35"/>
          <p:cNvSpPr/>
          <p:nvPr/>
        </p:nvSpPr>
        <p:spPr>
          <a:xfrm>
            <a:off x="1238250" y="7696200"/>
            <a:ext cx="5181600" cy="819150"/>
          </a:xfrm>
          <a:prstGeom prst="roundRect">
            <a:avLst>
              <a:gd name="adj" fmla="val 16279"/>
            </a:avLst>
          </a:prstGeom>
          <a:solidFill>
            <a:srgbClr val="F7F8FA"/>
          </a:solidFill>
          <a:ln/>
        </p:spPr>
        <p:txBody>
          <a:bodyPr/>
          <a:lstStyle/>
          <a:p>
            <a:endParaRPr lang="ko-KR" altLang="en-US"/>
          </a:p>
        </p:txBody>
      </p:sp>
      <p:sp>
        <p:nvSpPr>
          <p:cNvPr id="38" name="Text 36"/>
          <p:cNvSpPr/>
          <p:nvPr/>
        </p:nvSpPr>
        <p:spPr>
          <a:xfrm>
            <a:off x="1428750" y="7867650"/>
            <a:ext cx="528066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182F6"/>
                </a:solidFill>
                <a:ea typeface="Consolas" pitchFamily="34" charset="-122"/>
                <a:cs typeface="Consolas" pitchFamily="34" charset="-120"/>
              </a:rPr>
              <a:t>pre-commit</a:t>
            </a:r>
            <a:endParaRPr lang="en-US" sz="1125" dirty="0"/>
          </a:p>
        </p:txBody>
      </p:sp>
      <p:sp>
        <p:nvSpPr>
          <p:cNvPr id="39" name="Text 37"/>
          <p:cNvSpPr/>
          <p:nvPr/>
        </p:nvSpPr>
        <p:spPr>
          <a:xfrm>
            <a:off x="1428750" y="8096250"/>
            <a:ext cx="5280660" cy="285750"/>
          </a:xfrm>
          <a:prstGeom prst="rect">
            <a:avLst/>
          </a:prstGeom>
          <a:noFill/>
          <a:ln/>
        </p:spPr>
        <p:txBody>
          <a:bodyPr wrap="square" lIns="25400" tIns="25400" rIns="25400" bIns="25400" rtlCol="0" anchor="t">
            <a:normAutofit/>
          </a:bodyPr>
          <a:lstStyle/>
          <a:p>
            <a:pPr marL="0" indent="0" algn="l">
              <a:buNone/>
            </a:pPr>
            <a:r>
              <a:rPr lang="en-US" sz="1350" dirty="0">
                <a:solidFill>
                  <a:srgbClr val="4E5968"/>
                </a:solidFill>
                <a:ea typeface="Arial" pitchFamily="34" charset="-122"/>
                <a:cs typeface="Arial" pitchFamily="34" charset="-120"/>
              </a:rPr>
              <a:t>비밀값 차단</a:t>
            </a:r>
            <a:endParaRPr lang="en-US" sz="1350" dirty="0"/>
          </a:p>
        </p:txBody>
      </p:sp>
      <p:sp>
        <p:nvSpPr>
          <p:cNvPr id="40" name="Shape 38"/>
          <p:cNvSpPr/>
          <p:nvPr/>
        </p:nvSpPr>
        <p:spPr>
          <a:xfrm>
            <a:off x="6553200" y="7696200"/>
            <a:ext cx="5181600" cy="819150"/>
          </a:xfrm>
          <a:prstGeom prst="roundRect">
            <a:avLst>
              <a:gd name="adj" fmla="val 16279"/>
            </a:avLst>
          </a:prstGeom>
          <a:solidFill>
            <a:srgbClr val="F7F8FA"/>
          </a:solidFill>
          <a:ln/>
        </p:spPr>
        <p:txBody>
          <a:bodyPr/>
          <a:lstStyle/>
          <a:p>
            <a:endParaRPr lang="ko-KR" altLang="en-US"/>
          </a:p>
        </p:txBody>
      </p:sp>
      <p:sp>
        <p:nvSpPr>
          <p:cNvPr id="41" name="Text 39"/>
          <p:cNvSpPr/>
          <p:nvPr/>
        </p:nvSpPr>
        <p:spPr>
          <a:xfrm>
            <a:off x="6743700" y="7867650"/>
            <a:ext cx="528066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182F6"/>
                </a:solidFill>
                <a:ea typeface="Consolas" pitchFamily="34" charset="-122"/>
                <a:cs typeface="Consolas" pitchFamily="34" charset="-120"/>
              </a:rPr>
              <a:t>pre-push</a:t>
            </a:r>
            <a:endParaRPr lang="en-US" sz="1125" dirty="0"/>
          </a:p>
        </p:txBody>
      </p:sp>
      <p:sp>
        <p:nvSpPr>
          <p:cNvPr id="42" name="Text 40"/>
          <p:cNvSpPr/>
          <p:nvPr/>
        </p:nvSpPr>
        <p:spPr>
          <a:xfrm>
            <a:off x="6743700" y="8096250"/>
            <a:ext cx="5280660" cy="285750"/>
          </a:xfrm>
          <a:prstGeom prst="rect">
            <a:avLst/>
          </a:prstGeom>
          <a:noFill/>
          <a:ln/>
        </p:spPr>
        <p:txBody>
          <a:bodyPr wrap="square" lIns="25400" tIns="25400" rIns="25400" bIns="25400" rtlCol="0" anchor="t">
            <a:normAutofit/>
          </a:bodyPr>
          <a:lstStyle/>
          <a:p>
            <a:pPr marL="0" indent="0" algn="l">
              <a:buNone/>
            </a:pPr>
            <a:r>
              <a:rPr lang="en-US" sz="1350" dirty="0">
                <a:solidFill>
                  <a:srgbClr val="4E5968"/>
                </a:solidFill>
                <a:ea typeface="Arial" pitchFamily="34" charset="-122"/>
                <a:cs typeface="Arial" pitchFamily="34" charset="-120"/>
              </a:rPr>
              <a:t>main 직접 push 차단</a:t>
            </a:r>
            <a:endParaRPr lang="en-US" sz="1350" dirty="0"/>
          </a:p>
        </p:txBody>
      </p:sp>
      <p:sp>
        <p:nvSpPr>
          <p:cNvPr id="43" name="Shape 41"/>
          <p:cNvSpPr/>
          <p:nvPr/>
        </p:nvSpPr>
        <p:spPr>
          <a:xfrm>
            <a:off x="11868150" y="7696200"/>
            <a:ext cx="5181600" cy="819150"/>
          </a:xfrm>
          <a:prstGeom prst="roundRect">
            <a:avLst>
              <a:gd name="adj" fmla="val 16279"/>
            </a:avLst>
          </a:prstGeom>
          <a:solidFill>
            <a:srgbClr val="F7F8FA"/>
          </a:solidFill>
          <a:ln/>
        </p:spPr>
        <p:txBody>
          <a:bodyPr/>
          <a:lstStyle/>
          <a:p>
            <a:endParaRPr lang="ko-KR" altLang="en-US"/>
          </a:p>
        </p:txBody>
      </p:sp>
      <p:sp>
        <p:nvSpPr>
          <p:cNvPr id="44" name="Text 42"/>
          <p:cNvSpPr/>
          <p:nvPr/>
        </p:nvSpPr>
        <p:spPr>
          <a:xfrm>
            <a:off x="12058650" y="7867650"/>
            <a:ext cx="528066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182F6"/>
                </a:solidFill>
                <a:ea typeface="Consolas" pitchFamily="34" charset="-122"/>
                <a:cs typeface="Consolas" pitchFamily="34" charset="-120"/>
              </a:rPr>
              <a:t>GitHub CI</a:t>
            </a:r>
            <a:endParaRPr lang="en-US" sz="1125" dirty="0"/>
          </a:p>
        </p:txBody>
      </p:sp>
      <p:sp>
        <p:nvSpPr>
          <p:cNvPr id="45" name="Text 43"/>
          <p:cNvSpPr/>
          <p:nvPr/>
        </p:nvSpPr>
        <p:spPr>
          <a:xfrm>
            <a:off x="12058650" y="8096250"/>
            <a:ext cx="5280660" cy="285750"/>
          </a:xfrm>
          <a:prstGeom prst="rect">
            <a:avLst/>
          </a:prstGeom>
          <a:noFill/>
          <a:ln/>
        </p:spPr>
        <p:txBody>
          <a:bodyPr wrap="square" lIns="25400" tIns="25400" rIns="25400" bIns="25400" rtlCol="0" anchor="t">
            <a:normAutofit/>
          </a:bodyPr>
          <a:lstStyle/>
          <a:p>
            <a:pPr marL="0" indent="0" algn="l">
              <a:buNone/>
            </a:pPr>
            <a:r>
              <a:rPr lang="en-US" sz="1350" dirty="0">
                <a:solidFill>
                  <a:srgbClr val="4E5968"/>
                </a:solidFill>
                <a:ea typeface="Arial" pitchFamily="34" charset="-122"/>
                <a:cs typeface="Arial" pitchFamily="34" charset="-120"/>
              </a:rPr>
              <a:t>매 push 재실행</a:t>
            </a:r>
            <a:endParaRPr lang="en-US" sz="1350" dirty="0"/>
          </a:p>
        </p:txBody>
      </p:sp>
      <p:sp>
        <p:nvSpPr>
          <p:cNvPr id="46" name="Shape 44"/>
          <p:cNvSpPr/>
          <p:nvPr/>
        </p:nvSpPr>
        <p:spPr>
          <a:xfrm>
            <a:off x="1238250" y="8686800"/>
            <a:ext cx="15811500" cy="685800"/>
          </a:xfrm>
          <a:prstGeom prst="roundRect">
            <a:avLst>
              <a:gd name="adj" fmla="val 19444"/>
            </a:avLst>
          </a:prstGeom>
          <a:solidFill>
            <a:srgbClr val="EBFBF2"/>
          </a:solidFill>
          <a:ln/>
        </p:spPr>
        <p:txBody>
          <a:bodyPr/>
          <a:lstStyle/>
          <a:p>
            <a:endParaRPr lang="ko-KR" altLang="en-US"/>
          </a:p>
        </p:txBody>
      </p:sp>
      <p:sp>
        <p:nvSpPr>
          <p:cNvPr id="47" name="Text 45"/>
          <p:cNvSpPr/>
          <p:nvPr/>
        </p:nvSpPr>
        <p:spPr>
          <a:xfrm>
            <a:off x="1485900" y="8877300"/>
            <a:ext cx="1579054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0F9D63"/>
                </a:solidFill>
                <a:ea typeface="Arial" pitchFamily="34" charset="-122"/>
                <a:cs typeface="Arial" pitchFamily="34" charset="-120"/>
              </a:rPr>
              <a:t>'all tests pass' 같은 AI의 거짓 보고는 통과하지 못합니다.</a:t>
            </a:r>
            <a:endParaRPr lang="en-US" sz="1650" dirty="0"/>
          </a:p>
        </p:txBody>
      </p:sp>
      <p:sp>
        <p:nvSpPr>
          <p:cNvPr id="48" name="Text 46"/>
          <p:cNvSpPr/>
          <p:nvPr/>
        </p:nvSpPr>
        <p:spPr>
          <a:xfrm>
            <a:off x="1238250" y="9496425"/>
            <a:ext cx="2091571" cy="295275"/>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ea typeface="Arial" pitchFamily="34" charset="-122"/>
                <a:cs typeface="Arial" pitchFamily="34" charset="-120"/>
              </a:rPr>
              <a:t>하모니 · 앱인토스 미니앱</a:t>
            </a:r>
            <a:endParaRPr lang="en-US" sz="14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AI 활용 파이프라인 · 핵심</a:t>
            </a:r>
            <a:endParaRPr lang="en-US" sz="18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자율 AI에, 브레이크를 코드로 달았습니다</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39838"/>
            <a:ext cx="17392650"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루프_가드.mjs</a:t>
            </a:r>
            <a:r>
              <a:rPr lang="en-US" sz="18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가 비협상 안전 게이트를 프롬프트 재량이 아니라 종료코드로 강제합니다.</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Shape 4"/>
          <p:cNvSpPr/>
          <p:nvPr/>
        </p:nvSpPr>
        <p:spPr>
          <a:xfrm>
            <a:off x="1238250" y="2658963"/>
            <a:ext cx="5130701" cy="5846862"/>
          </a:xfrm>
          <a:prstGeom prst="roundRect">
            <a:avLst>
              <a:gd name="adj" fmla="val 3713"/>
            </a:avLst>
          </a:prstGeom>
          <a:solidFill>
            <a:srgbClr val="FFF1F0"/>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Shape 5"/>
          <p:cNvSpPr/>
          <p:nvPr/>
        </p:nvSpPr>
        <p:spPr>
          <a:xfrm>
            <a:off x="1524000" y="3006626"/>
            <a:ext cx="104775" cy="104775"/>
          </a:xfrm>
          <a:prstGeom prst="ellipse">
            <a:avLst/>
          </a:prstGeom>
          <a:solidFill>
            <a:srgbClr val="FF5247"/>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1743075" y="2963763"/>
            <a:ext cx="877491"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D63A3A"/>
                </a:solidFill>
                <a:latin typeface="Pretendard" panose="02000503000000020004" pitchFamily="50" charset="-127"/>
                <a:ea typeface="Pretendard" panose="02000503000000020004" pitchFamily="50" charset="-127"/>
                <a:cs typeface="Pretendard" panose="02000503000000020004" pitchFamily="50" charset="-127"/>
              </a:rPr>
              <a:t>STOP · 10</a:t>
            </a:r>
            <a:endParaRPr lang="en-US" sz="12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1524000" y="3287613"/>
            <a:ext cx="5015121"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중단</a:t>
            </a:r>
            <a:endParaRPr lang="en-US" sz="2025"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0" name="Text 8"/>
          <p:cNvSpPr/>
          <p:nvPr/>
        </p:nvSpPr>
        <p:spPr>
          <a:xfrm>
            <a:off x="1524000" y="3697188"/>
            <a:ext cx="5015121"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B0726E"/>
                </a:solidFill>
                <a:latin typeface="Pretendard" panose="02000503000000020004" pitchFamily="50" charset="-127"/>
                <a:ea typeface="Pretendard" panose="02000503000000020004" pitchFamily="50" charset="-127"/>
                <a:cs typeface="Pretendard" panose="02000503000000020004" pitchFamily="50" charset="-127"/>
              </a:rPr>
              <a:t>preflight</a:t>
            </a:r>
            <a:endParaRPr lang="en-US" sz="11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1524000" y="4040088"/>
            <a:ext cx="5015121"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main · detached 금지</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1524000" y="4430613"/>
            <a:ext cx="5015121"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작업은 'Ready'만 집기</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1"/>
          <p:cNvSpPr/>
          <p:nvPr/>
        </p:nvSpPr>
        <p:spPr>
          <a:xfrm>
            <a:off x="1524000" y="4821138"/>
            <a:ext cx="5015121"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동시 루프 차단</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2"/>
          <p:cNvSpPr/>
          <p:nvPr/>
        </p:nvSpPr>
        <p:spPr>
          <a:xfrm>
            <a:off x="6578501" y="2658963"/>
            <a:ext cx="5130850" cy="5846862"/>
          </a:xfrm>
          <a:prstGeom prst="roundRect">
            <a:avLst>
              <a:gd name="adj" fmla="val 3713"/>
            </a:avLst>
          </a:prstGeom>
          <a:solidFill>
            <a:srgbClr val="FFF1F0"/>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3"/>
          <p:cNvSpPr/>
          <p:nvPr/>
        </p:nvSpPr>
        <p:spPr>
          <a:xfrm>
            <a:off x="6864251" y="3006626"/>
            <a:ext cx="104775" cy="104775"/>
          </a:xfrm>
          <a:prstGeom prst="ellipse">
            <a:avLst/>
          </a:prstGeom>
          <a:solidFill>
            <a:srgbClr val="FF5247"/>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4"/>
          <p:cNvSpPr/>
          <p:nvPr/>
        </p:nvSpPr>
        <p:spPr>
          <a:xfrm>
            <a:off x="7083326" y="2963763"/>
            <a:ext cx="1245245"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D63A3A"/>
                </a:solidFill>
                <a:latin typeface="Pretendard" panose="02000503000000020004" pitchFamily="50" charset="-127"/>
                <a:ea typeface="Pretendard" panose="02000503000000020004" pitchFamily="50" charset="-127"/>
                <a:cs typeface="Pretendard" panose="02000503000000020004" pitchFamily="50" charset="-127"/>
              </a:rPr>
              <a:t>범위위반 · 11</a:t>
            </a:r>
            <a:endParaRPr lang="en-US" sz="12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5"/>
          <p:cNvSpPr/>
          <p:nvPr/>
        </p:nvSpPr>
        <p:spPr>
          <a:xfrm>
            <a:off x="6864251" y="3287613"/>
            <a:ext cx="5015285"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범위 밖 변경</a:t>
            </a:r>
            <a:endParaRPr lang="en-US" sz="2025"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8" name="Text 16"/>
          <p:cNvSpPr/>
          <p:nvPr/>
        </p:nvSpPr>
        <p:spPr>
          <a:xfrm>
            <a:off x="6864251" y="3697188"/>
            <a:ext cx="5015285"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B0726E"/>
                </a:solidFill>
                <a:latin typeface="Pretendard" panose="02000503000000020004" pitchFamily="50" charset="-127"/>
                <a:ea typeface="Pretendard" panose="02000503000000020004" pitchFamily="50" charset="-127"/>
                <a:cs typeface="Pretendard" panose="02000503000000020004" pitchFamily="50" charset="-127"/>
              </a:rPr>
              <a:t>check-diff</a:t>
            </a:r>
            <a:endParaRPr lang="en-US" sz="11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7"/>
          <p:cNvSpPr/>
          <p:nvPr/>
        </p:nvSpPr>
        <p:spPr>
          <a:xfrm>
            <a:off x="6864251" y="4040088"/>
            <a:ext cx="501528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변경은 </a:t>
            </a:r>
            <a:r>
              <a:rPr lang="en-US" sz="1500" b="1"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allowed_paths </a:t>
            </a: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안에서만</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8"/>
          <p:cNvSpPr/>
          <p:nvPr/>
        </p:nvSpPr>
        <p:spPr>
          <a:xfrm>
            <a:off x="6864251" y="4430613"/>
            <a:ext cx="4696130" cy="590550"/>
          </a:xfrm>
          <a:prstGeom prst="rect">
            <a:avLst/>
          </a:prstGeom>
          <a:noFill/>
          <a:ln/>
        </p:spPr>
        <p:txBody>
          <a:bodyPr wrap="square" lIns="25400" tIns="25400" rIns="25400" bIns="25400" rtlCol="0" anchor="t">
            <a:normAutofit/>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보호구역 손대면 차단 </a:t>
            </a:r>
            <a:r>
              <a:rPr lang="en-US" sz="1200" dirty="0">
                <a:solidFill>
                  <a:srgbClr val="A8807D"/>
                </a:solidFill>
                <a:latin typeface="Pretendard" panose="02000503000000020004" pitchFamily="50" charset="-127"/>
                <a:ea typeface="Pretendard" panose="02000503000000020004" pitchFamily="50" charset="-127"/>
                <a:cs typeface="Pretendard" panose="02000503000000020004" pitchFamily="50" charset="-127"/>
              </a:rPr>
              <a:t>.claude · tooling · 헌장 · 사람승인</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9"/>
          <p:cNvSpPr/>
          <p:nvPr/>
        </p:nvSpPr>
        <p:spPr>
          <a:xfrm>
            <a:off x="6864251" y="4903053"/>
            <a:ext cx="501528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자동 게이트 없는 코드는 사람 검증</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Shape 20"/>
          <p:cNvSpPr/>
          <p:nvPr/>
        </p:nvSpPr>
        <p:spPr>
          <a:xfrm>
            <a:off x="11918900" y="2658963"/>
            <a:ext cx="5130850" cy="5846862"/>
          </a:xfrm>
          <a:prstGeom prst="roundRect">
            <a:avLst>
              <a:gd name="adj" fmla="val 3713"/>
            </a:avLst>
          </a:prstGeom>
          <a:solidFill>
            <a:srgbClr val="FFF1F0"/>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1"/>
          <p:cNvSpPr/>
          <p:nvPr/>
        </p:nvSpPr>
        <p:spPr>
          <a:xfrm>
            <a:off x="12204650" y="3006626"/>
            <a:ext cx="104775" cy="104775"/>
          </a:xfrm>
          <a:prstGeom prst="ellipse">
            <a:avLst/>
          </a:prstGeom>
          <a:solidFill>
            <a:srgbClr val="FF5247"/>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2"/>
          <p:cNvSpPr/>
          <p:nvPr/>
        </p:nvSpPr>
        <p:spPr>
          <a:xfrm>
            <a:off x="12423725" y="2963763"/>
            <a:ext cx="106427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D63A3A"/>
                </a:solidFill>
                <a:latin typeface="Pretendard" panose="02000503000000020004" pitchFamily="50" charset="-127"/>
                <a:ea typeface="Pretendard" panose="02000503000000020004" pitchFamily="50" charset="-127"/>
                <a:cs typeface="Pretendard" panose="02000503000000020004" pitchFamily="50" charset="-127"/>
              </a:rPr>
              <a:t>반복캡 · 12</a:t>
            </a:r>
            <a:endParaRPr lang="en-US" sz="12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23"/>
          <p:cNvSpPr/>
          <p:nvPr/>
        </p:nvSpPr>
        <p:spPr>
          <a:xfrm>
            <a:off x="12204650" y="3287613"/>
            <a:ext cx="5015285"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반복 폭주</a:t>
            </a:r>
            <a:endParaRPr lang="en-US" sz="2025"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26" name="Text 24"/>
          <p:cNvSpPr/>
          <p:nvPr/>
        </p:nvSpPr>
        <p:spPr>
          <a:xfrm>
            <a:off x="12204650" y="3697188"/>
            <a:ext cx="5015285"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B0726E"/>
                </a:solidFill>
                <a:latin typeface="Pretendard" panose="02000503000000020004" pitchFamily="50" charset="-127"/>
                <a:ea typeface="Pretendard" panose="02000503000000020004" pitchFamily="50" charset="-127"/>
                <a:cs typeface="Pretendard" panose="02000503000000020004" pitchFamily="50" charset="-127"/>
              </a:rPr>
              <a:t>iteration</a:t>
            </a:r>
            <a:endParaRPr lang="en-US" sz="11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5"/>
          <p:cNvSpPr/>
          <p:nvPr/>
        </p:nvSpPr>
        <p:spPr>
          <a:xfrm>
            <a:off x="12204650" y="4040088"/>
            <a:ext cx="501528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반복 단조 하드캡</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6"/>
          <p:cNvSpPr/>
          <p:nvPr/>
        </p:nvSpPr>
        <p:spPr>
          <a:xfrm>
            <a:off x="12204650" y="4430613"/>
            <a:ext cx="5015285" cy="50765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550"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기본 8 </a:t>
            </a:r>
            <a:r>
              <a:rPr lang="en-US" sz="1500" b="1" dirty="0">
                <a:solidFill>
                  <a:srgbClr val="A8807D"/>
                </a:solidFill>
                <a:latin typeface="Pretendard" panose="02000503000000020004" pitchFamily="50" charset="-127"/>
                <a:ea typeface="Pretendard" panose="02000503000000020004" pitchFamily="50" charset="-127"/>
                <a:cs typeface="Pretendard" panose="02000503000000020004" pitchFamily="50" charset="-127"/>
              </a:rPr>
              <a:t>/ 절대상한 20</a:t>
            </a:r>
            <a:endParaRPr lang="en-US" sz="25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27"/>
          <p:cNvSpPr/>
          <p:nvPr/>
        </p:nvSpPr>
        <p:spPr>
          <a:xfrm>
            <a:off x="12204650" y="5014466"/>
            <a:ext cx="501528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7A4A47"/>
                </a:solidFill>
                <a:latin typeface="Pretendard" panose="02000503000000020004" pitchFamily="50" charset="-127"/>
                <a:ea typeface="Pretendard" panose="02000503000000020004" pitchFamily="50" charset="-127"/>
                <a:cs typeface="Pretendard" panose="02000503000000020004" pitchFamily="50" charset="-127"/>
              </a:rPr>
              <a:t>무한 폭주 방지</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Shape 28"/>
          <p:cNvSpPr/>
          <p:nvPr/>
        </p:nvSpPr>
        <p:spPr>
          <a:xfrm>
            <a:off x="1238250" y="8715375"/>
            <a:ext cx="13226951" cy="657225"/>
          </a:xfrm>
          <a:prstGeom prst="roundRect">
            <a:avLst>
              <a:gd name="adj" fmla="val 23188"/>
            </a:avLst>
          </a:prstGeom>
          <a:solidFill>
            <a:srgbClr val="F7F8FA"/>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9"/>
          <p:cNvSpPr/>
          <p:nvPr/>
        </p:nvSpPr>
        <p:spPr>
          <a:xfrm>
            <a:off x="1485900" y="8905875"/>
            <a:ext cx="13128459"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pre-commit 백스톱 </a:t>
            </a:r>
            <a:r>
              <a:rPr lang="en-US" sz="1500" dirty="0">
                <a:solidFill>
                  <a:srgbClr val="4E5968"/>
                </a:solidFill>
                <a:highlight>
                  <a:srgbClr val="F7F8FA"/>
                </a:highlight>
                <a:latin typeface="Pretendard" panose="02000503000000020004" pitchFamily="50" charset="-127"/>
                <a:ea typeface="Pretendard" panose="02000503000000020004" pitchFamily="50" charset="-127"/>
                <a:cs typeface="Pretendard" panose="02000503000000020004" pitchFamily="50" charset="-127"/>
              </a:rPr>
              <a:t>루프가 가드를 빠뜨려도, 코드가 커밋을 작업 범위로 강제합니다.</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30"/>
          <p:cNvSpPr/>
          <p:nvPr/>
        </p:nvSpPr>
        <p:spPr>
          <a:xfrm>
            <a:off x="14674751" y="8901113"/>
            <a:ext cx="2612499"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사람이 통제한다는 말의 실체</a:t>
            </a:r>
            <a:endParaRPr lang="en-US" sz="15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1"/>
          <p:cNvSpPr/>
          <p:nvPr/>
        </p:nvSpPr>
        <p:spPr>
          <a:xfrm>
            <a:off x="1238250" y="9496425"/>
            <a:ext cx="2091571" cy="295275"/>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503000000020004" pitchFamily="50" charset="-127"/>
                <a:ea typeface="Pretendard" panose="02000503000000020004" pitchFamily="50" charset="-127"/>
                <a:cs typeface="Pretendard" panose="02000503000000020004" pitchFamily="50" charset="-127"/>
              </a:rPr>
              <a:t>하모니 · 앱인토스 미니앱</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AI 활용 파이프라인 · 핵심</a:t>
            </a:r>
            <a:endParaRPr lang="en-US" sz="18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컨텍스트 엔지니어링, 기억이 아니라 파일로</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39838"/>
            <a:ext cx="17392650" cy="371475"/>
          </a:xfrm>
          <a:prstGeom prst="rect">
            <a:avLst/>
          </a:prstGeom>
          <a:noFill/>
          <a:ln/>
        </p:spPr>
        <p:txBody>
          <a:bodyPr wrap="square" lIns="25400" tIns="25400" rIns="25400" bIns="25400" rtlCol="0" anchor="t">
            <a:normAutofit/>
          </a:bodyPr>
          <a:lstStyle/>
          <a:p>
            <a:pPr marL="0" indent="0" algn="l">
              <a:buNone/>
            </a:pPr>
            <a:r>
              <a:rPr lang="en-US" sz="18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저장소 전체를 매번 넣지 않습니다. 세 계층으로 나눠, 필요한 것만 주입합니다.</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Shape 4"/>
          <p:cNvSpPr/>
          <p:nvPr/>
        </p:nvSpPr>
        <p:spPr>
          <a:xfrm>
            <a:off x="1238250" y="2620863"/>
            <a:ext cx="9455795" cy="5913537"/>
          </a:xfrm>
          <a:prstGeom prst="roundRect">
            <a:avLst>
              <a:gd name="adj" fmla="val 3221"/>
            </a:avLst>
          </a:prstGeom>
          <a:solidFill>
            <a:srgbClr val="F7F8FA"/>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Shape 5"/>
          <p:cNvSpPr/>
          <p:nvPr/>
        </p:nvSpPr>
        <p:spPr>
          <a:xfrm>
            <a:off x="1524000" y="2868513"/>
            <a:ext cx="38100" cy="2043708"/>
          </a:xfrm>
          <a:prstGeom prst="rect">
            <a:avLst/>
          </a:prstGeom>
          <a:solidFill>
            <a:srgbClr val="3182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1733550" y="2868513"/>
            <a:ext cx="9542219" cy="295275"/>
          </a:xfrm>
          <a:prstGeom prst="rect">
            <a:avLst/>
          </a:prstGeom>
          <a:noFill/>
          <a:ln/>
        </p:spPr>
        <p:txBody>
          <a:bodyPr wrap="square" lIns="25400" tIns="25400" rIns="25400" bIns="25400" rtlCol="0" anchor="t">
            <a:normAutofit/>
          </a:bodyPr>
          <a:lstStyle/>
          <a:p>
            <a:pPr marL="0" indent="0" algn="l">
              <a:buNone/>
            </a:pPr>
            <a:r>
              <a:rPr lang="en-US" sz="135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① 지속 지침 · 항상 로드</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1733550" y="3220938"/>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CLAUDE.md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 Claude Code 헌장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8"/>
          <p:cNvSpPr/>
          <p:nvPr/>
        </p:nvSpPr>
        <p:spPr>
          <a:xfrm>
            <a:off x="1733550" y="3502819"/>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AGENTS.md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 Codex 지속 지침</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1733550" y="3784699"/>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CHATGPT_PRO_운영지침.md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 통제면</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1733550" y="4066580"/>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.claude/rules/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code·documents·git·tests </a:t>
            </a:r>
            <a:r>
              <a:rPr lang="en-US" sz="1200"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규칙서 4</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1"/>
          <p:cNvSpPr/>
          <p:nvPr/>
        </p:nvSpPr>
        <p:spPr>
          <a:xfrm>
            <a:off x="1733550" y="4348460"/>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.claude/agents/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coordinator … technical-writer </a:t>
            </a:r>
            <a:r>
              <a:rPr lang="en-US" sz="1200"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역할 11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2"/>
          <p:cNvSpPr/>
          <p:nvPr/>
        </p:nvSpPr>
        <p:spPr>
          <a:xfrm>
            <a:off x="1733550" y="4630341"/>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.claude/skills + .agents/skills </a:t>
            </a:r>
            <a:r>
              <a:rPr lang="en-US" sz="1200"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스킬 10</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3"/>
          <p:cNvSpPr/>
          <p:nvPr/>
        </p:nvSpPr>
        <p:spPr>
          <a:xfrm>
            <a:off x="1524000" y="5064621"/>
            <a:ext cx="38100" cy="916186"/>
          </a:xfrm>
          <a:prstGeom prst="rect">
            <a:avLst/>
          </a:prstGeom>
          <a:solidFill>
            <a:srgbClr val="191F28"/>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4"/>
          <p:cNvSpPr/>
          <p:nvPr/>
        </p:nvSpPr>
        <p:spPr>
          <a:xfrm>
            <a:off x="1733550" y="5064621"/>
            <a:ext cx="9542219" cy="295275"/>
          </a:xfrm>
          <a:prstGeom prst="rect">
            <a:avLst/>
          </a:prstGeom>
          <a:noFill/>
          <a:ln/>
        </p:spPr>
        <p:txBody>
          <a:bodyPr wrap="square" lIns="25400" tIns="25400" rIns="25400" bIns="25400" rtlCol="0" anchor="t">
            <a:normAutofit/>
          </a:bodyPr>
          <a:lstStyle/>
          <a:p>
            <a:pPr marL="0" indent="0" algn="l">
              <a:buNone/>
            </a:pPr>
            <a:r>
              <a:rPr lang="en-US" sz="1350"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② 컨텍스트 조립 · .mjs </a:t>
            </a:r>
            <a:r>
              <a:rPr lang="en-US" sz="1125" b="1"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(마크다운 아님)</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5"/>
          <p:cNvSpPr/>
          <p:nvPr/>
        </p:nvSpPr>
        <p:spPr>
          <a:xfrm>
            <a:off x="1733550" y="5417046"/>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tooling/scripts/세션_시작_컨텍스트.mjs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 최소 주입</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6"/>
          <p:cNvSpPr/>
          <p:nvPr/>
        </p:nvSpPr>
        <p:spPr>
          <a:xfrm>
            <a:off x="1733550" y="5698927"/>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tooling/scripts/작업_인덱서.mjs </a:t>
            </a:r>
            <a:r>
              <a:rPr lang="en-US" sz="1200" dirty="0">
                <a:solidFill>
                  <a:srgbClr val="A0A8B2"/>
                </a:solidFill>
                <a:latin typeface="Pretendard" panose="02000503000000020004" pitchFamily="50" charset="-127"/>
                <a:ea typeface="Pretendard" panose="02000503000000020004" pitchFamily="50" charset="-127"/>
                <a:cs typeface="Pretendard" panose="02000503000000020004" pitchFamily="50" charset="-127"/>
              </a:rPr>
              <a:t>· canonicalize 단일 기준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Shape 17"/>
          <p:cNvSpPr/>
          <p:nvPr/>
        </p:nvSpPr>
        <p:spPr>
          <a:xfrm>
            <a:off x="1524000" y="6133207"/>
            <a:ext cx="38100" cy="916186"/>
          </a:xfrm>
          <a:prstGeom prst="rect">
            <a:avLst/>
          </a:prstGeom>
          <a:solidFill>
            <a:srgbClr val="15C47E"/>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8"/>
          <p:cNvSpPr/>
          <p:nvPr/>
        </p:nvSpPr>
        <p:spPr>
          <a:xfrm>
            <a:off x="1733550" y="6133207"/>
            <a:ext cx="9542219" cy="295275"/>
          </a:xfrm>
          <a:prstGeom prst="rect">
            <a:avLst/>
          </a:prstGeom>
          <a:noFill/>
          <a:ln/>
        </p:spPr>
        <p:txBody>
          <a:bodyPr wrap="square" lIns="25400" tIns="25400" rIns="25400" bIns="25400" rtlCol="0" anchor="t">
            <a:normAutofit/>
          </a:bodyPr>
          <a:lstStyle/>
          <a:p>
            <a:pPr marL="0" indent="0" algn="l">
              <a:buNone/>
            </a:pPr>
            <a:r>
              <a:rPr lang="en-US" sz="1350" b="1" dirty="0">
                <a:solidFill>
                  <a:srgbClr val="0F9D63"/>
                </a:solidFill>
                <a:latin typeface="Pretendard" panose="02000503000000020004" pitchFamily="50" charset="-127"/>
                <a:ea typeface="Pretendard" panose="02000503000000020004" pitchFamily="50" charset="-127"/>
                <a:cs typeface="Pretendard" panose="02000503000000020004" pitchFamily="50" charset="-127"/>
              </a:rPr>
              <a:t>③ git = 메시지 버스</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9"/>
          <p:cNvSpPr/>
          <p:nvPr/>
        </p:nvSpPr>
        <p:spPr>
          <a:xfrm>
            <a:off x="1733550" y="6485632"/>
            <a:ext cx="89349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산출물/09_AI개발파이프라인/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20"/>
          <p:cNvSpPr/>
          <p:nvPr/>
        </p:nvSpPr>
        <p:spPr>
          <a:xfrm>
            <a:off x="1924050" y="6767513"/>
            <a:ext cx="8744487" cy="319980"/>
          </a:xfrm>
          <a:prstGeom prst="rect">
            <a:avLst/>
          </a:prstGeom>
          <a:noFill/>
          <a:ln/>
        </p:spPr>
        <p:txBody>
          <a:bodyPr wrap="square" lIns="25400" tIns="25400" rIns="25400" bIns="25400" rtlCol="0" anchor="t">
            <a:normAutofit fontScale="92500"/>
          </a:bodyPr>
          <a:lstStyle/>
          <a:p>
            <a:pPr marL="0" indent="0" algn="l">
              <a:lnSpc>
                <a:spcPct val="185000"/>
              </a:lnSpc>
              <a:buNone/>
            </a:pPr>
            <a:r>
              <a:rPr lang="en-US" sz="1200"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작업지시서 TASK·20 · 독립검토서 REVIEW·27 · 토론기록 DEBATE·2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1"/>
          <p:cNvSpPr/>
          <p:nvPr/>
        </p:nvSpPr>
        <p:spPr>
          <a:xfrm>
            <a:off x="10922645" y="2620863"/>
            <a:ext cx="6127105" cy="1869579"/>
          </a:xfrm>
          <a:prstGeom prst="roundRect">
            <a:avLst>
              <a:gd name="adj" fmla="val 8152"/>
            </a:avLst>
          </a:prstGeom>
          <a:solidFill>
            <a:srgbClr val="EAF2FE"/>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2"/>
          <p:cNvSpPr/>
          <p:nvPr/>
        </p:nvSpPr>
        <p:spPr>
          <a:xfrm>
            <a:off x="11170295" y="3243709"/>
            <a:ext cx="6194986"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ExtraBold" panose="02000903000000020004" pitchFamily="50" charset="-127"/>
                <a:ea typeface="Pretendard ExtraBold" panose="02000903000000020004" pitchFamily="50" charset="-127"/>
                <a:cs typeface="Pretendard ExtraBold" panose="02000903000000020004" pitchFamily="50" charset="-127"/>
              </a:rPr>
              <a:t>① 항상 로드</a:t>
            </a:r>
            <a:endParaRPr lang="en-US" sz="15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25" name="Text 23"/>
          <p:cNvSpPr/>
          <p:nvPr/>
        </p:nvSpPr>
        <p:spPr>
          <a:xfrm>
            <a:off x="11170295" y="3596134"/>
            <a:ext cx="6194986"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2C5AA0"/>
                </a:solidFill>
                <a:latin typeface="Pretendard" panose="02000503000000020004" pitchFamily="50" charset="-127"/>
                <a:ea typeface="Pretendard" panose="02000503000000020004" pitchFamily="50" charset="-127"/>
                <a:cs typeface="Pretendard" panose="02000503000000020004" pitchFamily="50" charset="-127"/>
              </a:rPr>
              <a:t>규칙 · 역할 · 스킬을 모든 세션이 공유합니다.</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Shape 24"/>
          <p:cNvSpPr/>
          <p:nvPr/>
        </p:nvSpPr>
        <p:spPr>
          <a:xfrm>
            <a:off x="10922645" y="4642842"/>
            <a:ext cx="6127105" cy="1869579"/>
          </a:xfrm>
          <a:prstGeom prst="roundRect">
            <a:avLst>
              <a:gd name="adj" fmla="val 8152"/>
            </a:avLst>
          </a:prstGeom>
          <a:solidFill>
            <a:srgbClr val="F2F4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5"/>
          <p:cNvSpPr/>
          <p:nvPr/>
        </p:nvSpPr>
        <p:spPr>
          <a:xfrm>
            <a:off x="11170295" y="5265688"/>
            <a:ext cx="6194986"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② 골라서 주입</a:t>
            </a:r>
            <a:endParaRPr lang="en-US" sz="15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28" name="Text 26"/>
          <p:cNvSpPr/>
          <p:nvPr/>
        </p:nvSpPr>
        <p:spPr>
          <a:xfrm>
            <a:off x="11170295" y="5618113"/>
            <a:ext cx="6194986"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세션 시작 시 작업지시서 → 요구사항·ADR → diff → 로그만 주입.</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7"/>
          <p:cNvSpPr/>
          <p:nvPr/>
        </p:nvSpPr>
        <p:spPr>
          <a:xfrm>
            <a:off x="10922645" y="6664821"/>
            <a:ext cx="6127105" cy="1869579"/>
          </a:xfrm>
          <a:prstGeom prst="roundRect">
            <a:avLst>
              <a:gd name="adj" fmla="val 8152"/>
            </a:avLst>
          </a:prstGeom>
          <a:solidFill>
            <a:srgbClr val="EBFBF2"/>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 28"/>
          <p:cNvSpPr/>
          <p:nvPr/>
        </p:nvSpPr>
        <p:spPr>
          <a:xfrm>
            <a:off x="11170295" y="7287667"/>
            <a:ext cx="6194986"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0F9D63"/>
                </a:solidFill>
                <a:latin typeface="Pretendard ExtraBold" panose="02000903000000020004" pitchFamily="50" charset="-127"/>
                <a:ea typeface="Pretendard ExtraBold" panose="02000903000000020004" pitchFamily="50" charset="-127"/>
                <a:cs typeface="Pretendard ExtraBold" panose="02000903000000020004" pitchFamily="50" charset="-127"/>
              </a:rPr>
              <a:t>③ 파일로 상태 전달</a:t>
            </a:r>
            <a:endParaRPr lang="en-US" sz="150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31" name="Text 29"/>
          <p:cNvSpPr/>
          <p:nvPr/>
        </p:nvSpPr>
        <p:spPr>
          <a:xfrm>
            <a:off x="11170295" y="7640092"/>
            <a:ext cx="6194986"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dirty="0">
                <a:solidFill>
                  <a:srgbClr val="3E7A5E"/>
                </a:solidFill>
                <a:latin typeface="Pretendard" panose="02000503000000020004" pitchFamily="50" charset="-127"/>
                <a:ea typeface="Pretendard" panose="02000503000000020004" pitchFamily="50" charset="-127"/>
                <a:cs typeface="Pretendard" panose="02000503000000020004" pitchFamily="50" charset="-127"/>
              </a:rPr>
              <a:t>대화 기억이 아니라 커밋된 문서로만 주고받습니다.</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Shape 30"/>
          <p:cNvSpPr/>
          <p:nvPr/>
        </p:nvSpPr>
        <p:spPr>
          <a:xfrm>
            <a:off x="1238250" y="8686800"/>
            <a:ext cx="15811500" cy="685800"/>
          </a:xfrm>
          <a:prstGeom prst="roundRect">
            <a:avLst>
              <a:gd name="adj" fmla="val 19444"/>
            </a:avLst>
          </a:prstGeom>
          <a:solidFill>
            <a:srgbClr val="191F28"/>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1"/>
          <p:cNvSpPr/>
          <p:nvPr/>
        </p:nvSpPr>
        <p:spPr>
          <a:xfrm>
            <a:off x="1485900" y="8877300"/>
            <a:ext cx="15790545"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highlight>
                  <a:srgbClr val="191F28"/>
                </a:highlight>
                <a:latin typeface="Pretendard" panose="02000503000000020004" pitchFamily="50" charset="-127"/>
                <a:ea typeface="Pretendard" panose="02000503000000020004" pitchFamily="50" charset="-127"/>
                <a:cs typeface="Pretendard" panose="02000503000000020004" pitchFamily="50" charset="-127"/>
              </a:rPr>
              <a:t>컨텍스트 한계가 만드는 AI 환각과 문서·코드 불일치를, 운이 아니라 </a:t>
            </a:r>
            <a:r>
              <a:rPr lang="en-US" sz="1650" b="1" dirty="0">
                <a:solidFill>
                  <a:srgbClr val="5A9CFF"/>
                </a:solidFill>
                <a:latin typeface="Pretendard" panose="02000503000000020004" pitchFamily="50" charset="-127"/>
                <a:ea typeface="Pretendard" panose="02000503000000020004" pitchFamily="50" charset="-127"/>
                <a:cs typeface="Pretendard" panose="02000503000000020004" pitchFamily="50" charset="-127"/>
              </a:rPr>
              <a:t>파일 구조</a:t>
            </a:r>
            <a:r>
              <a:rPr lang="en-US" sz="1650" b="1" dirty="0">
                <a:solidFill>
                  <a:srgbClr val="FFFFFF"/>
                </a:solidFill>
                <a:highlight>
                  <a:srgbClr val="191F28"/>
                </a:highlight>
                <a:latin typeface="Pretendard" panose="02000503000000020004" pitchFamily="50" charset="-127"/>
                <a:ea typeface="Pretendard" panose="02000503000000020004" pitchFamily="50" charset="-127"/>
                <a:cs typeface="Pretendard" panose="02000503000000020004" pitchFamily="50" charset="-127"/>
              </a:rPr>
              <a:t>로 막습니다.</a:t>
            </a:r>
            <a:endParaRPr lang="en-US" sz="16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2"/>
          <p:cNvSpPr/>
          <p:nvPr/>
        </p:nvSpPr>
        <p:spPr>
          <a:xfrm>
            <a:off x="1238250" y="9496425"/>
            <a:ext cx="2091571" cy="295275"/>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503000000020004" pitchFamily="50" charset="-127"/>
                <a:ea typeface="Pretendard" panose="02000503000000020004" pitchFamily="50" charset="-127"/>
                <a:cs typeface="Pretendard" panose="02000503000000020004" pitchFamily="50" charset="-127"/>
              </a:rPr>
              <a:t>하모니 · 앱인토스 미니앱</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a:t>
            </a:r>
            <a:r>
              <a:rPr lang="ko-KR" altLang="en-US" sz="1875" b="1" kern="0" spc="56" dirty="0">
                <a:solidFill>
                  <a:srgbClr val="3182F6"/>
                </a:solidFill>
                <a:latin typeface="Pretendard" pitchFamily="34" charset="0"/>
                <a:ea typeface="Pretendard" pitchFamily="34" charset="-122"/>
                <a:cs typeface="Pretendard" pitchFamily="34" charset="-120"/>
              </a:rPr>
              <a:t>활용 파이프라인</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AI 협업 증거, 한눈에</a:t>
            </a:r>
            <a:endParaRPr lang="en-US" sz="30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Shape 3"/>
          <p:cNvSpPr/>
          <p:nvPr/>
        </p:nvSpPr>
        <p:spPr>
          <a:xfrm>
            <a:off x="800100" y="1630635"/>
            <a:ext cx="5435575" cy="7208565"/>
          </a:xfrm>
          <a:prstGeom prst="roundRect">
            <a:avLst>
              <a:gd name="adj" fmla="val 2453"/>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t="-25746" b="-25746"/>
          <a:stretch/>
        </p:blipFill>
        <p:spPr>
          <a:xfrm>
            <a:off x="809625" y="1640160"/>
            <a:ext cx="5416525" cy="7189515"/>
          </a:xfrm>
          <a:prstGeom prst="rect">
            <a:avLst/>
          </a:prstGeom>
        </p:spPr>
      </p:pic>
      <p:sp>
        <p:nvSpPr>
          <p:cNvPr id="7" name="Text 4"/>
          <p:cNvSpPr/>
          <p:nvPr/>
        </p:nvSpPr>
        <p:spPr>
          <a:xfrm>
            <a:off x="528321" y="8953500"/>
            <a:ext cx="5979133"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4E5968"/>
                </a:solidFill>
                <a:latin typeface="Pretendard" pitchFamily="34" charset="0"/>
                <a:ea typeface="Pretendard" pitchFamily="34" charset="-122"/>
                <a:cs typeface="Pretendard" pitchFamily="34" charset="-120"/>
              </a:rPr>
              <a:t>작업지시서 TASK · 20건</a:t>
            </a:r>
            <a:endParaRPr lang="en-US" sz="1425" dirty="0"/>
          </a:p>
        </p:txBody>
      </p:sp>
      <p:sp>
        <p:nvSpPr>
          <p:cNvPr id="8" name="Shape 5"/>
          <p:cNvSpPr/>
          <p:nvPr/>
        </p:nvSpPr>
        <p:spPr>
          <a:xfrm>
            <a:off x="6426175" y="1630635"/>
            <a:ext cx="5435650" cy="7208565"/>
          </a:xfrm>
          <a:prstGeom prst="roundRect">
            <a:avLst>
              <a:gd name="adj" fmla="val 2453"/>
            </a:avLst>
          </a:prstGeom>
          <a:solidFill>
            <a:srgbClr val="FFFFFF"/>
          </a:solidFill>
          <a:ln w="9525">
            <a:solidFill>
              <a:srgbClr val="E5E8EB"/>
            </a:solidFill>
            <a:prstDash val="solid"/>
          </a:ln>
        </p:spPr>
        <p:txBody>
          <a:bodyPr/>
          <a:lstStyle/>
          <a:p>
            <a:endParaRPr lang="ko-KR" altLang="en-US"/>
          </a:p>
        </p:txBody>
      </p:sp>
      <p:pic>
        <p:nvPicPr>
          <p:cNvPr id="9" name="Image 1" descr="preencoded.png"/>
          <p:cNvPicPr>
            <a:picLocks noChangeAspect="1"/>
          </p:cNvPicPr>
          <p:nvPr/>
        </p:nvPicPr>
        <p:blipFill>
          <a:blip r:embed="rId4"/>
          <a:srcRect t="-9287" b="-9287"/>
          <a:stretch/>
        </p:blipFill>
        <p:spPr>
          <a:xfrm>
            <a:off x="6435700" y="1640160"/>
            <a:ext cx="5416600" cy="7189515"/>
          </a:xfrm>
          <a:prstGeom prst="rect">
            <a:avLst/>
          </a:prstGeom>
        </p:spPr>
      </p:pic>
      <p:sp>
        <p:nvSpPr>
          <p:cNvPr id="10" name="Text 6"/>
          <p:cNvSpPr/>
          <p:nvPr/>
        </p:nvSpPr>
        <p:spPr>
          <a:xfrm>
            <a:off x="6154393" y="8953500"/>
            <a:ext cx="5979215"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4E5968"/>
                </a:solidFill>
                <a:latin typeface="Pretendard" pitchFamily="34" charset="0"/>
                <a:ea typeface="Pretendard" pitchFamily="34" charset="-122"/>
                <a:cs typeface="Pretendard" pitchFamily="34" charset="-120"/>
              </a:rPr>
              <a:t>독립검토서 REVIEW · 27건</a:t>
            </a:r>
            <a:endParaRPr lang="en-US" sz="1425" dirty="0"/>
          </a:p>
        </p:txBody>
      </p:sp>
      <p:sp>
        <p:nvSpPr>
          <p:cNvPr id="11" name="Shape 7"/>
          <p:cNvSpPr/>
          <p:nvPr/>
        </p:nvSpPr>
        <p:spPr>
          <a:xfrm>
            <a:off x="12052325" y="1630635"/>
            <a:ext cx="5435575" cy="7208565"/>
          </a:xfrm>
          <a:prstGeom prst="roundRect">
            <a:avLst>
              <a:gd name="adj" fmla="val 2453"/>
            </a:avLst>
          </a:prstGeom>
          <a:solidFill>
            <a:srgbClr val="FFFFFF"/>
          </a:solidFill>
          <a:ln w="9525">
            <a:solidFill>
              <a:srgbClr val="E5E8EB"/>
            </a:solidFill>
            <a:prstDash val="solid"/>
          </a:ln>
        </p:spPr>
        <p:txBody>
          <a:bodyPr/>
          <a:lstStyle/>
          <a:p>
            <a:endParaRPr lang="ko-KR" altLang="en-US"/>
          </a:p>
        </p:txBody>
      </p:sp>
      <p:pic>
        <p:nvPicPr>
          <p:cNvPr id="12" name="Image 2" descr="preencoded.png"/>
          <p:cNvPicPr>
            <a:picLocks noChangeAspect="1"/>
          </p:cNvPicPr>
          <p:nvPr/>
        </p:nvPicPr>
        <p:blipFill>
          <a:blip r:embed="rId5"/>
          <a:srcRect t="-15597" b="-15597"/>
          <a:stretch/>
        </p:blipFill>
        <p:spPr>
          <a:xfrm>
            <a:off x="12061850" y="1640160"/>
            <a:ext cx="5416525" cy="7189515"/>
          </a:xfrm>
          <a:prstGeom prst="rect">
            <a:avLst/>
          </a:prstGeom>
        </p:spPr>
      </p:pic>
      <p:sp>
        <p:nvSpPr>
          <p:cNvPr id="13" name="Text 8"/>
          <p:cNvSpPr/>
          <p:nvPr/>
        </p:nvSpPr>
        <p:spPr>
          <a:xfrm>
            <a:off x="11780546" y="8953500"/>
            <a:ext cx="5979133" cy="300038"/>
          </a:xfrm>
          <a:prstGeom prst="rect">
            <a:avLst/>
          </a:prstGeom>
          <a:noFill/>
          <a:ln/>
        </p:spPr>
        <p:txBody>
          <a:bodyPr wrap="square" lIns="25400" tIns="25400" rIns="25400" bIns="25400" rtlCol="0" anchor="t">
            <a:normAutofit/>
          </a:bodyPr>
          <a:lstStyle/>
          <a:p>
            <a:pPr marL="0" indent="0" algn="ctr">
              <a:buNone/>
            </a:pPr>
            <a:r>
              <a:rPr lang="en-US" sz="1425" b="1" dirty="0">
                <a:solidFill>
                  <a:srgbClr val="4E5968"/>
                </a:solidFill>
                <a:latin typeface="Pretendard" pitchFamily="34" charset="0"/>
                <a:ea typeface="Pretendard" pitchFamily="34" charset="-122"/>
                <a:cs typeface="Pretendard" pitchFamily="34" charset="-120"/>
              </a:rPr>
              <a:t>팀 공유문서 · 결정 기록</a:t>
            </a:r>
            <a:endParaRPr lang="en-US" sz="1425" dirty="0"/>
          </a:p>
        </p:txBody>
      </p:sp>
      <p:sp>
        <p:nvSpPr>
          <p:cNvPr id="14" name="Text 9"/>
          <p:cNvSpPr/>
          <p:nvPr/>
        </p:nvSpPr>
        <p:spPr>
          <a:xfrm>
            <a:off x="-34290" y="9424988"/>
            <a:ext cx="18356580" cy="328613"/>
          </a:xfrm>
          <a:prstGeom prst="rect">
            <a:avLst/>
          </a:prstGeom>
          <a:noFill/>
          <a:ln/>
        </p:spPr>
        <p:txBody>
          <a:bodyPr wrap="square" lIns="25400" tIns="25400" rIns="25400" bIns="25400" rtlCol="0" anchor="t">
            <a:normAutofit/>
          </a:bodyPr>
          <a:lstStyle/>
          <a:p>
            <a:pPr marL="0" indent="0" algn="ctr">
              <a:buNone/>
            </a:pPr>
            <a:r>
              <a:rPr lang="en-US" sz="1575" dirty="0">
                <a:solidFill>
                  <a:srgbClr val="4E5968"/>
                </a:solidFill>
                <a:latin typeface="Pretendard" pitchFamily="34" charset="0"/>
                <a:ea typeface="Pretendard" pitchFamily="34" charset="-122"/>
                <a:cs typeface="Pretendard" pitchFamily="34" charset="-120"/>
              </a:rPr>
              <a:t>토론기록(DEBATE) 2건 · 루프 실행 로그 · 결정 기록까지, 모든 사례에 </a:t>
            </a:r>
            <a:r>
              <a:rPr lang="en-US" sz="1575" b="1" dirty="0">
                <a:solidFill>
                  <a:srgbClr val="191F28"/>
                </a:solidFill>
                <a:latin typeface="Pretendard" pitchFamily="34" charset="0"/>
                <a:ea typeface="Pretendard" pitchFamily="34" charset="-122"/>
                <a:cs typeface="Pretendard" pitchFamily="34" charset="-120"/>
              </a:rPr>
              <a:t>파일 · 커밋 · 로그 근거</a:t>
            </a:r>
            <a:r>
              <a:rPr lang="en-US" sz="1575" dirty="0">
                <a:solidFill>
                  <a:srgbClr val="4E5968"/>
                </a:solidFill>
                <a:latin typeface="Pretendard" pitchFamily="34" charset="0"/>
                <a:ea typeface="Pretendard" pitchFamily="34" charset="-122"/>
                <a:cs typeface="Pretendard" pitchFamily="34" charset="-120"/>
              </a:rPr>
              <a:t>가 있습니다.</a:t>
            </a:r>
            <a:endParaRPr lang="en-US" sz="1575" dirty="0"/>
          </a:p>
        </p:txBody>
      </p:sp>
      <p:sp>
        <p:nvSpPr>
          <p:cNvPr id="16" name="Text 30">
            <a:extLst>
              <a:ext uri="{FF2B5EF4-FFF2-40B4-BE49-F238E27FC236}">
                <a16:creationId xmlns:a16="http://schemas.microsoft.com/office/drawing/2014/main" id="{41851E98-A646-6233-0DF1-5E5782AF3C7B}"/>
              </a:ext>
            </a:extLst>
          </p:cNvPr>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3975484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활용 파이프라인</a:t>
            </a:r>
            <a:endParaRPr lang="en-US" sz="1875" dirty="0"/>
          </a:p>
        </p:txBody>
      </p:sp>
      <p:sp>
        <p:nvSpPr>
          <p:cNvPr id="4" name="Text 2"/>
          <p:cNvSpPr/>
          <p:nvPr/>
        </p:nvSpPr>
        <p:spPr>
          <a:xfrm>
            <a:off x="1238250" y="1390650"/>
            <a:ext cx="17392650" cy="59352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050" b="1" kern="0" spc="-122" dirty="0">
                <a:solidFill>
                  <a:srgbClr val="191F28"/>
                </a:solidFill>
                <a:latin typeface="Pretendard ExtraBold" panose="02000903000000020004" pitchFamily="50" charset="-127"/>
                <a:ea typeface="Pretendard ExtraBold" panose="02000903000000020004" pitchFamily="50" charset="-127"/>
                <a:cs typeface="Pretendard ExtraBold" panose="02000903000000020004" pitchFamily="50" charset="-127"/>
              </a:rPr>
              <a:t>독립검토가 보안 결함을 잡아, No-Go에서 Go로</a:t>
            </a:r>
            <a:endParaRPr lang="en-US" sz="4050" dirty="0">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5" name="Text 3"/>
          <p:cNvSpPr/>
          <p:nvPr/>
        </p:nvSpPr>
        <p:spPr>
          <a:xfrm>
            <a:off x="1238250" y="2060377"/>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4E5968"/>
                </a:solidFill>
                <a:latin typeface="Pretendard" pitchFamily="34" charset="0"/>
                <a:ea typeface="Pretendard" pitchFamily="34" charset="-122"/>
                <a:cs typeface="Pretendard" pitchFamily="34" charset="-120"/>
              </a:rPr>
              <a:t>'AI 티 안 나게'의 답은, 사람이 통제하는 검증 게이트입니다.</a:t>
            </a:r>
            <a:endParaRPr lang="en-US" sz="1875" dirty="0"/>
          </a:p>
        </p:txBody>
      </p:sp>
      <p:sp>
        <p:nvSpPr>
          <p:cNvPr id="6" name="Shape 4"/>
          <p:cNvSpPr/>
          <p:nvPr/>
        </p:nvSpPr>
        <p:spPr>
          <a:xfrm>
            <a:off x="1238250" y="2822377"/>
            <a:ext cx="3695700" cy="1590675"/>
          </a:xfrm>
          <a:prstGeom prst="roundRect">
            <a:avLst>
              <a:gd name="adj" fmla="val 10778"/>
            </a:avLst>
          </a:prstGeom>
          <a:solidFill>
            <a:srgbClr val="FFF1F0"/>
          </a:solidFill>
          <a:ln/>
        </p:spPr>
        <p:txBody>
          <a:bodyPr/>
          <a:lstStyle/>
          <a:p>
            <a:endParaRPr lang="ko-KR" altLang="en-US"/>
          </a:p>
        </p:txBody>
      </p:sp>
      <p:sp>
        <p:nvSpPr>
          <p:cNvPr id="7" name="Shape 5"/>
          <p:cNvSpPr/>
          <p:nvPr/>
        </p:nvSpPr>
        <p:spPr>
          <a:xfrm>
            <a:off x="1504950" y="3167658"/>
            <a:ext cx="95250" cy="95250"/>
          </a:xfrm>
          <a:prstGeom prst="ellipse">
            <a:avLst/>
          </a:prstGeom>
          <a:solidFill>
            <a:srgbClr val="FF5247"/>
          </a:solidFill>
          <a:ln/>
        </p:spPr>
        <p:txBody>
          <a:bodyPr/>
          <a:lstStyle/>
          <a:p>
            <a:endParaRPr lang="ko-KR" altLang="en-US"/>
          </a:p>
        </p:txBody>
      </p:sp>
      <p:sp>
        <p:nvSpPr>
          <p:cNvPr id="8" name="Text 6"/>
          <p:cNvSpPr/>
          <p:nvPr/>
        </p:nvSpPr>
        <p:spPr>
          <a:xfrm>
            <a:off x="1676400" y="3089077"/>
            <a:ext cx="391716" cy="290513"/>
          </a:xfrm>
          <a:prstGeom prst="rect">
            <a:avLst/>
          </a:prstGeom>
          <a:noFill/>
          <a:ln/>
        </p:spPr>
        <p:txBody>
          <a:bodyPr wrap="square" lIns="25400" tIns="25400" rIns="25400" bIns="25400" rtlCol="0" anchor="t">
            <a:normAutofit/>
          </a:bodyPr>
          <a:lstStyle/>
          <a:p>
            <a:pPr marL="0" indent="0" algn="l">
              <a:buNone/>
            </a:pPr>
            <a:r>
              <a:rPr lang="en-US" sz="1350" b="1" dirty="0">
                <a:solidFill>
                  <a:srgbClr val="D63A3A"/>
                </a:solidFill>
                <a:latin typeface="Pretendard" pitchFamily="34" charset="0"/>
                <a:ea typeface="Pretendard" pitchFamily="34" charset="-122"/>
                <a:cs typeface="Pretendard" pitchFamily="34" charset="-120"/>
              </a:rPr>
              <a:t>발견</a:t>
            </a:r>
            <a:endParaRPr lang="en-US" sz="1350" dirty="0"/>
          </a:p>
        </p:txBody>
      </p:sp>
      <p:sp>
        <p:nvSpPr>
          <p:cNvPr id="9" name="Text 7"/>
          <p:cNvSpPr/>
          <p:nvPr/>
        </p:nvSpPr>
        <p:spPr>
          <a:xfrm>
            <a:off x="1504950" y="3474839"/>
            <a:ext cx="3478530"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191F28"/>
                </a:solidFill>
                <a:latin typeface="Pretendard" pitchFamily="34" charset="0"/>
                <a:ea typeface="Pretendard" pitchFamily="34" charset="-122"/>
                <a:cs typeface="Pretendard" pitchFamily="34" charset="-120"/>
              </a:rPr>
              <a:t>독립검토, 결함 3건</a:t>
            </a:r>
            <a:endParaRPr lang="en-US" sz="1800" dirty="0"/>
          </a:p>
        </p:txBody>
      </p:sp>
      <p:sp>
        <p:nvSpPr>
          <p:cNvPr id="10" name="Text 8"/>
          <p:cNvSpPr/>
          <p:nvPr/>
        </p:nvSpPr>
        <p:spPr>
          <a:xfrm>
            <a:off x="1504950" y="3884414"/>
            <a:ext cx="3478530" cy="300038"/>
          </a:xfrm>
          <a:prstGeom prst="rect">
            <a:avLst/>
          </a:prstGeom>
          <a:noFill/>
          <a:ln/>
        </p:spPr>
        <p:txBody>
          <a:bodyPr wrap="square" lIns="25400" tIns="25400" rIns="25400" bIns="25400" rtlCol="0" anchor="t">
            <a:normAutofit/>
          </a:bodyPr>
          <a:lstStyle/>
          <a:p>
            <a:pPr marL="0" indent="0" algn="l">
              <a:buNone/>
            </a:pPr>
            <a:r>
              <a:rPr lang="en-US" sz="1425" dirty="0">
                <a:solidFill>
                  <a:srgbClr val="8A4B4B"/>
                </a:solidFill>
                <a:latin typeface="Pretendard" pitchFamily="34" charset="0"/>
                <a:ea typeface="Pretendard" pitchFamily="34" charset="-122"/>
                <a:cs typeface="Pretendard" pitchFamily="34" charset="-120"/>
              </a:rPr>
              <a:t>블랙박스로 보안 취약점 발견</a:t>
            </a:r>
            <a:endParaRPr lang="en-US" sz="1425" dirty="0"/>
          </a:p>
        </p:txBody>
      </p:sp>
      <p:sp>
        <p:nvSpPr>
          <p:cNvPr id="11" name="Text 9"/>
          <p:cNvSpPr/>
          <p:nvPr/>
        </p:nvSpPr>
        <p:spPr>
          <a:xfrm>
            <a:off x="4895850" y="2822377"/>
            <a:ext cx="419100" cy="1628775"/>
          </a:xfrm>
          <a:prstGeom prst="rect">
            <a:avLst/>
          </a:prstGeom>
          <a:noFill/>
          <a:ln/>
        </p:spPr>
        <p:txBody>
          <a:bodyPr wrap="square" lIns="25400" tIns="25400" rIns="25400" bIns="25400" rtlCol="0" anchor="ctr">
            <a:normAutofit/>
          </a:bodyPr>
          <a:lstStyle/>
          <a:p>
            <a:pPr marL="0" indent="0" algn="ctr">
              <a:buNone/>
            </a:pPr>
            <a:r>
              <a:rPr lang="en-US" sz="1800" b="1" dirty="0">
                <a:solidFill>
                  <a:srgbClr val="C4CAD2"/>
                </a:solidFill>
                <a:latin typeface="Pretendard" pitchFamily="34" charset="0"/>
                <a:ea typeface="Pretendard" pitchFamily="34" charset="-122"/>
                <a:cs typeface="Pretendard" pitchFamily="34" charset="-120"/>
              </a:rPr>
              <a:t>›</a:t>
            </a:r>
            <a:endParaRPr lang="en-US" sz="1800" dirty="0"/>
          </a:p>
        </p:txBody>
      </p:sp>
      <p:sp>
        <p:nvSpPr>
          <p:cNvPr id="12" name="Shape 10"/>
          <p:cNvSpPr/>
          <p:nvPr/>
        </p:nvSpPr>
        <p:spPr>
          <a:xfrm>
            <a:off x="5276850" y="2822377"/>
            <a:ext cx="3695700" cy="1590675"/>
          </a:xfrm>
          <a:prstGeom prst="roundRect">
            <a:avLst>
              <a:gd name="adj" fmla="val 10778"/>
            </a:avLst>
          </a:prstGeom>
          <a:solidFill>
            <a:srgbClr val="FFF1F0"/>
          </a:solidFill>
          <a:ln/>
        </p:spPr>
        <p:txBody>
          <a:bodyPr/>
          <a:lstStyle/>
          <a:p>
            <a:endParaRPr lang="ko-KR" altLang="en-US"/>
          </a:p>
        </p:txBody>
      </p:sp>
      <p:sp>
        <p:nvSpPr>
          <p:cNvPr id="13" name="Shape 11"/>
          <p:cNvSpPr/>
          <p:nvPr/>
        </p:nvSpPr>
        <p:spPr>
          <a:xfrm>
            <a:off x="5543550" y="3162895"/>
            <a:ext cx="95250" cy="95250"/>
          </a:xfrm>
          <a:prstGeom prst="ellipse">
            <a:avLst/>
          </a:prstGeom>
          <a:solidFill>
            <a:srgbClr val="FF5247"/>
          </a:solidFill>
          <a:ln/>
        </p:spPr>
        <p:txBody>
          <a:bodyPr/>
          <a:lstStyle/>
          <a:p>
            <a:endParaRPr lang="ko-KR" altLang="en-US"/>
          </a:p>
        </p:txBody>
      </p:sp>
      <p:sp>
        <p:nvSpPr>
          <p:cNvPr id="14" name="Text 12"/>
          <p:cNvSpPr/>
          <p:nvPr/>
        </p:nvSpPr>
        <p:spPr>
          <a:xfrm>
            <a:off x="5715000" y="3089077"/>
            <a:ext cx="647700" cy="280988"/>
          </a:xfrm>
          <a:prstGeom prst="rect">
            <a:avLst/>
          </a:prstGeom>
          <a:noFill/>
          <a:ln/>
        </p:spPr>
        <p:txBody>
          <a:bodyPr wrap="square" lIns="25400" tIns="25400" rIns="25400" bIns="25400" rtlCol="0" anchor="t">
            <a:normAutofit/>
          </a:bodyPr>
          <a:lstStyle/>
          <a:p>
            <a:pPr marL="0" indent="0" algn="l">
              <a:buNone/>
            </a:pPr>
            <a:r>
              <a:rPr lang="en-US" sz="1350" b="1" dirty="0">
                <a:solidFill>
                  <a:srgbClr val="D63A3A"/>
                </a:solidFill>
                <a:latin typeface="Pretendard" pitchFamily="34" charset="0"/>
                <a:ea typeface="Pretendard" pitchFamily="34" charset="-122"/>
                <a:cs typeface="Pretendard" pitchFamily="34" charset="-120"/>
              </a:rPr>
              <a:t>No-Go</a:t>
            </a:r>
            <a:endParaRPr lang="en-US" sz="1350" dirty="0"/>
          </a:p>
        </p:txBody>
      </p:sp>
      <p:sp>
        <p:nvSpPr>
          <p:cNvPr id="15" name="Text 13"/>
          <p:cNvSpPr/>
          <p:nvPr/>
        </p:nvSpPr>
        <p:spPr>
          <a:xfrm>
            <a:off x="5543550" y="3465314"/>
            <a:ext cx="347853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91F28"/>
                </a:solidFill>
                <a:latin typeface="Pretendard" pitchFamily="34" charset="0"/>
                <a:ea typeface="Pretendard" pitchFamily="34" charset="-122"/>
                <a:cs typeface="Pretendard" pitchFamily="34" charset="-120"/>
              </a:rPr>
              <a:t>REVIEW-038</a:t>
            </a:r>
            <a:endParaRPr lang="en-US" sz="1800" dirty="0"/>
          </a:p>
        </p:txBody>
      </p:sp>
      <p:sp>
        <p:nvSpPr>
          <p:cNvPr id="16" name="Text 14"/>
          <p:cNvSpPr/>
          <p:nvPr/>
        </p:nvSpPr>
        <p:spPr>
          <a:xfrm>
            <a:off x="5543550" y="3803452"/>
            <a:ext cx="3478530" cy="300038"/>
          </a:xfrm>
          <a:prstGeom prst="rect">
            <a:avLst/>
          </a:prstGeom>
          <a:noFill/>
          <a:ln/>
        </p:spPr>
        <p:txBody>
          <a:bodyPr wrap="square" lIns="25400" tIns="25400" rIns="25400" bIns="25400" rtlCol="0" anchor="t">
            <a:normAutofit/>
          </a:bodyPr>
          <a:lstStyle/>
          <a:p>
            <a:pPr marL="0" indent="0" algn="l">
              <a:buNone/>
            </a:pPr>
            <a:r>
              <a:rPr lang="en-US" sz="1425" dirty="0">
                <a:solidFill>
                  <a:srgbClr val="8A4B4B"/>
                </a:solidFill>
                <a:latin typeface="Pretendard" pitchFamily="34" charset="0"/>
                <a:ea typeface="Pretendard" pitchFamily="34" charset="-122"/>
                <a:cs typeface="Pretendard" pitchFamily="34" charset="-120"/>
              </a:rPr>
              <a:t>머지 차단</a:t>
            </a:r>
            <a:endParaRPr lang="en-US" sz="1425" dirty="0"/>
          </a:p>
        </p:txBody>
      </p:sp>
      <p:sp>
        <p:nvSpPr>
          <p:cNvPr id="17" name="Text 15"/>
          <p:cNvSpPr/>
          <p:nvPr/>
        </p:nvSpPr>
        <p:spPr>
          <a:xfrm>
            <a:off x="8934450" y="2822377"/>
            <a:ext cx="419100" cy="1628775"/>
          </a:xfrm>
          <a:prstGeom prst="rect">
            <a:avLst/>
          </a:prstGeom>
          <a:noFill/>
          <a:ln/>
        </p:spPr>
        <p:txBody>
          <a:bodyPr wrap="square" lIns="25400" tIns="25400" rIns="25400" bIns="25400" rtlCol="0" anchor="ctr">
            <a:normAutofit/>
          </a:bodyPr>
          <a:lstStyle/>
          <a:p>
            <a:pPr marL="0" indent="0" algn="ctr">
              <a:buNone/>
            </a:pPr>
            <a:r>
              <a:rPr lang="en-US" sz="1800" b="1" dirty="0">
                <a:solidFill>
                  <a:srgbClr val="C4CAD2"/>
                </a:solidFill>
                <a:latin typeface="Pretendard" pitchFamily="34" charset="0"/>
                <a:ea typeface="Pretendard" pitchFamily="34" charset="-122"/>
                <a:cs typeface="Pretendard" pitchFamily="34" charset="-120"/>
              </a:rPr>
              <a:t>›</a:t>
            </a:r>
            <a:endParaRPr lang="en-US" sz="1800" dirty="0"/>
          </a:p>
        </p:txBody>
      </p:sp>
      <p:sp>
        <p:nvSpPr>
          <p:cNvPr id="18" name="Shape 16"/>
          <p:cNvSpPr/>
          <p:nvPr/>
        </p:nvSpPr>
        <p:spPr>
          <a:xfrm>
            <a:off x="9315450" y="2822377"/>
            <a:ext cx="3695700" cy="1590675"/>
          </a:xfrm>
          <a:prstGeom prst="roundRect">
            <a:avLst>
              <a:gd name="adj" fmla="val 10778"/>
            </a:avLst>
          </a:prstGeom>
          <a:solidFill>
            <a:srgbClr val="F7F8FA"/>
          </a:solidFill>
          <a:ln/>
        </p:spPr>
        <p:txBody>
          <a:bodyPr/>
          <a:lstStyle/>
          <a:p>
            <a:endParaRPr lang="ko-KR" altLang="en-US"/>
          </a:p>
        </p:txBody>
      </p:sp>
      <p:sp>
        <p:nvSpPr>
          <p:cNvPr id="19" name="Text 17"/>
          <p:cNvSpPr/>
          <p:nvPr/>
        </p:nvSpPr>
        <p:spPr>
          <a:xfrm>
            <a:off x="9582150" y="3089077"/>
            <a:ext cx="3478530" cy="290513"/>
          </a:xfrm>
          <a:prstGeom prst="rect">
            <a:avLst/>
          </a:prstGeom>
          <a:noFill/>
          <a:ln/>
        </p:spPr>
        <p:txBody>
          <a:bodyPr wrap="square" lIns="25400" tIns="25400" rIns="25400" bIns="25400" rtlCol="0" anchor="t">
            <a:normAutofit/>
          </a:bodyPr>
          <a:lstStyle/>
          <a:p>
            <a:pPr marL="0" indent="0" algn="l">
              <a:buNone/>
            </a:pPr>
            <a:r>
              <a:rPr lang="en-US" sz="1350" b="1" dirty="0">
                <a:solidFill>
                  <a:srgbClr val="8B95A1"/>
                </a:solidFill>
                <a:latin typeface="Pretendard" pitchFamily="34" charset="0"/>
                <a:ea typeface="Pretendard" pitchFamily="34" charset="-122"/>
                <a:cs typeface="Pretendard" pitchFamily="34" charset="-120"/>
              </a:rPr>
              <a:t>수정</a:t>
            </a:r>
            <a:endParaRPr lang="en-US" sz="1350" dirty="0"/>
          </a:p>
        </p:txBody>
      </p:sp>
      <p:sp>
        <p:nvSpPr>
          <p:cNvPr id="20" name="Text 18"/>
          <p:cNvSpPr/>
          <p:nvPr/>
        </p:nvSpPr>
        <p:spPr>
          <a:xfrm>
            <a:off x="9582150" y="3474839"/>
            <a:ext cx="347853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91F28"/>
                </a:solidFill>
                <a:latin typeface="Pretendard" pitchFamily="34" charset="0"/>
                <a:ea typeface="Pretendard" pitchFamily="34" charset="-122"/>
                <a:cs typeface="Pretendard" pitchFamily="34" charset="-120"/>
              </a:rPr>
              <a:t>commit</a:t>
            </a:r>
            <a:endParaRPr lang="en-US" sz="1800" dirty="0"/>
          </a:p>
        </p:txBody>
      </p:sp>
      <p:sp>
        <p:nvSpPr>
          <p:cNvPr id="21" name="Text 19"/>
          <p:cNvSpPr/>
          <p:nvPr/>
        </p:nvSpPr>
        <p:spPr>
          <a:xfrm>
            <a:off x="9582150" y="3812977"/>
            <a:ext cx="3478530" cy="300038"/>
          </a:xfrm>
          <a:prstGeom prst="rect">
            <a:avLst/>
          </a:prstGeom>
          <a:noFill/>
          <a:ln/>
        </p:spPr>
        <p:txBody>
          <a:bodyPr wrap="square" lIns="25400" tIns="25400" rIns="25400" bIns="25400" rtlCol="0" anchor="t">
            <a:normAutofit/>
          </a:bodyPr>
          <a:lstStyle/>
          <a:p>
            <a:pPr marL="0" indent="0" algn="l">
              <a:buNone/>
            </a:pPr>
            <a:r>
              <a:rPr lang="en-US" sz="1425" dirty="0">
                <a:solidFill>
                  <a:srgbClr val="6B7684"/>
                </a:solidFill>
                <a:latin typeface="Pretendard" pitchFamily="34" charset="0"/>
                <a:ea typeface="Pretendard" pitchFamily="34" charset="-122"/>
                <a:cs typeface="Pretendard" pitchFamily="34" charset="-120"/>
              </a:rPr>
              <a:t>인가 · 키 회전 · XFF</a:t>
            </a:r>
            <a:endParaRPr lang="en-US" sz="1425" dirty="0"/>
          </a:p>
        </p:txBody>
      </p:sp>
      <p:sp>
        <p:nvSpPr>
          <p:cNvPr id="22" name="Text 20"/>
          <p:cNvSpPr/>
          <p:nvPr/>
        </p:nvSpPr>
        <p:spPr>
          <a:xfrm>
            <a:off x="12973050" y="2822377"/>
            <a:ext cx="419100" cy="1628775"/>
          </a:xfrm>
          <a:prstGeom prst="rect">
            <a:avLst/>
          </a:prstGeom>
          <a:noFill/>
          <a:ln/>
        </p:spPr>
        <p:txBody>
          <a:bodyPr wrap="square" lIns="25400" tIns="25400" rIns="25400" bIns="25400" rtlCol="0" anchor="ctr">
            <a:normAutofit/>
          </a:bodyPr>
          <a:lstStyle/>
          <a:p>
            <a:pPr marL="0" indent="0" algn="ctr">
              <a:buNone/>
            </a:pPr>
            <a:r>
              <a:rPr lang="en-US" sz="1800" b="1" dirty="0">
                <a:solidFill>
                  <a:srgbClr val="C4CAD2"/>
                </a:solidFill>
                <a:latin typeface="Pretendard" pitchFamily="34" charset="0"/>
                <a:ea typeface="Pretendard" pitchFamily="34" charset="-122"/>
                <a:cs typeface="Pretendard" pitchFamily="34" charset="-120"/>
              </a:rPr>
              <a:t>›</a:t>
            </a:r>
            <a:endParaRPr lang="en-US" sz="1800" dirty="0"/>
          </a:p>
        </p:txBody>
      </p:sp>
      <p:sp>
        <p:nvSpPr>
          <p:cNvPr id="23" name="Shape 21"/>
          <p:cNvSpPr/>
          <p:nvPr/>
        </p:nvSpPr>
        <p:spPr>
          <a:xfrm>
            <a:off x="13354050" y="2822377"/>
            <a:ext cx="3695700" cy="1590675"/>
          </a:xfrm>
          <a:prstGeom prst="roundRect">
            <a:avLst>
              <a:gd name="adj" fmla="val 10778"/>
            </a:avLst>
          </a:prstGeom>
          <a:solidFill>
            <a:srgbClr val="EBFBF2"/>
          </a:solidFill>
          <a:ln/>
        </p:spPr>
        <p:txBody>
          <a:bodyPr/>
          <a:lstStyle/>
          <a:p>
            <a:endParaRPr lang="ko-KR" altLang="en-US"/>
          </a:p>
        </p:txBody>
      </p:sp>
      <p:sp>
        <p:nvSpPr>
          <p:cNvPr id="24" name="Shape 22"/>
          <p:cNvSpPr/>
          <p:nvPr/>
        </p:nvSpPr>
        <p:spPr>
          <a:xfrm>
            <a:off x="13620750" y="3162895"/>
            <a:ext cx="95250" cy="95250"/>
          </a:xfrm>
          <a:prstGeom prst="ellipse">
            <a:avLst/>
          </a:prstGeom>
          <a:solidFill>
            <a:srgbClr val="15C47E"/>
          </a:solidFill>
          <a:ln/>
        </p:spPr>
        <p:txBody>
          <a:bodyPr/>
          <a:lstStyle/>
          <a:p>
            <a:endParaRPr lang="ko-KR" altLang="en-US"/>
          </a:p>
        </p:txBody>
      </p:sp>
      <p:sp>
        <p:nvSpPr>
          <p:cNvPr id="25" name="Text 23"/>
          <p:cNvSpPr/>
          <p:nvPr/>
        </p:nvSpPr>
        <p:spPr>
          <a:xfrm>
            <a:off x="13792200" y="3089077"/>
            <a:ext cx="333375" cy="280988"/>
          </a:xfrm>
          <a:prstGeom prst="rect">
            <a:avLst/>
          </a:prstGeom>
          <a:noFill/>
          <a:ln/>
        </p:spPr>
        <p:txBody>
          <a:bodyPr wrap="square" lIns="25400" tIns="25400" rIns="25400" bIns="25400" rtlCol="0" anchor="t">
            <a:normAutofit/>
          </a:bodyPr>
          <a:lstStyle/>
          <a:p>
            <a:pPr marL="0" indent="0" algn="l">
              <a:buNone/>
            </a:pPr>
            <a:r>
              <a:rPr lang="en-US" sz="1350" b="1" dirty="0">
                <a:solidFill>
                  <a:srgbClr val="0F9D63"/>
                </a:solidFill>
                <a:latin typeface="Pretendard" pitchFamily="34" charset="0"/>
                <a:ea typeface="Pretendard" pitchFamily="34" charset="-122"/>
                <a:cs typeface="Pretendard" pitchFamily="34" charset="-120"/>
              </a:rPr>
              <a:t>Go</a:t>
            </a:r>
            <a:endParaRPr lang="en-US" sz="1350" dirty="0"/>
          </a:p>
        </p:txBody>
      </p:sp>
      <p:sp>
        <p:nvSpPr>
          <p:cNvPr id="26" name="Text 24"/>
          <p:cNvSpPr/>
          <p:nvPr/>
        </p:nvSpPr>
        <p:spPr>
          <a:xfrm>
            <a:off x="13620750" y="3465314"/>
            <a:ext cx="3478530" cy="30003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91F28"/>
                </a:solidFill>
                <a:latin typeface="Pretendard" pitchFamily="34" charset="0"/>
                <a:ea typeface="Pretendard" pitchFamily="34" charset="-122"/>
                <a:cs typeface="Pretendard" pitchFamily="34" charset="-120"/>
              </a:rPr>
              <a:t>REVIEW-040</a:t>
            </a:r>
            <a:endParaRPr lang="en-US" sz="1800" dirty="0"/>
          </a:p>
        </p:txBody>
      </p:sp>
      <p:sp>
        <p:nvSpPr>
          <p:cNvPr id="27" name="Text 25"/>
          <p:cNvSpPr/>
          <p:nvPr/>
        </p:nvSpPr>
        <p:spPr>
          <a:xfrm>
            <a:off x="13620750" y="3803452"/>
            <a:ext cx="3478530" cy="300038"/>
          </a:xfrm>
          <a:prstGeom prst="rect">
            <a:avLst/>
          </a:prstGeom>
          <a:noFill/>
          <a:ln/>
        </p:spPr>
        <p:txBody>
          <a:bodyPr wrap="square" lIns="25400" tIns="25400" rIns="25400" bIns="25400" rtlCol="0" anchor="t">
            <a:normAutofit/>
          </a:bodyPr>
          <a:lstStyle/>
          <a:p>
            <a:pPr marL="0" indent="0" algn="l">
              <a:buNone/>
            </a:pPr>
            <a:r>
              <a:rPr lang="en-US" sz="1425" dirty="0">
                <a:solidFill>
                  <a:srgbClr val="3E7A5E"/>
                </a:solidFill>
                <a:latin typeface="Pretendard" pitchFamily="34" charset="0"/>
                <a:ea typeface="Pretendard" pitchFamily="34" charset="-122"/>
                <a:cs typeface="Pretendard" pitchFamily="34" charset="-120"/>
              </a:rPr>
              <a:t>보안 7/7 + 사람 승인</a:t>
            </a:r>
            <a:endParaRPr lang="en-US" sz="1425" dirty="0"/>
          </a:p>
        </p:txBody>
      </p:sp>
      <p:sp>
        <p:nvSpPr>
          <p:cNvPr id="28" name="Shape 26"/>
          <p:cNvSpPr/>
          <p:nvPr/>
        </p:nvSpPr>
        <p:spPr>
          <a:xfrm>
            <a:off x="1238250" y="7905750"/>
            <a:ext cx="15811500" cy="1466850"/>
          </a:xfrm>
          <a:prstGeom prst="roundRect">
            <a:avLst>
              <a:gd name="adj" fmla="val 11688"/>
            </a:avLst>
          </a:prstGeom>
          <a:solidFill>
            <a:srgbClr val="F7F8FA"/>
          </a:solidFill>
          <a:ln/>
        </p:spPr>
        <p:txBody>
          <a:bodyPr/>
          <a:lstStyle/>
          <a:p>
            <a:endParaRPr lang="ko-KR" altLang="en-US"/>
          </a:p>
        </p:txBody>
      </p:sp>
      <p:sp>
        <p:nvSpPr>
          <p:cNvPr id="29" name="Text 27"/>
          <p:cNvSpPr/>
          <p:nvPr/>
        </p:nvSpPr>
        <p:spPr>
          <a:xfrm>
            <a:off x="1543050" y="8153400"/>
            <a:ext cx="16722090" cy="333375"/>
          </a:xfrm>
          <a:prstGeom prst="rect">
            <a:avLst/>
          </a:prstGeom>
          <a:noFill/>
          <a:ln/>
        </p:spPr>
        <p:txBody>
          <a:bodyPr wrap="square" lIns="25400" tIns="25400" rIns="25400" bIns="25400" rtlCol="0" anchor="t">
            <a:normAutofit/>
          </a:bodyPr>
          <a:lstStyle/>
          <a:p>
            <a:pPr marL="0" indent="0" algn="l">
              <a:buNone/>
            </a:pPr>
            <a:r>
              <a:rPr lang="en-US" sz="1575" b="1" dirty="0">
                <a:solidFill>
                  <a:srgbClr val="191F28"/>
                </a:solidFill>
                <a:latin typeface="Pretendard" pitchFamily="34" charset="0"/>
                <a:ea typeface="Pretendard" pitchFamily="34" charset="-122"/>
                <a:cs typeface="Pretendard" pitchFamily="34" charset="-120"/>
              </a:rPr>
              <a:t>REVIEW-038이 실제로 잡은 것</a:t>
            </a:r>
            <a:endParaRPr lang="en-US" sz="1575" dirty="0"/>
          </a:p>
        </p:txBody>
      </p:sp>
      <p:sp>
        <p:nvSpPr>
          <p:cNvPr id="30" name="Text 28"/>
          <p:cNvSpPr/>
          <p:nvPr/>
        </p:nvSpPr>
        <p:spPr>
          <a:xfrm>
            <a:off x="1543050" y="8582025"/>
            <a:ext cx="4957648"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4E5968"/>
                </a:solidFill>
                <a:latin typeface="Pretendard" pitchFamily="34" charset="0"/>
                <a:ea typeface="Pretendard" pitchFamily="34" charset="-122"/>
                <a:cs typeface="Pretendard" pitchFamily="34" charset="-120"/>
              </a:rPr>
              <a:t>공개 세션 트랙 오염 </a:t>
            </a:r>
            <a:r>
              <a:rPr lang="en-US" sz="1275" dirty="0">
                <a:solidFill>
                  <a:srgbClr val="8B95A1"/>
                </a:solidFill>
                <a:latin typeface="Pretendard" pitchFamily="34" charset="0"/>
                <a:ea typeface="Pretendard" pitchFamily="34" charset="-122"/>
                <a:cs typeface="Pretendard" pitchFamily="34" charset="-120"/>
              </a:rPr>
              <a:t>소유권 검증 누락</a:t>
            </a:r>
            <a:endParaRPr lang="en-US" sz="1425" dirty="0"/>
          </a:p>
        </p:txBody>
      </p:sp>
      <p:sp>
        <p:nvSpPr>
          <p:cNvPr id="31" name="Text 29"/>
          <p:cNvSpPr/>
          <p:nvPr/>
        </p:nvSpPr>
        <p:spPr>
          <a:xfrm>
            <a:off x="6737300" y="8582025"/>
            <a:ext cx="4957725"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4E5968"/>
                </a:solidFill>
                <a:latin typeface="Pretendard" pitchFamily="34" charset="0"/>
                <a:ea typeface="Pretendard" pitchFamily="34" charset="-122"/>
                <a:cs typeface="Pretendard" pitchFamily="34" charset="-120"/>
              </a:rPr>
              <a:t>신고 키 회전으로 자동숨김 우회 </a:t>
            </a:r>
            <a:r>
              <a:rPr lang="en-US" sz="1275" dirty="0">
                <a:solidFill>
                  <a:srgbClr val="8B95A1"/>
                </a:solidFill>
                <a:latin typeface="Pretendard" pitchFamily="34" charset="0"/>
                <a:ea typeface="Pretendard" pitchFamily="34" charset="-122"/>
                <a:cs typeface="Pretendard" pitchFamily="34" charset="-120"/>
              </a:rPr>
              <a:t>moderation 우회</a:t>
            </a:r>
            <a:endParaRPr lang="en-US" sz="1425" dirty="0"/>
          </a:p>
        </p:txBody>
      </p:sp>
      <p:sp>
        <p:nvSpPr>
          <p:cNvPr id="32" name="Text 30"/>
          <p:cNvSpPr/>
          <p:nvPr/>
        </p:nvSpPr>
        <p:spPr>
          <a:xfrm>
            <a:off x="11931625" y="8582025"/>
            <a:ext cx="4957725" cy="581025"/>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4E5968"/>
                </a:solidFill>
                <a:latin typeface="Pretendard" pitchFamily="34" charset="0"/>
                <a:ea typeface="Pretendard" pitchFamily="34" charset="-122"/>
                <a:cs typeface="Pretendard" pitchFamily="34" charset="-120"/>
              </a:rPr>
              <a:t>X-Forwarded-For 위조 </a:t>
            </a:r>
            <a:r>
              <a:rPr lang="en-US" sz="1275" dirty="0">
                <a:solidFill>
                  <a:srgbClr val="8B95A1"/>
                </a:solidFill>
                <a:latin typeface="Pretendard" pitchFamily="34" charset="0"/>
                <a:ea typeface="Pretendard" pitchFamily="34" charset="-122"/>
                <a:cs typeface="Pretendard" pitchFamily="34" charset="-120"/>
              </a:rPr>
              <a:t>레이트리밋 우회</a:t>
            </a:r>
            <a:endParaRPr lang="en-US" sz="1425" dirty="0"/>
          </a:p>
        </p:txBody>
      </p:sp>
      <p:sp>
        <p:nvSpPr>
          <p:cNvPr id="33" name="Text 31"/>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3817712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AI 활용 파이프라인</a:t>
            </a:r>
            <a:endParaRPr lang="en-US" sz="18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1238250" y="1390650"/>
            <a:ext cx="17392650" cy="59352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050" b="1" kern="0" spc="-122"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기획부터 배포까지, 7일</a:t>
            </a:r>
            <a:endParaRPr lang="en-US" sz="40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2060377"/>
            <a:ext cx="17392650" cy="371475"/>
          </a:xfrm>
          <a:prstGeom prst="rect">
            <a:avLst/>
          </a:prstGeom>
          <a:noFill/>
          <a:ln/>
        </p:spPr>
        <p:txBody>
          <a:bodyPr wrap="square" lIns="25400" tIns="25400" rIns="25400" bIns="25400" rtlCol="0" anchor="t">
            <a:normAutofit/>
          </a:bodyPr>
          <a:lstStyle/>
          <a:p>
            <a:pPr marL="0" indent="0" algn="l">
              <a:buNone/>
            </a:pPr>
            <a:r>
              <a:rPr lang="en-US" sz="18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작업지시서, 구현, 검증, 독립검토 루프를 매일 돌린 결과입니다.</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Shape 4"/>
          <p:cNvSpPr/>
          <p:nvPr/>
        </p:nvSpPr>
        <p:spPr>
          <a:xfrm>
            <a:off x="1238250" y="2641402"/>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1238250" y="2803327"/>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1</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2381250" y="2774752"/>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설계 확정</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7960370" y="2798564"/>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4-AI 적대적 토의로 라우트 3개 · 라이트 테마 결정</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8"/>
          <p:cNvSpPr/>
          <p:nvPr/>
        </p:nvSpPr>
        <p:spPr>
          <a:xfrm>
            <a:off x="14954250" y="2846189"/>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DEBATE 2 · 결정 기록</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9"/>
          <p:cNvSpPr/>
          <p:nvPr/>
        </p:nvSpPr>
        <p:spPr>
          <a:xfrm>
            <a:off x="1238250" y="3222427"/>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1238250" y="3384352"/>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2</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1"/>
          <p:cNvSpPr/>
          <p:nvPr/>
        </p:nvSpPr>
        <p:spPr>
          <a:xfrm>
            <a:off x="2381250" y="3355777"/>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개발 하네스 구축</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2"/>
          <p:cNvSpPr/>
          <p:nvPr/>
        </p:nvSpPr>
        <p:spPr>
          <a:xfrm>
            <a:off x="7960370" y="3379589"/>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검증_전체 · 루프_가드 · git 훅을 코드보다 먼저</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3"/>
          <p:cNvSpPr/>
          <p:nvPr/>
        </p:nvSpPr>
        <p:spPr>
          <a:xfrm>
            <a:off x="14954250" y="3427214"/>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검사 6종 가동</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Shape 14"/>
          <p:cNvSpPr/>
          <p:nvPr/>
        </p:nvSpPr>
        <p:spPr>
          <a:xfrm>
            <a:off x="1238250" y="3803452"/>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5"/>
          <p:cNvSpPr/>
          <p:nvPr/>
        </p:nvSpPr>
        <p:spPr>
          <a:xfrm>
            <a:off x="1238250" y="3965377"/>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3</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6"/>
          <p:cNvSpPr/>
          <p:nvPr/>
        </p:nvSpPr>
        <p:spPr>
          <a:xfrm>
            <a:off x="2381250" y="3936802"/>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스튜디오</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7"/>
          <p:cNvSpPr/>
          <p:nvPr/>
        </p:nvSpPr>
        <p:spPr>
          <a:xfrm>
            <a:off x="7960370" y="3960614"/>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악기 4종 · 코드 매트릭스 · Tone.js</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8"/>
          <p:cNvSpPr/>
          <p:nvPr/>
        </p:nvSpPr>
        <p:spPr>
          <a:xfrm>
            <a:off x="14954250" y="4008239"/>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단위 테스트 시작</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Shape 19"/>
          <p:cNvSpPr/>
          <p:nvPr/>
        </p:nvSpPr>
        <p:spPr>
          <a:xfrm>
            <a:off x="1238250" y="4384477"/>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20"/>
          <p:cNvSpPr/>
          <p:nvPr/>
        </p:nvSpPr>
        <p:spPr>
          <a:xfrm>
            <a:off x="1238250" y="4546402"/>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4</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1"/>
          <p:cNvSpPr/>
          <p:nvPr/>
        </p:nvSpPr>
        <p:spPr>
          <a:xfrm>
            <a:off x="2381250" y="4517827"/>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제스처 · 멀티트랙</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2"/>
          <p:cNvSpPr/>
          <p:nvPr/>
        </p:nvSpPr>
        <p:spPr>
          <a:xfrm>
            <a:off x="7960370" y="4541639"/>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MediaPipe 온디바이스 손 인식 · 트랙 레이어</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23"/>
          <p:cNvSpPr/>
          <p:nvPr/>
        </p:nvSpPr>
        <p:spPr>
          <a:xfrm>
            <a:off x="14954250" y="4589264"/>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클라 통합 6</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Shape 24"/>
          <p:cNvSpPr/>
          <p:nvPr/>
        </p:nvSpPr>
        <p:spPr>
          <a:xfrm>
            <a:off x="1238250" y="4965502"/>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5"/>
          <p:cNvSpPr/>
          <p:nvPr/>
        </p:nvSpPr>
        <p:spPr>
          <a:xfrm>
            <a:off x="1238250" y="5127427"/>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5</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6"/>
          <p:cNvSpPr/>
          <p:nvPr/>
        </p:nvSpPr>
        <p:spPr>
          <a:xfrm>
            <a:off x="2381250" y="5098852"/>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비동기 합주 백엔드</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27"/>
          <p:cNvSpPr/>
          <p:nvPr/>
        </p:nvSpPr>
        <p:spPr>
          <a:xfrm>
            <a:off x="7960370" y="5122664"/>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API · SQLite · 공유 코드 · 1.5초 폴링</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 28"/>
          <p:cNvSpPr/>
          <p:nvPr/>
        </p:nvSpPr>
        <p:spPr>
          <a:xfrm>
            <a:off x="14954250" y="5170289"/>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API 통합 12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Shape 29"/>
          <p:cNvSpPr/>
          <p:nvPr/>
        </p:nvSpPr>
        <p:spPr>
          <a:xfrm>
            <a:off x="1238250" y="5546527"/>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30"/>
          <p:cNvSpPr/>
          <p:nvPr/>
        </p:nvSpPr>
        <p:spPr>
          <a:xfrm>
            <a:off x="1238250" y="5708452"/>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Day 6</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1"/>
          <p:cNvSpPr/>
          <p:nvPr/>
        </p:nvSpPr>
        <p:spPr>
          <a:xfrm>
            <a:off x="2381250" y="5679877"/>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커뮤니티 · 보안</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2"/>
          <p:cNvSpPr/>
          <p:nvPr/>
        </p:nvSpPr>
        <p:spPr>
          <a:xfrm>
            <a:off x="7960370" y="5703689"/>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독립검토가 No-Go를 잡아 수정 후 Go · 보안 7/7</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3"/>
          <p:cNvSpPr/>
          <p:nvPr/>
        </p:nvSpPr>
        <p:spPr>
          <a:xfrm>
            <a:off x="14954250" y="5751314"/>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FF5247"/>
                </a:solidFill>
                <a:latin typeface="Pretendard" panose="02000503000000020004" pitchFamily="50" charset="-127"/>
                <a:ea typeface="Pretendard" panose="02000503000000020004" pitchFamily="50" charset="-127"/>
                <a:cs typeface="Pretendard" panose="02000503000000020004" pitchFamily="50" charset="-127"/>
              </a:rPr>
              <a:t>REVIEW 38 → 40</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4"/>
          <p:cNvSpPr/>
          <p:nvPr/>
        </p:nvSpPr>
        <p:spPr>
          <a:xfrm>
            <a:off x="1238250" y="6708577"/>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5"/>
          <p:cNvSpPr/>
          <p:nvPr/>
        </p:nvSpPr>
        <p:spPr>
          <a:xfrm>
            <a:off x="1238250" y="6127552"/>
            <a:ext cx="15811500" cy="9525"/>
          </a:xfrm>
          <a:prstGeom prst="rect">
            <a:avLst/>
          </a:prstGeom>
          <a:solidFill>
            <a:srgbClr val="ECEEF1"/>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6"/>
          <p:cNvSpPr/>
          <p:nvPr/>
        </p:nvSpPr>
        <p:spPr>
          <a:xfrm>
            <a:off x="1238250" y="6289477"/>
            <a:ext cx="990600"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15C47E"/>
                </a:solidFill>
                <a:latin typeface="Pretendard" panose="02000503000000020004" pitchFamily="50" charset="-127"/>
                <a:ea typeface="Pretendard" panose="02000503000000020004" pitchFamily="50" charset="-127"/>
                <a:cs typeface="Pretendard" panose="02000503000000020004" pitchFamily="50" charset="-127"/>
              </a:rPr>
              <a:t>Day 7</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7"/>
          <p:cNvSpPr/>
          <p:nvPr/>
        </p:nvSpPr>
        <p:spPr>
          <a:xfrm>
            <a:off x="2381250" y="6260902"/>
            <a:ext cx="5885572" cy="361950"/>
          </a:xfrm>
          <a:prstGeom prst="rect">
            <a:avLst/>
          </a:prstGeom>
          <a:noFill/>
          <a:ln/>
        </p:spPr>
        <p:txBody>
          <a:bodyPr wrap="square" lIns="25400" tIns="25400" rIns="25400" bIns="25400" rtlCol="0" anchor="t">
            <a:normAutofit/>
          </a:bodyPr>
          <a:lstStyle/>
          <a:p>
            <a:pPr marL="0" indent="0" algn="l">
              <a:buNone/>
            </a:pPr>
            <a:r>
              <a:rPr lang="en-US" sz="1725" b="1" dirty="0">
                <a:solidFill>
                  <a:srgbClr val="191F28"/>
                </a:solidFill>
                <a:latin typeface="Pretendard" panose="02000503000000020004" pitchFamily="50" charset="-127"/>
                <a:ea typeface="Pretendard" panose="02000503000000020004" pitchFamily="50" charset="-127"/>
                <a:cs typeface="Pretendard" panose="02000503000000020004" pitchFamily="50" charset="-127"/>
              </a:rPr>
              <a:t>배포 · 검증 · 제출</a:t>
            </a:r>
            <a:endParaRPr lang="en-US" sz="17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8"/>
          <p:cNvSpPr/>
          <p:nvPr/>
        </p:nvSpPr>
        <p:spPr>
          <a:xfrm>
            <a:off x="7960370" y="6284714"/>
            <a:ext cx="7651358" cy="314325"/>
          </a:xfrm>
          <a:prstGeom prst="rect">
            <a:avLst/>
          </a:prstGeom>
          <a:noFill/>
          <a:ln/>
        </p:spPr>
        <p:txBody>
          <a:bodyPr wrap="square" lIns="25400" tIns="25400" rIns="25400" bIns="25400" rtlCol="0" anchor="t">
            <a:normAutofit/>
          </a:bodyPr>
          <a:lstStyle/>
          <a:p>
            <a:pPr marL="0" indent="0" algn="l">
              <a:buNone/>
            </a:pPr>
            <a:r>
              <a:rPr lang="en-US" sz="1500" dirty="0">
                <a:solidFill>
                  <a:srgbClr val="4E5968"/>
                </a:solidFill>
                <a:latin typeface="Pretendard" panose="02000503000000020004" pitchFamily="50" charset="-127"/>
                <a:ea typeface="Pretendard" panose="02000503000000020004" pitchFamily="50" charset="-127"/>
                <a:cs typeface="Pretendard" panose="02000503000000020004" pitchFamily="50" charset="-127"/>
              </a:rPr>
              <a:t>AWS HTTPS · 아이폰 13·갤럭시 S23 실기기 9 · 토스 심사 제출</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9"/>
          <p:cNvSpPr/>
          <p:nvPr/>
        </p:nvSpPr>
        <p:spPr>
          <a:xfrm>
            <a:off x="14954250" y="6332339"/>
            <a:ext cx="2095500" cy="219075"/>
          </a:xfrm>
          <a:prstGeom prst="rect">
            <a:avLst/>
          </a:prstGeom>
          <a:noFill/>
          <a:ln/>
        </p:spPr>
        <p:txBody>
          <a:bodyPr wrap="square" lIns="25400" tIns="25400" rIns="25400" bIns="25400" rtlCol="0" anchor="t">
            <a:normAutofit lnSpcReduction="10000"/>
          </a:bodyPr>
          <a:lstStyle/>
          <a:p>
            <a:pPr marL="0" indent="0" algn="r">
              <a:buNone/>
            </a:pPr>
            <a:r>
              <a:rPr lang="en-US" sz="1200" dirty="0">
                <a:solidFill>
                  <a:srgbClr val="15C47E"/>
                </a:solidFill>
                <a:latin typeface="Pretendard" panose="02000503000000020004" pitchFamily="50" charset="-127"/>
                <a:ea typeface="Pretendard" panose="02000503000000020004" pitchFamily="50" charset="-127"/>
                <a:cs typeface="Pretendard" panose="02000503000000020004" pitchFamily="50" charset="-127"/>
              </a:rPr>
              <a:t>스모크 PASS</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40"/>
          <p:cNvSpPr/>
          <p:nvPr/>
        </p:nvSpPr>
        <p:spPr>
          <a:xfrm>
            <a:off x="1238250" y="9010650"/>
            <a:ext cx="1448023" cy="314325"/>
          </a:xfrm>
          <a:prstGeom prst="rect">
            <a:avLst/>
          </a:prstGeom>
          <a:noFill/>
          <a:ln/>
        </p:spPr>
        <p:txBody>
          <a:bodyPr wrap="square" lIns="25400" tIns="25400" rIns="25400" bIns="25400" rtlCol="0" anchor="t">
            <a:normAutofit/>
          </a:bodyPr>
          <a:lstStyle/>
          <a:p>
            <a:pPr marL="0" indent="0" algn="l">
              <a:buNone/>
            </a:pPr>
            <a:r>
              <a:rPr lang="en-US" sz="1500" b="1" dirty="0">
                <a:solidFill>
                  <a:srgbClr val="8B95A1"/>
                </a:solidFill>
                <a:latin typeface="Pretendard" panose="02000503000000020004" pitchFamily="50" charset="-127"/>
                <a:ea typeface="Pretendard" panose="02000503000000020004" pitchFamily="50" charset="-127"/>
                <a:cs typeface="Pretendard" panose="02000503000000020004" pitchFamily="50" charset="-127"/>
              </a:rPr>
              <a:t>7일 동안 쌓인 것</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1"/>
          <p:cNvSpPr/>
          <p:nvPr/>
        </p:nvSpPr>
        <p:spPr>
          <a:xfrm>
            <a:off x="2687985" y="8924925"/>
            <a:ext cx="1427113" cy="447675"/>
          </a:xfrm>
          <a:prstGeom prst="roundRect">
            <a:avLst>
              <a:gd name="adj" fmla="val 21277"/>
            </a:avLst>
          </a:prstGeom>
          <a:solidFill>
            <a:srgbClr val="F2F4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Text 42"/>
          <p:cNvSpPr/>
          <p:nvPr/>
        </p:nvSpPr>
        <p:spPr>
          <a:xfrm>
            <a:off x="2859435" y="9020175"/>
            <a:ext cx="1160413" cy="295275"/>
          </a:xfrm>
          <a:prstGeom prst="rect">
            <a:avLst/>
          </a:prstGeom>
          <a:noFill/>
          <a:ln/>
        </p:spPr>
        <p:txBody>
          <a:bodyPr wrap="square" lIns="25400" tIns="25400" rIns="25400" bIns="25400" rtlCol="0" anchor="t">
            <a:normAutofit/>
          </a:bodyPr>
          <a:lstStyle/>
          <a:p>
            <a:pPr marL="0" indent="0" algn="l">
              <a:buNone/>
            </a:pPr>
            <a:r>
              <a:rPr lang="en-US" sz="1425" b="1"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작업지시서 20</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Shape 43"/>
          <p:cNvSpPr/>
          <p:nvPr/>
        </p:nvSpPr>
        <p:spPr>
          <a:xfrm>
            <a:off x="4248448" y="8924925"/>
            <a:ext cx="1260574" cy="447675"/>
          </a:xfrm>
          <a:prstGeom prst="roundRect">
            <a:avLst>
              <a:gd name="adj" fmla="val 21277"/>
            </a:avLst>
          </a:prstGeom>
          <a:solidFill>
            <a:srgbClr val="F2F4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4"/>
          <p:cNvSpPr/>
          <p:nvPr/>
        </p:nvSpPr>
        <p:spPr>
          <a:xfrm>
            <a:off x="4419898" y="9020175"/>
            <a:ext cx="993874" cy="295275"/>
          </a:xfrm>
          <a:prstGeom prst="rect">
            <a:avLst/>
          </a:prstGeom>
          <a:noFill/>
          <a:ln/>
        </p:spPr>
        <p:txBody>
          <a:bodyPr wrap="square" lIns="25400" tIns="25400" rIns="25400" bIns="25400" rtlCol="0" anchor="t">
            <a:normAutofit/>
          </a:bodyPr>
          <a:lstStyle/>
          <a:p>
            <a:pPr marL="0" indent="0" algn="l">
              <a:buNone/>
            </a:pPr>
            <a:r>
              <a:rPr lang="en-US" sz="1425" b="1"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독립검토 27</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Shape 45"/>
          <p:cNvSpPr/>
          <p:nvPr/>
        </p:nvSpPr>
        <p:spPr>
          <a:xfrm>
            <a:off x="5642372" y="8924925"/>
            <a:ext cx="1179165" cy="447675"/>
          </a:xfrm>
          <a:prstGeom prst="roundRect">
            <a:avLst>
              <a:gd name="adj" fmla="val 21277"/>
            </a:avLst>
          </a:prstGeom>
          <a:solidFill>
            <a:srgbClr val="F2F4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46"/>
          <p:cNvSpPr/>
          <p:nvPr/>
        </p:nvSpPr>
        <p:spPr>
          <a:xfrm>
            <a:off x="5813822" y="9020175"/>
            <a:ext cx="912465" cy="295275"/>
          </a:xfrm>
          <a:prstGeom prst="rect">
            <a:avLst/>
          </a:prstGeom>
          <a:noFill/>
          <a:ln/>
        </p:spPr>
        <p:txBody>
          <a:bodyPr wrap="square" lIns="25400" tIns="25400" rIns="25400" bIns="25400" rtlCol="0" anchor="t">
            <a:normAutofit fontScale="92500"/>
          </a:bodyPr>
          <a:lstStyle/>
          <a:p>
            <a:pPr marL="0" indent="0" algn="l">
              <a:buNone/>
            </a:pPr>
            <a:r>
              <a:rPr lang="en-US" sz="1425" b="1"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단위 58/58</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9" name="Shape 47"/>
          <p:cNvSpPr/>
          <p:nvPr/>
        </p:nvSpPr>
        <p:spPr>
          <a:xfrm>
            <a:off x="6954887" y="8924925"/>
            <a:ext cx="1179165" cy="447675"/>
          </a:xfrm>
          <a:prstGeom prst="roundRect">
            <a:avLst>
              <a:gd name="adj" fmla="val 21277"/>
            </a:avLst>
          </a:prstGeom>
          <a:solidFill>
            <a:srgbClr val="F2F4F6"/>
          </a:solidFill>
          <a:ln/>
        </p:spPr>
        <p:txBody>
          <a:bodyPr/>
          <a:lstStyle/>
          <a:p>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48"/>
          <p:cNvSpPr/>
          <p:nvPr/>
        </p:nvSpPr>
        <p:spPr>
          <a:xfrm>
            <a:off x="7126337" y="9020175"/>
            <a:ext cx="912465" cy="295275"/>
          </a:xfrm>
          <a:prstGeom prst="rect">
            <a:avLst/>
          </a:prstGeom>
          <a:noFill/>
          <a:ln/>
        </p:spPr>
        <p:txBody>
          <a:bodyPr wrap="square" lIns="25400" tIns="25400" rIns="25400" bIns="25400" rtlCol="0" anchor="t">
            <a:normAutofit fontScale="92500"/>
          </a:bodyPr>
          <a:lstStyle/>
          <a:p>
            <a:pPr marL="0" indent="0" algn="l">
              <a:buNone/>
            </a:pPr>
            <a:r>
              <a:rPr lang="en-US" sz="1425" b="1" dirty="0">
                <a:solidFill>
                  <a:srgbClr val="3D4452"/>
                </a:solidFill>
                <a:latin typeface="Pretendard" panose="02000503000000020004" pitchFamily="50" charset="-127"/>
                <a:ea typeface="Pretendard" panose="02000503000000020004" pitchFamily="50" charset="-127"/>
                <a:cs typeface="Pretendard" panose="02000503000000020004" pitchFamily="50" charset="-127"/>
              </a:rPr>
              <a:t>통합 34/34</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Text 49"/>
          <p:cNvSpPr/>
          <p:nvPr/>
        </p:nvSpPr>
        <p:spPr>
          <a:xfrm>
            <a:off x="15098316" y="9005888"/>
            <a:ext cx="2146578" cy="323850"/>
          </a:xfrm>
          <a:prstGeom prst="rect">
            <a:avLst/>
          </a:prstGeom>
          <a:noFill/>
          <a:ln/>
        </p:spPr>
        <p:txBody>
          <a:bodyPr wrap="square" lIns="25400" tIns="25400" rIns="25400" bIns="25400" rtlCol="0" anchor="t">
            <a:normAutofit/>
          </a:bodyPr>
          <a:lstStyle/>
          <a:p>
            <a:pPr marL="0" indent="0" algn="l">
              <a:buNone/>
            </a:pPr>
            <a:r>
              <a:rPr lang="en-US" sz="1575" b="1" dirty="0">
                <a:solidFill>
                  <a:srgbClr val="3182F6"/>
                </a:solidFill>
                <a:latin typeface="Pretendard" panose="02000503000000020004" pitchFamily="50" charset="-127"/>
                <a:ea typeface="Pretendard" panose="02000503000000020004" pitchFamily="50" charset="-127"/>
                <a:cs typeface="Pretendard" panose="02000503000000020004" pitchFamily="50" charset="-127"/>
              </a:rPr>
              <a:t>파이프라인이 만든 속도</a:t>
            </a:r>
            <a:endParaRPr lang="en-US" sz="1575"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50"/>
          <p:cNvSpPr/>
          <p:nvPr/>
        </p:nvSpPr>
        <p:spPr>
          <a:xfrm>
            <a:off x="1238250" y="9496425"/>
            <a:ext cx="2091571" cy="295275"/>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anose="02000503000000020004" pitchFamily="50" charset="-127"/>
                <a:ea typeface="Pretendard" panose="02000503000000020004" pitchFamily="50" charset="-127"/>
                <a:cs typeface="Pretendard" panose="02000503000000020004" pitchFamily="50" charset="-127"/>
              </a:rPr>
              <a:t>하모니 · 앱인토스 미니앱</a:t>
            </a:r>
            <a:endParaRPr lang="en-US" sz="1425"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19022" y="33548"/>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AI 활용 파이프라인</a:t>
            </a:r>
            <a:endParaRPr lang="en-US" sz="1875" dirty="0"/>
          </a:p>
        </p:txBody>
      </p:sp>
      <p:sp>
        <p:nvSpPr>
          <p:cNvPr id="4" name="Text 2"/>
          <p:cNvSpPr/>
          <p:nvPr/>
        </p:nvSpPr>
        <p:spPr>
          <a:xfrm>
            <a:off x="1238250" y="1390650"/>
            <a:ext cx="17392650" cy="57298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b="1" kern="0" spc="-117" dirty="0">
                <a:solidFill>
                  <a:srgbClr val="191F28"/>
                </a:solidFill>
                <a:latin typeface="Pretendard Black" panose="02000A03000000020004" pitchFamily="50" charset="-127"/>
                <a:ea typeface="Pretendard Black" panose="02000A03000000020004" pitchFamily="50" charset="-127"/>
                <a:cs typeface="Pretendard Black" panose="02000A03000000020004" pitchFamily="50" charset="-127"/>
              </a:rPr>
              <a:t>한 번 지은 AI 개발 공장을, 다음 앱에 통째로</a:t>
            </a:r>
            <a:endParaRPr lang="en-US" sz="39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3201888"/>
            <a:ext cx="8803065"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8B95A1"/>
                </a:solidFill>
                <a:latin typeface="Pretendard" pitchFamily="34" charset="0"/>
                <a:ea typeface="Pretendard" pitchFamily="34" charset="-122"/>
                <a:cs typeface="Pretendard" pitchFamily="34" charset="-120"/>
              </a:rPr>
              <a:t>이번 프로젝트가 남긴 재사용 자산</a:t>
            </a:r>
            <a:endParaRPr lang="en-US" sz="1725" dirty="0"/>
          </a:p>
        </p:txBody>
      </p:sp>
      <p:grpSp>
        <p:nvGrpSpPr>
          <p:cNvPr id="33" name="그룹 32">
            <a:extLst>
              <a:ext uri="{FF2B5EF4-FFF2-40B4-BE49-F238E27FC236}">
                <a16:creationId xmlns:a16="http://schemas.microsoft.com/office/drawing/2014/main" id="{3287D666-1A15-7F01-1E66-FA0F8E42C67B}"/>
              </a:ext>
            </a:extLst>
          </p:cNvPr>
          <p:cNvGrpSpPr/>
          <p:nvPr/>
        </p:nvGrpSpPr>
        <p:grpSpPr>
          <a:xfrm>
            <a:off x="1223736" y="3638987"/>
            <a:ext cx="8205986" cy="3395663"/>
            <a:chOff x="1238250" y="2773263"/>
            <a:chExt cx="8205986" cy="3395663"/>
          </a:xfrm>
        </p:grpSpPr>
        <p:sp>
          <p:nvSpPr>
            <p:cNvPr id="6" name="Shape 4"/>
            <p:cNvSpPr/>
            <p:nvPr/>
          </p:nvSpPr>
          <p:spPr>
            <a:xfrm>
              <a:off x="1238250" y="2773263"/>
              <a:ext cx="8002786" cy="9525"/>
            </a:xfrm>
            <a:prstGeom prst="rect">
              <a:avLst/>
            </a:prstGeom>
            <a:solidFill>
              <a:srgbClr val="E5E8EB"/>
            </a:solidFill>
            <a:ln/>
          </p:spPr>
          <p:txBody>
            <a:bodyPr/>
            <a:lstStyle/>
            <a:p>
              <a:endParaRPr lang="ko-KR" altLang="en-US"/>
            </a:p>
          </p:txBody>
        </p:sp>
        <p:sp>
          <p:nvSpPr>
            <p:cNvPr id="7" name="Text 5"/>
            <p:cNvSpPr/>
            <p:nvPr/>
          </p:nvSpPr>
          <p:spPr>
            <a:xfrm>
              <a:off x="1238250" y="2975670"/>
              <a:ext cx="1618283" cy="342900"/>
            </a:xfrm>
            <a:prstGeom prst="rect">
              <a:avLst/>
            </a:prstGeom>
            <a:noFill/>
            <a:ln/>
          </p:spPr>
          <p:txBody>
            <a:bodyPr wrap="square" lIns="25400" tIns="25400" rIns="25400" bIns="25400" rtlCol="0" anchor="t">
              <a:normAutofit/>
            </a:bodyPr>
            <a:lstStyle/>
            <a:p>
              <a:pPr marL="0" indent="0" algn="l">
                <a:buNone/>
              </a:pPr>
              <a:r>
                <a:rPr lang="en-US" sz="1650" dirty="0">
                  <a:solidFill>
                    <a:srgbClr val="191F28"/>
                  </a:solidFill>
                  <a:latin typeface="Pretendard" pitchFamily="34" charset="0"/>
                  <a:ea typeface="Pretendard" pitchFamily="34" charset="-122"/>
                  <a:cs typeface="Pretendard" pitchFamily="34" charset="-120"/>
                </a:rPr>
                <a:t>AI 작업자 설명서</a:t>
              </a:r>
              <a:endParaRPr lang="en-US" sz="1650" dirty="0"/>
            </a:p>
          </p:txBody>
        </p:sp>
        <p:sp>
          <p:nvSpPr>
            <p:cNvPr id="8" name="Text 6"/>
            <p:cNvSpPr/>
            <p:nvPr/>
          </p:nvSpPr>
          <p:spPr>
            <a:xfrm>
              <a:off x="8859813" y="2925663"/>
              <a:ext cx="457423" cy="442913"/>
            </a:xfrm>
            <a:prstGeom prst="rect">
              <a:avLst/>
            </a:prstGeom>
            <a:noFill/>
            <a:ln/>
          </p:spPr>
          <p:txBody>
            <a:bodyPr wrap="square" lIns="25400" tIns="25400" rIns="25400" bIns="25400" rtlCol="0" anchor="t">
              <a:normAutofit/>
            </a:bodyPr>
            <a:lstStyle/>
            <a:p>
              <a:pPr marL="0" indent="0" algn="l">
                <a:buNone/>
              </a:pPr>
              <a:r>
                <a:rPr lang="en-US" sz="2250" b="1" dirty="0">
                  <a:solidFill>
                    <a:srgbClr val="3182F6"/>
                  </a:solidFill>
                  <a:latin typeface="Pretendard" pitchFamily="34" charset="0"/>
                  <a:ea typeface="Pretendard" pitchFamily="34" charset="-122"/>
                  <a:cs typeface="Pretendard" pitchFamily="34" charset="-120"/>
                </a:rPr>
                <a:t>11</a:t>
              </a:r>
              <a:endParaRPr lang="en-US" sz="2250" dirty="0"/>
            </a:p>
          </p:txBody>
        </p:sp>
        <p:sp>
          <p:nvSpPr>
            <p:cNvPr id="9" name="Shape 7"/>
            <p:cNvSpPr/>
            <p:nvPr/>
          </p:nvSpPr>
          <p:spPr>
            <a:xfrm>
              <a:off x="1238250" y="3473351"/>
              <a:ext cx="8002786" cy="9525"/>
            </a:xfrm>
            <a:prstGeom prst="rect">
              <a:avLst/>
            </a:prstGeom>
            <a:solidFill>
              <a:srgbClr val="E5E8EB"/>
            </a:solidFill>
            <a:ln/>
          </p:spPr>
          <p:txBody>
            <a:bodyPr/>
            <a:lstStyle/>
            <a:p>
              <a:endParaRPr lang="ko-KR" altLang="en-US"/>
            </a:p>
          </p:txBody>
        </p:sp>
        <p:sp>
          <p:nvSpPr>
            <p:cNvPr id="10" name="Text 8"/>
            <p:cNvSpPr/>
            <p:nvPr/>
          </p:nvSpPr>
          <p:spPr>
            <a:xfrm>
              <a:off x="1238250" y="3675757"/>
              <a:ext cx="1098352" cy="342900"/>
            </a:xfrm>
            <a:prstGeom prst="rect">
              <a:avLst/>
            </a:prstGeom>
            <a:noFill/>
            <a:ln/>
          </p:spPr>
          <p:txBody>
            <a:bodyPr wrap="square" lIns="25400" tIns="25400" rIns="25400" bIns="25400" rtlCol="0" anchor="t">
              <a:normAutofit/>
            </a:bodyPr>
            <a:lstStyle/>
            <a:p>
              <a:pPr marL="0" indent="0" algn="l">
                <a:buNone/>
              </a:pPr>
              <a:r>
                <a:rPr lang="en-US" sz="1650" dirty="0">
                  <a:solidFill>
                    <a:srgbClr val="191F28"/>
                  </a:solidFill>
                  <a:latin typeface="Pretendard" pitchFamily="34" charset="0"/>
                  <a:ea typeface="Pretendard" pitchFamily="34" charset="-122"/>
                  <a:cs typeface="Pretendard" pitchFamily="34" charset="-120"/>
                </a:rPr>
                <a:t>자동화 스킬</a:t>
              </a:r>
              <a:endParaRPr lang="en-US" sz="1650" dirty="0"/>
            </a:p>
          </p:txBody>
        </p:sp>
        <p:sp>
          <p:nvSpPr>
            <p:cNvPr id="11" name="Text 9"/>
            <p:cNvSpPr/>
            <p:nvPr/>
          </p:nvSpPr>
          <p:spPr>
            <a:xfrm>
              <a:off x="8859813" y="3625751"/>
              <a:ext cx="457423" cy="442913"/>
            </a:xfrm>
            <a:prstGeom prst="rect">
              <a:avLst/>
            </a:prstGeom>
            <a:noFill/>
            <a:ln/>
          </p:spPr>
          <p:txBody>
            <a:bodyPr wrap="square" lIns="25400" tIns="25400" rIns="25400" bIns="25400" rtlCol="0" anchor="t">
              <a:normAutofit/>
            </a:bodyPr>
            <a:lstStyle/>
            <a:p>
              <a:pPr marL="0" indent="0" algn="l">
                <a:buNone/>
              </a:pPr>
              <a:r>
                <a:rPr lang="en-US" sz="2250" b="1" dirty="0">
                  <a:solidFill>
                    <a:srgbClr val="3182F6"/>
                  </a:solidFill>
                  <a:latin typeface="Pretendard" pitchFamily="34" charset="0"/>
                  <a:ea typeface="Pretendard" pitchFamily="34" charset="-122"/>
                  <a:cs typeface="Pretendard" pitchFamily="34" charset="-120"/>
                </a:rPr>
                <a:t>10</a:t>
              </a:r>
              <a:endParaRPr lang="en-US" sz="2250" dirty="0"/>
            </a:p>
          </p:txBody>
        </p:sp>
        <p:sp>
          <p:nvSpPr>
            <p:cNvPr id="12" name="Shape 10"/>
            <p:cNvSpPr/>
            <p:nvPr/>
          </p:nvSpPr>
          <p:spPr>
            <a:xfrm>
              <a:off x="1238250" y="4173438"/>
              <a:ext cx="8002786" cy="9525"/>
            </a:xfrm>
            <a:prstGeom prst="rect">
              <a:avLst/>
            </a:prstGeom>
            <a:solidFill>
              <a:srgbClr val="E5E8EB"/>
            </a:solidFill>
            <a:ln/>
          </p:spPr>
          <p:txBody>
            <a:bodyPr/>
            <a:lstStyle/>
            <a:p>
              <a:endParaRPr lang="ko-KR" altLang="en-US"/>
            </a:p>
          </p:txBody>
        </p:sp>
        <p:sp>
          <p:nvSpPr>
            <p:cNvPr id="13" name="Text 11"/>
            <p:cNvSpPr/>
            <p:nvPr/>
          </p:nvSpPr>
          <p:spPr>
            <a:xfrm>
              <a:off x="1238250" y="4375845"/>
              <a:ext cx="654621" cy="342900"/>
            </a:xfrm>
            <a:prstGeom prst="rect">
              <a:avLst/>
            </a:prstGeom>
            <a:noFill/>
            <a:ln/>
          </p:spPr>
          <p:txBody>
            <a:bodyPr wrap="square" lIns="25400" tIns="25400" rIns="25400" bIns="25400" rtlCol="0" anchor="t">
              <a:normAutofit/>
            </a:bodyPr>
            <a:lstStyle/>
            <a:p>
              <a:pPr marL="0" indent="0" algn="l">
                <a:buNone/>
              </a:pPr>
              <a:r>
                <a:rPr lang="en-US" sz="1650" dirty="0">
                  <a:solidFill>
                    <a:srgbClr val="191F28"/>
                  </a:solidFill>
                  <a:latin typeface="Pretendard" pitchFamily="34" charset="0"/>
                  <a:ea typeface="Pretendard" pitchFamily="34" charset="-122"/>
                  <a:cs typeface="Pretendard" pitchFamily="34" charset="-120"/>
                </a:rPr>
                <a:t>규칙서</a:t>
              </a:r>
              <a:endParaRPr lang="en-US" sz="1650" dirty="0"/>
            </a:p>
          </p:txBody>
        </p:sp>
        <p:sp>
          <p:nvSpPr>
            <p:cNvPr id="14" name="Text 12"/>
            <p:cNvSpPr/>
            <p:nvPr/>
          </p:nvSpPr>
          <p:spPr>
            <a:xfrm>
              <a:off x="8910687" y="4325838"/>
              <a:ext cx="266849" cy="442913"/>
            </a:xfrm>
            <a:prstGeom prst="rect">
              <a:avLst/>
            </a:prstGeom>
            <a:noFill/>
            <a:ln/>
          </p:spPr>
          <p:txBody>
            <a:bodyPr wrap="square" lIns="25400" tIns="25400" rIns="25400" bIns="25400" rtlCol="0" anchor="t">
              <a:normAutofit/>
            </a:bodyPr>
            <a:lstStyle/>
            <a:p>
              <a:pPr marL="0" indent="0" algn="l">
                <a:buNone/>
              </a:pPr>
              <a:r>
                <a:rPr lang="en-US" sz="2250" b="1" dirty="0">
                  <a:solidFill>
                    <a:srgbClr val="3182F6"/>
                  </a:solidFill>
                  <a:latin typeface="Pretendard" pitchFamily="34" charset="0"/>
                  <a:ea typeface="Pretendard" pitchFamily="34" charset="-122"/>
                  <a:cs typeface="Pretendard" pitchFamily="34" charset="-120"/>
                </a:rPr>
                <a:t>4</a:t>
              </a:r>
              <a:endParaRPr lang="en-US" sz="2250" dirty="0"/>
            </a:p>
          </p:txBody>
        </p:sp>
        <p:sp>
          <p:nvSpPr>
            <p:cNvPr id="15" name="Shape 13"/>
            <p:cNvSpPr/>
            <p:nvPr/>
          </p:nvSpPr>
          <p:spPr>
            <a:xfrm>
              <a:off x="1238250" y="4873526"/>
              <a:ext cx="8002786" cy="9525"/>
            </a:xfrm>
            <a:prstGeom prst="rect">
              <a:avLst/>
            </a:prstGeom>
            <a:solidFill>
              <a:srgbClr val="E5E8EB"/>
            </a:solidFill>
            <a:ln/>
          </p:spPr>
          <p:txBody>
            <a:bodyPr/>
            <a:lstStyle/>
            <a:p>
              <a:endParaRPr lang="ko-KR" altLang="en-US"/>
            </a:p>
          </p:txBody>
        </p:sp>
        <p:sp>
          <p:nvSpPr>
            <p:cNvPr id="16" name="Text 14"/>
            <p:cNvSpPr/>
            <p:nvPr/>
          </p:nvSpPr>
          <p:spPr>
            <a:xfrm>
              <a:off x="1238250" y="5075932"/>
              <a:ext cx="1824640" cy="342900"/>
            </a:xfrm>
            <a:prstGeom prst="rect">
              <a:avLst/>
            </a:prstGeom>
            <a:noFill/>
            <a:ln/>
          </p:spPr>
          <p:txBody>
            <a:bodyPr wrap="square" lIns="25400" tIns="25400" rIns="25400" bIns="25400" rtlCol="0" anchor="t">
              <a:normAutofit/>
            </a:bodyPr>
            <a:lstStyle/>
            <a:p>
              <a:pPr marL="0" indent="0" algn="l">
                <a:buNone/>
              </a:pPr>
              <a:r>
                <a:rPr lang="en-US" sz="1650" dirty="0">
                  <a:solidFill>
                    <a:srgbClr val="191F28"/>
                  </a:solidFill>
                  <a:latin typeface="Pretendard" pitchFamily="34" charset="0"/>
                  <a:ea typeface="Pretendard" pitchFamily="34" charset="-122"/>
                  <a:cs typeface="Pretendard" pitchFamily="34" charset="-120"/>
                </a:rPr>
                <a:t>자동 점검 스크립트</a:t>
              </a:r>
              <a:endParaRPr lang="en-US" sz="1650" dirty="0"/>
            </a:p>
          </p:txBody>
        </p:sp>
        <p:sp>
          <p:nvSpPr>
            <p:cNvPr id="17" name="Text 15"/>
            <p:cNvSpPr/>
            <p:nvPr/>
          </p:nvSpPr>
          <p:spPr>
            <a:xfrm>
              <a:off x="8859813" y="5025926"/>
              <a:ext cx="457423" cy="442913"/>
            </a:xfrm>
            <a:prstGeom prst="rect">
              <a:avLst/>
            </a:prstGeom>
            <a:noFill/>
            <a:ln/>
          </p:spPr>
          <p:txBody>
            <a:bodyPr wrap="square" lIns="25400" tIns="25400" rIns="25400" bIns="25400" rtlCol="0" anchor="t">
              <a:normAutofit/>
            </a:bodyPr>
            <a:lstStyle/>
            <a:p>
              <a:pPr marL="0" indent="0" algn="l">
                <a:buNone/>
              </a:pPr>
              <a:r>
                <a:rPr lang="en-US" sz="2250" b="1" dirty="0">
                  <a:solidFill>
                    <a:srgbClr val="3182F6"/>
                  </a:solidFill>
                  <a:latin typeface="Pretendard" pitchFamily="34" charset="0"/>
                  <a:ea typeface="Pretendard" pitchFamily="34" charset="-122"/>
                  <a:cs typeface="Pretendard" pitchFamily="34" charset="-120"/>
                </a:rPr>
                <a:t>12</a:t>
              </a:r>
              <a:endParaRPr lang="en-US" sz="2250" dirty="0"/>
            </a:p>
          </p:txBody>
        </p:sp>
        <p:sp>
          <p:nvSpPr>
            <p:cNvPr id="18" name="Shape 16"/>
            <p:cNvSpPr/>
            <p:nvPr/>
          </p:nvSpPr>
          <p:spPr>
            <a:xfrm>
              <a:off x="1238250" y="5573613"/>
              <a:ext cx="8002786" cy="9525"/>
            </a:xfrm>
            <a:prstGeom prst="rect">
              <a:avLst/>
            </a:prstGeom>
            <a:solidFill>
              <a:srgbClr val="E5E8EB"/>
            </a:solidFill>
            <a:ln/>
          </p:spPr>
          <p:txBody>
            <a:bodyPr/>
            <a:lstStyle/>
            <a:p>
              <a:endParaRPr lang="ko-KR" altLang="en-US"/>
            </a:p>
          </p:txBody>
        </p:sp>
        <p:sp>
          <p:nvSpPr>
            <p:cNvPr id="19" name="Text 17"/>
            <p:cNvSpPr/>
            <p:nvPr/>
          </p:nvSpPr>
          <p:spPr>
            <a:xfrm>
              <a:off x="1238250" y="5776020"/>
              <a:ext cx="1583903" cy="342900"/>
            </a:xfrm>
            <a:prstGeom prst="rect">
              <a:avLst/>
            </a:prstGeom>
            <a:noFill/>
            <a:ln/>
          </p:spPr>
          <p:txBody>
            <a:bodyPr wrap="square" lIns="25400" tIns="25400" rIns="25400" bIns="25400" rtlCol="0" anchor="t">
              <a:normAutofit/>
            </a:bodyPr>
            <a:lstStyle/>
            <a:p>
              <a:pPr marL="0" indent="0" algn="l">
                <a:buNone/>
              </a:pPr>
              <a:r>
                <a:rPr lang="en-US" sz="1650" dirty="0">
                  <a:solidFill>
                    <a:srgbClr val="191F28"/>
                  </a:solidFill>
                  <a:latin typeface="Pretendard" pitchFamily="34" charset="0"/>
                  <a:ea typeface="Pretendard" pitchFamily="34" charset="-122"/>
                  <a:cs typeface="Pretendard" pitchFamily="34" charset="-120"/>
                </a:rPr>
                <a:t>git 훅 · CI · 헌장</a:t>
              </a:r>
              <a:endParaRPr lang="en-US" sz="1650" dirty="0"/>
            </a:p>
          </p:txBody>
        </p:sp>
        <p:sp>
          <p:nvSpPr>
            <p:cNvPr id="20" name="Text 18"/>
            <p:cNvSpPr/>
            <p:nvPr/>
          </p:nvSpPr>
          <p:spPr>
            <a:xfrm>
              <a:off x="8224441" y="5726013"/>
              <a:ext cx="1219795" cy="442913"/>
            </a:xfrm>
            <a:prstGeom prst="rect">
              <a:avLst/>
            </a:prstGeom>
            <a:noFill/>
            <a:ln/>
          </p:spPr>
          <p:txBody>
            <a:bodyPr wrap="square" lIns="25400" tIns="25400" rIns="25400" bIns="25400" rtlCol="0" anchor="t">
              <a:normAutofit/>
            </a:bodyPr>
            <a:lstStyle/>
            <a:p>
              <a:pPr marL="0" indent="0" algn="l">
                <a:buNone/>
              </a:pPr>
              <a:r>
                <a:rPr lang="en-US" sz="2250" b="1" dirty="0">
                  <a:solidFill>
                    <a:srgbClr val="3182F6"/>
                  </a:solidFill>
                  <a:latin typeface="Pretendard" pitchFamily="34" charset="0"/>
                  <a:ea typeface="Pretendard" pitchFamily="34" charset="-122"/>
                  <a:cs typeface="Pretendard" pitchFamily="34" charset="-120"/>
                </a:rPr>
                <a:t>2 · 1 · 3</a:t>
              </a:r>
              <a:endParaRPr lang="en-US" sz="2250" dirty="0"/>
            </a:p>
          </p:txBody>
        </p:sp>
      </p:grpSp>
      <p:grpSp>
        <p:nvGrpSpPr>
          <p:cNvPr id="34" name="그룹 33">
            <a:extLst>
              <a:ext uri="{FF2B5EF4-FFF2-40B4-BE49-F238E27FC236}">
                <a16:creationId xmlns:a16="http://schemas.microsoft.com/office/drawing/2014/main" id="{02A0D895-B5E9-1D2D-89DC-B80522A54C99}"/>
              </a:ext>
            </a:extLst>
          </p:cNvPr>
          <p:cNvGrpSpPr/>
          <p:nvPr/>
        </p:nvGrpSpPr>
        <p:grpSpPr>
          <a:xfrm>
            <a:off x="9759922" y="3179406"/>
            <a:ext cx="8002845" cy="4314825"/>
            <a:chOff x="9774436" y="3672632"/>
            <a:chExt cx="8002845" cy="4314825"/>
          </a:xfrm>
        </p:grpSpPr>
        <p:sp>
          <p:nvSpPr>
            <p:cNvPr id="21" name="Text 19"/>
            <p:cNvSpPr/>
            <p:nvPr/>
          </p:nvSpPr>
          <p:spPr>
            <a:xfrm>
              <a:off x="9774436" y="3672632"/>
              <a:ext cx="8002845" cy="352425"/>
            </a:xfrm>
            <a:prstGeom prst="rect">
              <a:avLst/>
            </a:prstGeom>
            <a:noFill/>
            <a:ln/>
          </p:spPr>
          <p:txBody>
            <a:bodyPr wrap="square" lIns="25400" tIns="25400" rIns="25400" bIns="25400" rtlCol="0" anchor="t">
              <a:normAutofit/>
            </a:bodyPr>
            <a:lstStyle/>
            <a:p>
              <a:pPr marL="0" indent="0" algn="l">
                <a:buNone/>
              </a:pPr>
              <a:r>
                <a:rPr lang="en-US" sz="1725" b="1" dirty="0">
                  <a:solidFill>
                    <a:srgbClr val="8B95A1"/>
                  </a:solidFill>
                  <a:latin typeface="Pretendard" pitchFamily="34" charset="0"/>
                  <a:ea typeface="Pretendard" pitchFamily="34" charset="-122"/>
                  <a:cs typeface="Pretendard" pitchFamily="34" charset="-120"/>
                </a:rPr>
                <a:t>다음 앱은 이렇게 시작합니다</a:t>
              </a:r>
              <a:endParaRPr lang="en-US" sz="1725" dirty="0"/>
            </a:p>
          </p:txBody>
        </p:sp>
        <p:sp>
          <p:nvSpPr>
            <p:cNvPr id="22" name="Shape 20"/>
            <p:cNvSpPr/>
            <p:nvPr/>
          </p:nvSpPr>
          <p:spPr>
            <a:xfrm>
              <a:off x="9774436" y="4158407"/>
              <a:ext cx="7275314" cy="647700"/>
            </a:xfrm>
            <a:prstGeom prst="roundRect">
              <a:avLst>
                <a:gd name="adj" fmla="val 20588"/>
              </a:avLst>
            </a:prstGeom>
            <a:solidFill>
              <a:srgbClr val="F7F8FA"/>
            </a:solidFill>
            <a:ln/>
          </p:spPr>
          <p:txBody>
            <a:bodyPr/>
            <a:lstStyle/>
            <a:p>
              <a:endParaRPr lang="ko-KR" altLang="en-US"/>
            </a:p>
          </p:txBody>
        </p:sp>
        <p:sp>
          <p:nvSpPr>
            <p:cNvPr id="23" name="Text 21"/>
            <p:cNvSpPr/>
            <p:nvPr/>
          </p:nvSpPr>
          <p:spPr>
            <a:xfrm>
              <a:off x="10003036" y="4329857"/>
              <a:ext cx="703637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91F28"/>
                  </a:solidFill>
                  <a:latin typeface="Pretendard" pitchFamily="34" charset="0"/>
                  <a:ea typeface="Pretendard" pitchFamily="34" charset="-122"/>
                  <a:cs typeface="Pretendard" pitchFamily="34" charset="-120"/>
                </a:rPr>
                <a:t>① 복사</a:t>
              </a:r>
              <a:endParaRPr lang="en-US" sz="1650" dirty="0"/>
            </a:p>
          </p:txBody>
        </p:sp>
        <p:sp>
          <p:nvSpPr>
            <p:cNvPr id="24" name="Shape 22"/>
            <p:cNvSpPr/>
            <p:nvPr/>
          </p:nvSpPr>
          <p:spPr>
            <a:xfrm>
              <a:off x="9774436" y="4920407"/>
              <a:ext cx="7275314" cy="647700"/>
            </a:xfrm>
            <a:prstGeom prst="roundRect">
              <a:avLst>
                <a:gd name="adj" fmla="val 20588"/>
              </a:avLst>
            </a:prstGeom>
            <a:solidFill>
              <a:srgbClr val="F7F8FA"/>
            </a:solidFill>
            <a:ln/>
          </p:spPr>
          <p:txBody>
            <a:bodyPr/>
            <a:lstStyle/>
            <a:p>
              <a:endParaRPr lang="ko-KR" altLang="en-US"/>
            </a:p>
          </p:txBody>
        </p:sp>
        <p:sp>
          <p:nvSpPr>
            <p:cNvPr id="25" name="Text 23"/>
            <p:cNvSpPr/>
            <p:nvPr/>
          </p:nvSpPr>
          <p:spPr>
            <a:xfrm>
              <a:off x="10003036" y="5091857"/>
              <a:ext cx="703637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91F28"/>
                  </a:solidFill>
                  <a:latin typeface="Pretendard" pitchFamily="34" charset="0"/>
                  <a:ea typeface="Pretendard" pitchFamily="34" charset="-122"/>
                  <a:cs typeface="Pretendard" pitchFamily="34" charset="-120"/>
                </a:rPr>
                <a:t>② 이름만 치환</a:t>
              </a:r>
              <a:endParaRPr lang="en-US" sz="1650" dirty="0"/>
            </a:p>
          </p:txBody>
        </p:sp>
        <p:sp>
          <p:nvSpPr>
            <p:cNvPr id="26" name="Shape 24"/>
            <p:cNvSpPr/>
            <p:nvPr/>
          </p:nvSpPr>
          <p:spPr>
            <a:xfrm>
              <a:off x="9774436" y="5682407"/>
              <a:ext cx="7275314" cy="647700"/>
            </a:xfrm>
            <a:prstGeom prst="roundRect">
              <a:avLst>
                <a:gd name="adj" fmla="val 20588"/>
              </a:avLst>
            </a:prstGeom>
            <a:solidFill>
              <a:srgbClr val="F7F8FA"/>
            </a:solidFill>
            <a:ln/>
          </p:spPr>
          <p:txBody>
            <a:bodyPr/>
            <a:lstStyle/>
            <a:p>
              <a:endParaRPr lang="ko-KR" altLang="en-US"/>
            </a:p>
          </p:txBody>
        </p:sp>
        <p:sp>
          <p:nvSpPr>
            <p:cNvPr id="27" name="Text 25"/>
            <p:cNvSpPr/>
            <p:nvPr/>
          </p:nvSpPr>
          <p:spPr>
            <a:xfrm>
              <a:off x="10003036" y="5853857"/>
              <a:ext cx="703637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91F28"/>
                  </a:solidFill>
                  <a:latin typeface="Pretendard" pitchFamily="34" charset="0"/>
                  <a:ea typeface="Pretendard" pitchFamily="34" charset="-122"/>
                  <a:cs typeface="Pretendard" pitchFamily="34" charset="-120"/>
                </a:rPr>
                <a:t>③ git init</a:t>
              </a:r>
              <a:endParaRPr lang="en-US" sz="1650" dirty="0"/>
            </a:p>
          </p:txBody>
        </p:sp>
        <p:sp>
          <p:nvSpPr>
            <p:cNvPr id="28" name="Shape 26"/>
            <p:cNvSpPr/>
            <p:nvPr/>
          </p:nvSpPr>
          <p:spPr>
            <a:xfrm>
              <a:off x="9774436" y="6444407"/>
              <a:ext cx="7275314" cy="647700"/>
            </a:xfrm>
            <a:prstGeom prst="roundRect">
              <a:avLst>
                <a:gd name="adj" fmla="val 20588"/>
              </a:avLst>
            </a:prstGeom>
            <a:solidFill>
              <a:srgbClr val="F7F8FA"/>
            </a:solidFill>
            <a:ln/>
          </p:spPr>
          <p:txBody>
            <a:bodyPr/>
            <a:lstStyle/>
            <a:p>
              <a:endParaRPr lang="ko-KR" altLang="en-US"/>
            </a:p>
          </p:txBody>
        </p:sp>
        <p:sp>
          <p:nvSpPr>
            <p:cNvPr id="29" name="Text 27"/>
            <p:cNvSpPr/>
            <p:nvPr/>
          </p:nvSpPr>
          <p:spPr>
            <a:xfrm>
              <a:off x="10003036" y="6615857"/>
              <a:ext cx="703637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191F28"/>
                  </a:solidFill>
                  <a:latin typeface="Pretendard" pitchFamily="34" charset="0"/>
                  <a:ea typeface="Pretendard" pitchFamily="34" charset="-122"/>
                  <a:cs typeface="Pretendard" pitchFamily="34" charset="-120"/>
                </a:rPr>
                <a:t>④ 검증_전체 통과</a:t>
              </a:r>
              <a:endParaRPr lang="en-US" sz="1650" dirty="0"/>
            </a:p>
          </p:txBody>
        </p:sp>
        <p:sp>
          <p:nvSpPr>
            <p:cNvPr id="30" name="Shape 28"/>
            <p:cNvSpPr/>
            <p:nvPr/>
          </p:nvSpPr>
          <p:spPr>
            <a:xfrm>
              <a:off x="9774436" y="7301657"/>
              <a:ext cx="7275314" cy="685800"/>
            </a:xfrm>
            <a:prstGeom prst="roundRect">
              <a:avLst>
                <a:gd name="adj" fmla="val 19444"/>
              </a:avLst>
            </a:prstGeom>
            <a:solidFill>
              <a:srgbClr val="EBFBF2"/>
            </a:solidFill>
            <a:ln/>
          </p:spPr>
          <p:txBody>
            <a:bodyPr/>
            <a:lstStyle/>
            <a:p>
              <a:endParaRPr lang="ko-KR" altLang="en-US"/>
            </a:p>
          </p:txBody>
        </p:sp>
        <p:sp>
          <p:nvSpPr>
            <p:cNvPr id="31" name="Text 29"/>
            <p:cNvSpPr/>
            <p:nvPr/>
          </p:nvSpPr>
          <p:spPr>
            <a:xfrm>
              <a:off x="10003036" y="7492157"/>
              <a:ext cx="703637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0F9D63"/>
                  </a:solidFill>
                  <a:latin typeface="Pretendard" pitchFamily="34" charset="0"/>
                  <a:ea typeface="Pretendard" pitchFamily="34" charset="-122"/>
                  <a:cs typeface="Pretendard" pitchFamily="34" charset="-120"/>
                </a:rPr>
                <a:t>반나절 세팅. 0에서 시작하지 않습니다.</a:t>
              </a:r>
              <a:endParaRPr lang="en-US" sz="1650" dirty="0"/>
            </a:p>
          </p:txBody>
        </p:sp>
      </p:grpSp>
      <p:sp>
        <p:nvSpPr>
          <p:cNvPr id="32" name="Text 30"/>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2562761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182F6"/>
          </a:solidFill>
          <a:ln/>
        </p:spPr>
        <p:txBody>
          <a:bodyPr/>
          <a:lstStyle/>
          <a:p>
            <a:endParaRPr lang="ko-KR" altLang="en-US"/>
          </a:p>
        </p:txBody>
      </p:sp>
      <p:sp>
        <p:nvSpPr>
          <p:cNvPr id="3" name="Text 1"/>
          <p:cNvSpPr/>
          <p:nvPr/>
        </p:nvSpPr>
        <p:spPr>
          <a:xfrm>
            <a:off x="1238250" y="3443139"/>
            <a:ext cx="17392650" cy="1912590"/>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8000" b="1" kern="0" spc="-720" dirty="0">
                <a:solidFill>
                  <a:srgbClr val="FFFFFF">
                    <a:alpha val="18000"/>
                  </a:srgbClr>
                </a:solidFill>
                <a:latin typeface="Pretendard Black" panose="02000A03000000020004" pitchFamily="50" charset="-127"/>
                <a:ea typeface="Pretendard Black" panose="02000A03000000020004" pitchFamily="50" charset="-127"/>
                <a:cs typeface="Pretendard Black" panose="02000A03000000020004" pitchFamily="50" charset="-127"/>
              </a:rPr>
              <a:t>04</a:t>
            </a:r>
            <a:endParaRPr lang="en-US" sz="1800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4" name="Text 2"/>
          <p:cNvSpPr/>
          <p:nvPr/>
        </p:nvSpPr>
        <p:spPr>
          <a:xfrm>
            <a:off x="1238250" y="5489079"/>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FFFFFF"/>
                </a:solidFill>
                <a:latin typeface="Pretendard Black" panose="02000A03000000020004" pitchFamily="50" charset="-127"/>
                <a:ea typeface="Pretendard Black" panose="02000A03000000020004" pitchFamily="50" charset="-127"/>
                <a:cs typeface="Pretendard Black" panose="02000A03000000020004" pitchFamily="50" charset="-127"/>
              </a:rPr>
              <a:t>프로젝트 후기</a:t>
            </a:r>
            <a:endParaRPr lang="en-US" sz="5850" dirty="0">
              <a:latin typeface="Pretendard Black" panose="02000A03000000020004" pitchFamily="50" charset="-127"/>
              <a:ea typeface="Pretendard Black" panose="02000A03000000020004" pitchFamily="50" charset="-127"/>
              <a:cs typeface="Pretendard Black" panose="02000A03000000020004" pitchFamily="50" charset="-127"/>
            </a:endParaRPr>
          </a:p>
        </p:txBody>
      </p:sp>
      <p:sp>
        <p:nvSpPr>
          <p:cNvPr id="5" name="Text 3"/>
          <p:cNvSpPr/>
          <p:nvPr/>
        </p:nvSpPr>
        <p:spPr>
          <a:xfrm>
            <a:off x="1238250" y="6500961"/>
            <a:ext cx="173926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FFFF">
                    <a:alpha val="85000"/>
                  </a:srgbClr>
                </a:solidFill>
                <a:latin typeface="Pretendard SemiBold" panose="02000703000000020004" pitchFamily="50" charset="-127"/>
                <a:ea typeface="Pretendard SemiBold" panose="02000703000000020004" pitchFamily="50" charset="-127"/>
                <a:cs typeface="Pretendard SemiBold" panose="02000703000000020004" pitchFamily="50" charset="-127"/>
              </a:rPr>
              <a:t>결과와 한계, 그리고 배운 것</a:t>
            </a:r>
            <a:endParaRPr lang="en-US" sz="1875" dirty="0">
              <a:latin typeface="Pretendard SemiBold" panose="02000703000000020004" pitchFamily="50" charset="-127"/>
              <a:ea typeface="Pretendard SemiBold" panose="02000703000000020004" pitchFamily="50" charset="-127"/>
              <a:cs typeface="Pretendard SemiBold" panose="02000703000000020004" pitchFamily="50" charset="-127"/>
            </a:endParaRPr>
          </a:p>
        </p:txBody>
      </p:sp>
    </p:spTree>
    <p:extLst>
      <p:ext uri="{BB962C8B-B14F-4D97-AF65-F5344CB8AC3E}">
        <p14:creationId xmlns:p14="http://schemas.microsoft.com/office/powerpoint/2010/main" val="1150418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프로젝트 후기</a:t>
            </a:r>
            <a:endParaRPr lang="en-US" sz="1875" dirty="0"/>
          </a:p>
        </p:txBody>
      </p:sp>
      <p:sp>
        <p:nvSpPr>
          <p:cNvPr id="4" name="Text 2"/>
          <p:cNvSpPr/>
          <p:nvPr/>
        </p:nvSpPr>
        <p:spPr>
          <a:xfrm>
            <a:off x="1238250" y="1390650"/>
            <a:ext cx="17392650" cy="84043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850" b="1" kern="0" spc="-175" dirty="0">
                <a:solidFill>
                  <a:srgbClr val="191F28"/>
                </a:solidFill>
                <a:latin typeface="Pretendard" pitchFamily="34" charset="0"/>
                <a:ea typeface="Pretendard" pitchFamily="34" charset="-122"/>
                <a:cs typeface="Pretendard" pitchFamily="34" charset="-120"/>
              </a:rPr>
              <a:t>솔직함이 신뢰다</a:t>
            </a:r>
            <a:endParaRPr lang="en-US" sz="5850" dirty="0"/>
          </a:p>
        </p:txBody>
      </p:sp>
      <p:sp>
        <p:nvSpPr>
          <p:cNvPr id="5" name="Text 3"/>
          <p:cNvSpPr/>
          <p:nvPr/>
        </p:nvSpPr>
        <p:spPr>
          <a:xfrm>
            <a:off x="1238250" y="2345382"/>
            <a:ext cx="17392650" cy="414338"/>
          </a:xfrm>
          <a:prstGeom prst="rect">
            <a:avLst/>
          </a:prstGeom>
          <a:noFill/>
          <a:ln/>
        </p:spPr>
        <p:txBody>
          <a:bodyPr wrap="square" lIns="25400" tIns="25400" rIns="25400" bIns="25400" rtlCol="0" anchor="t">
            <a:normAutofit/>
          </a:bodyPr>
          <a:lstStyle/>
          <a:p>
            <a:pPr marL="0" indent="0" algn="l">
              <a:buNone/>
            </a:pPr>
            <a:r>
              <a:rPr lang="en-US" sz="2025" dirty="0">
                <a:solidFill>
                  <a:srgbClr val="4E5968"/>
                </a:solidFill>
                <a:latin typeface="Pretendard" pitchFamily="34" charset="0"/>
                <a:ea typeface="Pretendard" pitchFamily="34" charset="-122"/>
                <a:cs typeface="Pretendard" pitchFamily="34" charset="-120"/>
              </a:rPr>
              <a:t>한 것과 안 한 것을 섞지 않습니다.</a:t>
            </a:r>
            <a:endParaRPr lang="en-US" sz="2025" dirty="0"/>
          </a:p>
        </p:txBody>
      </p:sp>
      <p:sp>
        <p:nvSpPr>
          <p:cNvPr id="6" name="Shape 4"/>
          <p:cNvSpPr/>
          <p:nvPr/>
        </p:nvSpPr>
        <p:spPr>
          <a:xfrm>
            <a:off x="1238250" y="3159770"/>
            <a:ext cx="5092675" cy="6212830"/>
          </a:xfrm>
          <a:prstGeom prst="roundRect">
            <a:avLst>
              <a:gd name="adj" fmla="val 4115"/>
            </a:avLst>
          </a:prstGeom>
          <a:solidFill>
            <a:srgbClr val="EBFBF2"/>
          </a:solidFill>
          <a:ln/>
        </p:spPr>
        <p:txBody>
          <a:bodyPr/>
          <a:lstStyle/>
          <a:p>
            <a:endParaRPr lang="ko-KR" altLang="en-US"/>
          </a:p>
        </p:txBody>
      </p:sp>
      <p:sp>
        <p:nvSpPr>
          <p:cNvPr id="7" name="Text 5"/>
          <p:cNvSpPr/>
          <p:nvPr/>
        </p:nvSpPr>
        <p:spPr>
          <a:xfrm>
            <a:off x="1600200" y="3521720"/>
            <a:ext cx="4805653"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0F9D63"/>
                </a:solidFill>
                <a:latin typeface="Pretendard" pitchFamily="34" charset="0"/>
                <a:ea typeface="Pretendard" pitchFamily="34" charset="-122"/>
                <a:cs typeface="Pretendard" pitchFamily="34" charset="-120"/>
              </a:rPr>
              <a:t>완료</a:t>
            </a:r>
            <a:endParaRPr lang="en-US" sz="1875" dirty="0"/>
          </a:p>
        </p:txBody>
      </p:sp>
      <p:sp>
        <p:nvSpPr>
          <p:cNvPr id="8" name="Text 6"/>
          <p:cNvSpPr/>
          <p:nvPr/>
        </p:nvSpPr>
        <p:spPr>
          <a:xfrm>
            <a:off x="1600200" y="4078932"/>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F5E49"/>
                </a:solidFill>
                <a:latin typeface="Pretendard" pitchFamily="34" charset="0"/>
                <a:ea typeface="Pretendard" pitchFamily="34" charset="-122"/>
                <a:cs typeface="Pretendard" pitchFamily="34" charset="-120"/>
              </a:rPr>
              <a:t>AWS HTTPS 운영 중 (스모크 PASS)</a:t>
            </a:r>
            <a:endParaRPr lang="en-US" sz="1575" dirty="0"/>
          </a:p>
        </p:txBody>
      </p:sp>
      <p:sp>
        <p:nvSpPr>
          <p:cNvPr id="9" name="Text 7"/>
          <p:cNvSpPr/>
          <p:nvPr/>
        </p:nvSpPr>
        <p:spPr>
          <a:xfrm>
            <a:off x="1600200" y="4521324"/>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F5E49"/>
                </a:solidFill>
                <a:latin typeface="Pretendard" pitchFamily="34" charset="0"/>
                <a:ea typeface="Pretendard" pitchFamily="34" charset="-122"/>
                <a:cs typeface="Pretendard" pitchFamily="34" charset="-120"/>
              </a:rPr>
              <a:t>단위 58/58 · 보안 7/7</a:t>
            </a:r>
            <a:endParaRPr lang="en-US" sz="1575" dirty="0"/>
          </a:p>
        </p:txBody>
      </p:sp>
      <p:sp>
        <p:nvSpPr>
          <p:cNvPr id="10" name="Text 8"/>
          <p:cNvSpPr/>
          <p:nvPr/>
        </p:nvSpPr>
        <p:spPr>
          <a:xfrm>
            <a:off x="1600200" y="4963716"/>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F5E49"/>
                </a:solidFill>
                <a:latin typeface="Pretendard" pitchFamily="34" charset="0"/>
                <a:ea typeface="Pretendard" pitchFamily="34" charset="-122"/>
                <a:cs typeface="Pretendard" pitchFamily="34" charset="-120"/>
              </a:rPr>
              <a:t>tsc 0 · vite build PASS</a:t>
            </a:r>
            <a:endParaRPr lang="en-US" sz="1575" dirty="0"/>
          </a:p>
        </p:txBody>
      </p:sp>
      <p:sp>
        <p:nvSpPr>
          <p:cNvPr id="11" name="Text 9"/>
          <p:cNvSpPr/>
          <p:nvPr/>
        </p:nvSpPr>
        <p:spPr>
          <a:xfrm>
            <a:off x="1600200" y="5406107"/>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F5E49"/>
                </a:solidFill>
                <a:latin typeface="Pretendard" pitchFamily="34" charset="0"/>
                <a:ea typeface="Pretendard" pitchFamily="34" charset="-122"/>
                <a:cs typeface="Pretendard" pitchFamily="34" charset="-120"/>
              </a:rPr>
              <a:t>필수 산출물 15종 · strict PASS</a:t>
            </a:r>
            <a:endParaRPr lang="en-US" sz="1575" dirty="0"/>
          </a:p>
        </p:txBody>
      </p:sp>
      <p:sp>
        <p:nvSpPr>
          <p:cNvPr id="12" name="Shape 10"/>
          <p:cNvSpPr/>
          <p:nvPr/>
        </p:nvSpPr>
        <p:spPr>
          <a:xfrm>
            <a:off x="6597625" y="3159770"/>
            <a:ext cx="5092750" cy="6212830"/>
          </a:xfrm>
          <a:prstGeom prst="roundRect">
            <a:avLst>
              <a:gd name="adj" fmla="val 4115"/>
            </a:avLst>
          </a:prstGeom>
          <a:solidFill>
            <a:srgbClr val="F7F8FA"/>
          </a:solidFill>
          <a:ln/>
        </p:spPr>
        <p:txBody>
          <a:bodyPr/>
          <a:lstStyle/>
          <a:p>
            <a:endParaRPr lang="ko-KR" altLang="en-US"/>
          </a:p>
        </p:txBody>
      </p:sp>
      <p:sp>
        <p:nvSpPr>
          <p:cNvPr id="13" name="Text 11"/>
          <p:cNvSpPr/>
          <p:nvPr/>
        </p:nvSpPr>
        <p:spPr>
          <a:xfrm>
            <a:off x="6959575" y="3521720"/>
            <a:ext cx="4805735"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8B95A1"/>
                </a:solidFill>
                <a:latin typeface="Pretendard" pitchFamily="34" charset="0"/>
                <a:ea typeface="Pretendard" pitchFamily="34" charset="-122"/>
                <a:cs typeface="Pretendard" pitchFamily="34" charset="-120"/>
              </a:rPr>
              <a:t>아직 남은 것</a:t>
            </a:r>
            <a:endParaRPr lang="en-US" sz="1875" dirty="0"/>
          </a:p>
        </p:txBody>
      </p:sp>
      <p:sp>
        <p:nvSpPr>
          <p:cNvPr id="14" name="Text 12"/>
          <p:cNvSpPr/>
          <p:nvPr/>
        </p:nvSpPr>
        <p:spPr>
          <a:xfrm>
            <a:off x="6959575" y="4078932"/>
            <a:ext cx="4805735"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E5968"/>
                </a:solidFill>
                <a:latin typeface="Pretendard" pitchFamily="34" charset="0"/>
                <a:ea typeface="Pretendard" pitchFamily="34" charset="-122"/>
                <a:cs typeface="Pretendard" pitchFamily="34" charset="-120"/>
              </a:rPr>
              <a:t>토스 심사 승인 대기 (제출 완료 · 검토 중)</a:t>
            </a:r>
            <a:endParaRPr lang="en-US" sz="1575" dirty="0"/>
          </a:p>
        </p:txBody>
      </p:sp>
      <p:sp>
        <p:nvSpPr>
          <p:cNvPr id="15" name="Text 13"/>
          <p:cNvSpPr/>
          <p:nvPr/>
        </p:nvSpPr>
        <p:spPr>
          <a:xfrm>
            <a:off x="6959575" y="4521324"/>
            <a:ext cx="4805735"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E5968"/>
                </a:solidFill>
                <a:latin typeface="Pretendard" pitchFamily="34" charset="0"/>
                <a:ea typeface="Pretendard" pitchFamily="34" charset="-122"/>
                <a:cs typeface="Pretendard" pitchFamily="34" charset="-120"/>
              </a:rPr>
              <a:t>표준 화면 TDS 부분 적용</a:t>
            </a:r>
            <a:endParaRPr lang="en-US" sz="1575" dirty="0"/>
          </a:p>
        </p:txBody>
      </p:sp>
      <p:sp>
        <p:nvSpPr>
          <p:cNvPr id="16" name="Text 14"/>
          <p:cNvSpPr/>
          <p:nvPr/>
        </p:nvSpPr>
        <p:spPr>
          <a:xfrm>
            <a:off x="6959575" y="4963716"/>
            <a:ext cx="4805735"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E5968"/>
                </a:solidFill>
                <a:latin typeface="Pretendard" pitchFamily="34" charset="0"/>
                <a:ea typeface="Pretendard" pitchFamily="34" charset="-122"/>
                <a:cs typeface="Pretendard" pitchFamily="34" charset="-120"/>
              </a:rPr>
              <a:t>번들 코드 스플리팅</a:t>
            </a:r>
            <a:endParaRPr lang="en-US" sz="1575" dirty="0"/>
          </a:p>
        </p:txBody>
      </p:sp>
      <p:sp>
        <p:nvSpPr>
          <p:cNvPr id="17" name="Shape 15"/>
          <p:cNvSpPr/>
          <p:nvPr/>
        </p:nvSpPr>
        <p:spPr>
          <a:xfrm>
            <a:off x="11957075" y="3159770"/>
            <a:ext cx="5092675" cy="6212830"/>
          </a:xfrm>
          <a:prstGeom prst="roundRect">
            <a:avLst>
              <a:gd name="adj" fmla="val 4115"/>
            </a:avLst>
          </a:prstGeom>
          <a:solidFill>
            <a:srgbClr val="EAF2FE"/>
          </a:solidFill>
          <a:ln/>
        </p:spPr>
        <p:txBody>
          <a:bodyPr/>
          <a:lstStyle/>
          <a:p>
            <a:endParaRPr lang="ko-KR" altLang="en-US"/>
          </a:p>
        </p:txBody>
      </p:sp>
      <p:sp>
        <p:nvSpPr>
          <p:cNvPr id="18" name="Text 16"/>
          <p:cNvSpPr/>
          <p:nvPr/>
        </p:nvSpPr>
        <p:spPr>
          <a:xfrm>
            <a:off x="12319025" y="3521720"/>
            <a:ext cx="4805653"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itchFamily="34" charset="0"/>
                <a:ea typeface="Pretendard" pitchFamily="34" charset="-122"/>
                <a:cs typeface="Pretendard" pitchFamily="34" charset="-120"/>
              </a:rPr>
              <a:t>다음 단계</a:t>
            </a:r>
            <a:endParaRPr lang="en-US" sz="1875" dirty="0"/>
          </a:p>
        </p:txBody>
      </p:sp>
      <p:sp>
        <p:nvSpPr>
          <p:cNvPr id="19" name="Text 17"/>
          <p:cNvSpPr/>
          <p:nvPr/>
        </p:nvSpPr>
        <p:spPr>
          <a:xfrm>
            <a:off x="12319025" y="4078932"/>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C5AA0"/>
                </a:solidFill>
                <a:latin typeface="Pretendard" pitchFamily="34" charset="0"/>
                <a:ea typeface="Pretendard" pitchFamily="34" charset="-122"/>
                <a:cs typeface="Pretendard" pitchFamily="34" charset="-120"/>
              </a:rPr>
              <a:t>토스 심사 결과 대기</a:t>
            </a:r>
            <a:endParaRPr lang="en-US" sz="1575" dirty="0"/>
          </a:p>
        </p:txBody>
      </p:sp>
      <p:sp>
        <p:nvSpPr>
          <p:cNvPr id="20" name="Text 18"/>
          <p:cNvSpPr/>
          <p:nvPr/>
        </p:nvSpPr>
        <p:spPr>
          <a:xfrm>
            <a:off x="12319025" y="4521324"/>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C5AA0"/>
                </a:solidFill>
                <a:latin typeface="Pretendard" pitchFamily="34" charset="0"/>
                <a:ea typeface="Pretendard" pitchFamily="34" charset="-122"/>
                <a:cs typeface="Pretendard" pitchFamily="34" charset="-120"/>
              </a:rPr>
              <a:t>실기기 자동 회귀</a:t>
            </a:r>
            <a:endParaRPr lang="en-US" sz="1575" dirty="0"/>
          </a:p>
        </p:txBody>
      </p:sp>
      <p:sp>
        <p:nvSpPr>
          <p:cNvPr id="21" name="Text 19"/>
          <p:cNvSpPr/>
          <p:nvPr/>
        </p:nvSpPr>
        <p:spPr>
          <a:xfrm>
            <a:off x="12319025" y="4963716"/>
            <a:ext cx="4805653" cy="32809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2C5AA0"/>
                </a:solidFill>
                <a:latin typeface="Pretendard" pitchFamily="34" charset="0"/>
                <a:ea typeface="Pretendard" pitchFamily="34" charset="-122"/>
                <a:cs typeface="Pretendard" pitchFamily="34" charset="-120"/>
              </a:rPr>
              <a:t>표준 화면 TDS 교체</a:t>
            </a:r>
            <a:endParaRPr lang="en-US" sz="1575" dirty="0"/>
          </a:p>
        </p:txBody>
      </p:sp>
      <p:sp>
        <p:nvSpPr>
          <p:cNvPr id="22" name="Text 20"/>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1038160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1238250" y="914400"/>
            <a:ext cx="1739265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프로젝트 후기</a:t>
            </a:r>
            <a:endParaRPr lang="en-US" sz="1875" dirty="0"/>
          </a:p>
        </p:txBody>
      </p:sp>
      <p:sp>
        <p:nvSpPr>
          <p:cNvPr id="4" name="Text 2"/>
          <p:cNvSpPr/>
          <p:nvPr/>
        </p:nvSpPr>
        <p:spPr>
          <a:xfrm>
            <a:off x="1238250" y="1390650"/>
            <a:ext cx="17392650" cy="634678"/>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350" b="1" kern="0" spc="-130" dirty="0">
                <a:solidFill>
                  <a:srgbClr val="191F28"/>
                </a:solidFill>
                <a:latin typeface="Pretendard" pitchFamily="34" charset="0"/>
                <a:ea typeface="Pretendard" pitchFamily="34" charset="-122"/>
                <a:cs typeface="Pretendard" pitchFamily="34" charset="-120"/>
              </a:rPr>
              <a:t>빠르게 변하는 시대를 따라갈 준비</a:t>
            </a:r>
            <a:endParaRPr lang="en-US" sz="4350" dirty="0"/>
          </a:p>
        </p:txBody>
      </p:sp>
      <p:sp>
        <p:nvSpPr>
          <p:cNvPr id="5" name="Shape 3"/>
          <p:cNvSpPr/>
          <p:nvPr/>
        </p:nvSpPr>
        <p:spPr>
          <a:xfrm>
            <a:off x="1238250" y="2425378"/>
            <a:ext cx="5092675" cy="6947222"/>
          </a:xfrm>
          <a:prstGeom prst="roundRect">
            <a:avLst>
              <a:gd name="adj" fmla="val 4115"/>
            </a:avLst>
          </a:prstGeom>
          <a:solidFill>
            <a:srgbClr val="F7F8FA"/>
          </a:solidFill>
          <a:ln/>
        </p:spPr>
        <p:txBody>
          <a:bodyPr/>
          <a:lstStyle/>
          <a:p>
            <a:endParaRPr lang="ko-KR" altLang="en-US"/>
          </a:p>
        </p:txBody>
      </p:sp>
      <p:sp>
        <p:nvSpPr>
          <p:cNvPr id="6" name="Text 4"/>
          <p:cNvSpPr/>
          <p:nvPr/>
        </p:nvSpPr>
        <p:spPr>
          <a:xfrm>
            <a:off x="1619250" y="2806378"/>
            <a:ext cx="4763743"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191F28"/>
                </a:solidFill>
                <a:latin typeface="Pretendard" pitchFamily="34" charset="0"/>
                <a:ea typeface="Pretendard" pitchFamily="34" charset="-122"/>
                <a:cs typeface="Pretendard" pitchFamily="34" charset="-120"/>
              </a:rPr>
              <a:t>하네스 엔지니어링 활용</a:t>
            </a:r>
            <a:endParaRPr lang="en-US" sz="1875" dirty="0"/>
          </a:p>
        </p:txBody>
      </p:sp>
      <p:sp>
        <p:nvSpPr>
          <p:cNvPr id="7" name="Text 5"/>
          <p:cNvSpPr/>
          <p:nvPr/>
        </p:nvSpPr>
        <p:spPr>
          <a:xfrm>
            <a:off x="1619250" y="3363590"/>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역할별로 권한을 나눠 각자 맡은 단위로 분배</a:t>
            </a:r>
            <a:endParaRPr lang="en-US" sz="1575" dirty="0"/>
          </a:p>
        </p:txBody>
      </p:sp>
      <p:sp>
        <p:nvSpPr>
          <p:cNvPr id="8" name="Text 6"/>
          <p:cNvSpPr/>
          <p:nvPr/>
        </p:nvSpPr>
        <p:spPr>
          <a:xfrm>
            <a:off x="1619250" y="3816028"/>
            <a:ext cx="4460595" cy="638175"/>
          </a:xfrm>
          <a:prstGeom prst="rect">
            <a:avLst/>
          </a:prstGeom>
          <a:noFill/>
          <a:ln/>
        </p:spPr>
        <p:txBody>
          <a:bodyPr wrap="square" lIns="25400" tIns="25400" rIns="25400" bIns="25400" rtlCol="0" anchor="t">
            <a:normAutofit/>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각자 역할에 필요한 프롬프트를 직접 작성해 세부 조정</a:t>
            </a:r>
            <a:endParaRPr lang="en-US" sz="1575" dirty="0"/>
          </a:p>
        </p:txBody>
      </p:sp>
      <p:sp>
        <p:nvSpPr>
          <p:cNvPr id="9" name="Text 7"/>
          <p:cNvSpPr/>
          <p:nvPr/>
        </p:nvSpPr>
        <p:spPr>
          <a:xfrm>
            <a:off x="1619250" y="4321765"/>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역할 경계가 명확해 충돌 없이 빠르게 개발</a:t>
            </a:r>
            <a:endParaRPr lang="en-US" sz="1575" dirty="0"/>
          </a:p>
        </p:txBody>
      </p:sp>
      <p:sp>
        <p:nvSpPr>
          <p:cNvPr id="10" name="Shape 8"/>
          <p:cNvSpPr/>
          <p:nvPr/>
        </p:nvSpPr>
        <p:spPr>
          <a:xfrm>
            <a:off x="6597625" y="2425378"/>
            <a:ext cx="5092750" cy="6947222"/>
          </a:xfrm>
          <a:prstGeom prst="roundRect">
            <a:avLst>
              <a:gd name="adj" fmla="val 4115"/>
            </a:avLst>
          </a:prstGeom>
          <a:solidFill>
            <a:srgbClr val="F7F8FA"/>
          </a:solidFill>
          <a:ln/>
        </p:spPr>
        <p:txBody>
          <a:bodyPr/>
          <a:lstStyle/>
          <a:p>
            <a:endParaRPr lang="ko-KR" altLang="en-US"/>
          </a:p>
        </p:txBody>
      </p:sp>
      <p:sp>
        <p:nvSpPr>
          <p:cNvPr id="11" name="Text 9"/>
          <p:cNvSpPr/>
          <p:nvPr/>
        </p:nvSpPr>
        <p:spPr>
          <a:xfrm>
            <a:off x="6978625" y="2806378"/>
            <a:ext cx="4763825"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191F28"/>
                </a:solidFill>
                <a:latin typeface="Pretendard" pitchFamily="34" charset="0"/>
                <a:ea typeface="Pretendard" pitchFamily="34" charset="-122"/>
                <a:cs typeface="Pretendard" pitchFamily="34" charset="-120"/>
              </a:rPr>
              <a:t>새로운 변화에 대비</a:t>
            </a:r>
            <a:endParaRPr lang="en-US" sz="1875" dirty="0"/>
          </a:p>
        </p:txBody>
      </p:sp>
      <p:sp>
        <p:nvSpPr>
          <p:cNvPr id="12" name="Text 10"/>
          <p:cNvSpPr/>
          <p:nvPr/>
        </p:nvSpPr>
        <p:spPr>
          <a:xfrm>
            <a:off x="6978625" y="3363590"/>
            <a:ext cx="4763825"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SNS로 시장 트렌드를 점검</a:t>
            </a:r>
            <a:endParaRPr lang="en-US" sz="1575" dirty="0"/>
          </a:p>
        </p:txBody>
      </p:sp>
      <p:sp>
        <p:nvSpPr>
          <p:cNvPr id="13" name="Text 11"/>
          <p:cNvSpPr/>
          <p:nvPr/>
        </p:nvSpPr>
        <p:spPr>
          <a:xfrm>
            <a:off x="6978625" y="3816028"/>
            <a:ext cx="4763825"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고객이 선호하면서도 차별화된 서비스를 고민</a:t>
            </a:r>
            <a:endParaRPr lang="en-US" sz="1575" dirty="0"/>
          </a:p>
        </p:txBody>
      </p:sp>
      <p:sp>
        <p:nvSpPr>
          <p:cNvPr id="14" name="Text 12"/>
          <p:cNvSpPr/>
          <p:nvPr/>
        </p:nvSpPr>
        <p:spPr>
          <a:xfrm>
            <a:off x="6978625" y="4268465"/>
            <a:ext cx="4763825"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4E5968"/>
                </a:solidFill>
                <a:latin typeface="Pretendard" pitchFamily="34" charset="0"/>
                <a:ea typeface="Pretendard" pitchFamily="34" charset="-122"/>
                <a:cs typeface="Pretendard" pitchFamily="34" charset="-120"/>
              </a:rPr>
              <a:t>흐름을 읽는 감각이 개발의 출발점</a:t>
            </a:r>
            <a:endParaRPr lang="en-US" sz="1575" dirty="0"/>
          </a:p>
        </p:txBody>
      </p:sp>
      <p:sp>
        <p:nvSpPr>
          <p:cNvPr id="15" name="Shape 13"/>
          <p:cNvSpPr/>
          <p:nvPr/>
        </p:nvSpPr>
        <p:spPr>
          <a:xfrm>
            <a:off x="11957075" y="2425378"/>
            <a:ext cx="5092675" cy="6947222"/>
          </a:xfrm>
          <a:prstGeom prst="roundRect">
            <a:avLst>
              <a:gd name="adj" fmla="val 4115"/>
            </a:avLst>
          </a:prstGeom>
          <a:solidFill>
            <a:srgbClr val="EAF2FE"/>
          </a:solidFill>
          <a:ln/>
        </p:spPr>
        <p:txBody>
          <a:bodyPr/>
          <a:lstStyle/>
          <a:p>
            <a:endParaRPr lang="ko-KR" altLang="en-US"/>
          </a:p>
        </p:txBody>
      </p:sp>
      <p:sp>
        <p:nvSpPr>
          <p:cNvPr id="16" name="Text 14"/>
          <p:cNvSpPr/>
          <p:nvPr/>
        </p:nvSpPr>
        <p:spPr>
          <a:xfrm>
            <a:off x="12338075" y="2806378"/>
            <a:ext cx="4763743" cy="385763"/>
          </a:xfrm>
          <a:prstGeom prst="rect">
            <a:avLst/>
          </a:prstGeom>
          <a:noFill/>
          <a:ln/>
        </p:spPr>
        <p:txBody>
          <a:bodyPr wrap="square" lIns="25400" tIns="25400" rIns="25400" bIns="25400" rtlCol="0" anchor="t">
            <a:normAutofit/>
          </a:bodyPr>
          <a:lstStyle/>
          <a:p>
            <a:pPr marL="0" indent="0" algn="l">
              <a:buNone/>
            </a:pPr>
            <a:r>
              <a:rPr lang="en-US" sz="1875" b="1" dirty="0">
                <a:solidFill>
                  <a:srgbClr val="3182F6"/>
                </a:solidFill>
                <a:latin typeface="Pretendard" pitchFamily="34" charset="0"/>
                <a:ea typeface="Pretendard" pitchFamily="34" charset="-122"/>
                <a:cs typeface="Pretendard" pitchFamily="34" charset="-120"/>
              </a:rPr>
              <a:t>배운 역량</a:t>
            </a:r>
            <a:endParaRPr lang="en-US" sz="1875" dirty="0"/>
          </a:p>
        </p:txBody>
      </p:sp>
      <p:sp>
        <p:nvSpPr>
          <p:cNvPr id="17" name="Text 15"/>
          <p:cNvSpPr/>
          <p:nvPr/>
        </p:nvSpPr>
        <p:spPr>
          <a:xfrm>
            <a:off x="12338075" y="3363590"/>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2C5AA0"/>
                </a:solidFill>
                <a:latin typeface="Pretendard" pitchFamily="34" charset="0"/>
                <a:ea typeface="Pretendard" pitchFamily="34" charset="-122"/>
                <a:cs typeface="Pretendard" pitchFamily="34" charset="-120"/>
              </a:rPr>
              <a:t>앱인토스 플랫폼 이해 (Granite · TDS · WebView)</a:t>
            </a:r>
            <a:endParaRPr lang="en-US" sz="1575" dirty="0"/>
          </a:p>
        </p:txBody>
      </p:sp>
      <p:sp>
        <p:nvSpPr>
          <p:cNvPr id="18" name="Text 16"/>
          <p:cNvSpPr/>
          <p:nvPr/>
        </p:nvSpPr>
        <p:spPr>
          <a:xfrm>
            <a:off x="12338075" y="3816028"/>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2C5AA0"/>
                </a:solidFill>
                <a:latin typeface="Pretendard" pitchFamily="34" charset="0"/>
                <a:ea typeface="Pretendard" pitchFamily="34" charset="-122"/>
                <a:cs typeface="Pretendard" pitchFamily="34" charset="-120"/>
              </a:rPr>
              <a:t>사람이 통제하는 AI 개발 파이프라인</a:t>
            </a:r>
            <a:endParaRPr lang="en-US" sz="1575" dirty="0"/>
          </a:p>
        </p:txBody>
      </p:sp>
      <p:sp>
        <p:nvSpPr>
          <p:cNvPr id="19" name="Text 17"/>
          <p:cNvSpPr/>
          <p:nvPr/>
        </p:nvSpPr>
        <p:spPr>
          <a:xfrm>
            <a:off x="12338075" y="4268465"/>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2C5AA0"/>
                </a:solidFill>
                <a:latin typeface="Pretendard" pitchFamily="34" charset="0"/>
                <a:ea typeface="Pretendard" pitchFamily="34" charset="-122"/>
                <a:cs typeface="Pretendard" pitchFamily="34" charset="-120"/>
              </a:rPr>
              <a:t>제품 완성도와 정직한 품질 보고</a:t>
            </a:r>
            <a:endParaRPr lang="en-US" sz="1575" dirty="0"/>
          </a:p>
        </p:txBody>
      </p:sp>
      <p:sp>
        <p:nvSpPr>
          <p:cNvPr id="20" name="Text 18"/>
          <p:cNvSpPr/>
          <p:nvPr/>
        </p:nvSpPr>
        <p:spPr>
          <a:xfrm>
            <a:off x="12338075" y="4720903"/>
            <a:ext cx="4763743" cy="3381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75" dirty="0">
                <a:solidFill>
                  <a:srgbClr val="2C5AA0"/>
                </a:solidFill>
                <a:latin typeface="Pretendard" pitchFamily="34" charset="0"/>
                <a:ea typeface="Pretendard" pitchFamily="34" charset="-122"/>
                <a:cs typeface="Pretendard" pitchFamily="34" charset="-120"/>
              </a:rPr>
              <a:t>기획부터 배포까지 전 사이클 경험</a:t>
            </a:r>
            <a:endParaRPr lang="en-US" sz="1575" dirty="0"/>
          </a:p>
        </p:txBody>
      </p:sp>
      <p:sp>
        <p:nvSpPr>
          <p:cNvPr id="21" name="Text 19"/>
          <p:cNvSpPr/>
          <p:nvPr/>
        </p:nvSpPr>
        <p:spPr>
          <a:xfrm>
            <a:off x="1238250" y="9491663"/>
            <a:ext cx="2091571" cy="300038"/>
          </a:xfrm>
          <a:prstGeom prst="rect">
            <a:avLst/>
          </a:prstGeom>
          <a:noFill/>
          <a:ln/>
        </p:spPr>
        <p:txBody>
          <a:bodyPr wrap="square" lIns="25400" tIns="25400" rIns="25400" bIns="25400" rtlCol="0" anchor="t">
            <a:normAutofit/>
          </a:bodyPr>
          <a:lstStyle/>
          <a:p>
            <a:pPr marL="0" indent="0" algn="l">
              <a:buNone/>
            </a:pPr>
            <a:r>
              <a:rPr lang="en-US" sz="1425" kern="0" spc="14" dirty="0">
                <a:solidFill>
                  <a:srgbClr val="B0B8C1"/>
                </a:solidFill>
                <a:latin typeface="Pretendard" pitchFamily="34" charset="0"/>
                <a:ea typeface="Pretendard" pitchFamily="34" charset="-122"/>
                <a:cs typeface="Pretendard" pitchFamily="34" charset="-120"/>
              </a:rPr>
              <a:t>하모니 · 앱인토스 미니앱</a:t>
            </a:r>
            <a:endParaRPr lang="en-US" sz="1425" dirty="0"/>
          </a:p>
        </p:txBody>
      </p:sp>
    </p:spTree>
    <p:extLst>
      <p:ext uri="{BB962C8B-B14F-4D97-AF65-F5344CB8AC3E}">
        <p14:creationId xmlns:p14="http://schemas.microsoft.com/office/powerpoint/2010/main" val="543019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182F6"/>
          </a:solidFill>
          <a:ln/>
        </p:spPr>
        <p:txBody>
          <a:bodyPr/>
          <a:lstStyle/>
          <a:p>
            <a:endParaRPr lang="ko-KR" altLang="en-US"/>
          </a:p>
        </p:txBody>
      </p:sp>
      <p:sp>
        <p:nvSpPr>
          <p:cNvPr id="3" name="Text 1"/>
          <p:cNvSpPr/>
          <p:nvPr/>
        </p:nvSpPr>
        <p:spPr>
          <a:xfrm>
            <a:off x="1238250" y="3739530"/>
            <a:ext cx="17392650" cy="168399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12000" b="1" kern="0" spc="-360" dirty="0">
                <a:solidFill>
                  <a:srgbClr val="FFFFFF"/>
                </a:solidFill>
                <a:latin typeface="Pretendard" pitchFamily="34" charset="0"/>
                <a:ea typeface="Pretendard" pitchFamily="34" charset="-122"/>
                <a:cs typeface="Pretendard" pitchFamily="34" charset="-120"/>
              </a:rPr>
              <a:t>Q&amp;A</a:t>
            </a:r>
            <a:endParaRPr lang="en-US" sz="12000" dirty="0"/>
          </a:p>
        </p:txBody>
      </p:sp>
      <p:sp>
        <p:nvSpPr>
          <p:cNvPr id="4" name="Text 2"/>
          <p:cNvSpPr/>
          <p:nvPr/>
        </p:nvSpPr>
        <p:spPr>
          <a:xfrm>
            <a:off x="1238250" y="5690220"/>
            <a:ext cx="12165330" cy="8953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FFFFFF">
                    <a:alpha val="90000"/>
                  </a:srgbClr>
                </a:solidFill>
                <a:latin typeface="Pretendard" pitchFamily="34" charset="0"/>
                <a:ea typeface="Pretendard" pitchFamily="34" charset="-122"/>
                <a:cs typeface="Pretendard" pitchFamily="34" charset="-120"/>
              </a:rPr>
              <a:t>무엇이든 </a:t>
            </a:r>
            <a:r>
              <a:rPr lang="en-US" sz="2250" dirty="0" err="1">
                <a:solidFill>
                  <a:srgbClr val="FFFFFF">
                    <a:alpha val="90000"/>
                  </a:srgbClr>
                </a:solidFill>
                <a:latin typeface="Pretendard" pitchFamily="34" charset="0"/>
                <a:ea typeface="Pretendard" pitchFamily="34" charset="-122"/>
                <a:cs typeface="Pretendard" pitchFamily="34" charset="-120"/>
              </a:rPr>
              <a:t>물어보세요</a:t>
            </a:r>
            <a:r>
              <a:rPr lang="en-US" sz="2250" dirty="0">
                <a:solidFill>
                  <a:srgbClr val="FFFFFF">
                    <a:alpha val="90000"/>
                  </a:srgbClr>
                </a:solidFill>
                <a:latin typeface="Pretendard" pitchFamily="34" charset="0"/>
                <a:ea typeface="Pretendard" pitchFamily="34" charset="-122"/>
                <a:cs typeface="Pretendard" pitchFamily="34" charset="-120"/>
              </a:rPr>
              <a:t>.</a:t>
            </a:r>
          </a:p>
          <a:p>
            <a:pPr marL="0" indent="0" algn="l">
              <a:lnSpc>
                <a:spcPct val="150000"/>
              </a:lnSpc>
              <a:buNone/>
            </a:pPr>
            <a:r>
              <a:rPr lang="en-US" sz="2250" dirty="0" err="1">
                <a:solidFill>
                  <a:srgbClr val="FFFFFF">
                    <a:alpha val="90000"/>
                  </a:srgbClr>
                </a:solidFill>
                <a:latin typeface="Pretendard" pitchFamily="34" charset="0"/>
                <a:ea typeface="Pretendard" pitchFamily="34" charset="-122"/>
                <a:cs typeface="Pretendard" pitchFamily="34" charset="-120"/>
              </a:rPr>
              <a:t>데이터</a:t>
            </a:r>
            <a:r>
              <a:rPr lang="en-US" sz="2250" dirty="0">
                <a:solidFill>
                  <a:srgbClr val="FFFFFF">
                    <a:alpha val="90000"/>
                  </a:srgbClr>
                </a:solidFill>
                <a:latin typeface="Pretendard" pitchFamily="34" charset="0"/>
                <a:ea typeface="Pretendard" pitchFamily="34" charset="-122"/>
                <a:cs typeface="Pretendard" pitchFamily="34" charset="-120"/>
              </a:rPr>
              <a:t> 모델, 인프라, 보안 DFD, 서비스 흐름도, 와이어프레임, AI 협업 증거를 부록에 준비했습니다.</a:t>
            </a:r>
            <a:endParaRPr lang="en-US" sz="2250" dirty="0"/>
          </a:p>
        </p:txBody>
      </p:sp>
      <p:sp>
        <p:nvSpPr>
          <p:cNvPr id="5" name="Shape 3"/>
          <p:cNvSpPr/>
          <p:nvPr/>
        </p:nvSpPr>
        <p:spPr>
          <a:xfrm>
            <a:off x="1238250" y="8924925"/>
            <a:ext cx="15811500" cy="9525"/>
          </a:xfrm>
          <a:prstGeom prst="rect">
            <a:avLst/>
          </a:prstGeom>
          <a:solidFill>
            <a:srgbClr val="FFFFFF">
              <a:alpha val="26000"/>
            </a:srgbClr>
          </a:solidFill>
          <a:ln/>
        </p:spPr>
        <p:txBody>
          <a:bodyPr/>
          <a:lstStyle/>
          <a:p>
            <a:endParaRPr lang="ko-KR" altLang="en-US"/>
          </a:p>
        </p:txBody>
      </p:sp>
      <p:sp>
        <p:nvSpPr>
          <p:cNvPr id="6" name="Text 4"/>
          <p:cNvSpPr/>
          <p:nvPr/>
        </p:nvSpPr>
        <p:spPr>
          <a:xfrm>
            <a:off x="1238250" y="9220200"/>
            <a:ext cx="434816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Pretendard" pitchFamily="34" charset="0"/>
                <a:ea typeface="Pretendard" pitchFamily="34" charset="-122"/>
                <a:cs typeface="Pretendard" pitchFamily="34" charset="-120"/>
              </a:rPr>
              <a:t>이상혁 </a:t>
            </a:r>
            <a:r>
              <a:rPr lang="en-US" sz="1575" dirty="0">
                <a:solidFill>
                  <a:srgbClr val="FFFFFF">
                    <a:alpha val="70000"/>
                  </a:srgbClr>
                </a:solidFill>
                <a:latin typeface="Pretendard" pitchFamily="34" charset="0"/>
                <a:ea typeface="Pretendard" pitchFamily="34" charset="-122"/>
                <a:cs typeface="Pretendard" pitchFamily="34" charset="-120"/>
              </a:rPr>
              <a:t>제품·정책</a:t>
            </a:r>
            <a:endParaRPr lang="en-US" sz="1650" dirty="0"/>
          </a:p>
        </p:txBody>
      </p:sp>
      <p:sp>
        <p:nvSpPr>
          <p:cNvPr id="7" name="Text 5"/>
          <p:cNvSpPr/>
          <p:nvPr/>
        </p:nvSpPr>
        <p:spPr>
          <a:xfrm>
            <a:off x="5191125" y="9220200"/>
            <a:ext cx="434816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Pretendard" pitchFamily="34" charset="0"/>
                <a:ea typeface="Pretendard" pitchFamily="34" charset="-122"/>
                <a:cs typeface="Pretendard" pitchFamily="34" charset="-120"/>
              </a:rPr>
              <a:t>곽소정 </a:t>
            </a:r>
            <a:r>
              <a:rPr lang="en-US" sz="1575" dirty="0">
                <a:solidFill>
                  <a:srgbClr val="FFFFFF">
                    <a:alpha val="70000"/>
                  </a:srgbClr>
                </a:solidFill>
                <a:latin typeface="Pretendard" pitchFamily="34" charset="0"/>
                <a:ea typeface="Pretendard" pitchFamily="34" charset="-122"/>
                <a:cs typeface="Pretendard" pitchFamily="34" charset="-120"/>
              </a:rPr>
              <a:t>UX·프론트</a:t>
            </a:r>
            <a:endParaRPr lang="en-US" sz="1650" dirty="0"/>
          </a:p>
        </p:txBody>
      </p:sp>
      <p:sp>
        <p:nvSpPr>
          <p:cNvPr id="8" name="Text 6"/>
          <p:cNvSpPr/>
          <p:nvPr/>
        </p:nvSpPr>
        <p:spPr>
          <a:xfrm>
            <a:off x="9144000" y="9220200"/>
            <a:ext cx="434816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Pretendard" pitchFamily="34" charset="0"/>
                <a:ea typeface="Pretendard" pitchFamily="34" charset="-122"/>
                <a:cs typeface="Pretendard" pitchFamily="34" charset="-120"/>
              </a:rPr>
              <a:t>김민혁 </a:t>
            </a:r>
            <a:r>
              <a:rPr lang="en-US" sz="1575" dirty="0">
                <a:solidFill>
                  <a:srgbClr val="FFFFFF">
                    <a:alpha val="70000"/>
                  </a:srgbClr>
                </a:solidFill>
                <a:latin typeface="Pretendard" pitchFamily="34" charset="0"/>
                <a:ea typeface="Pretendard" pitchFamily="34" charset="-122"/>
                <a:cs typeface="Pretendard" pitchFamily="34" charset="-120"/>
              </a:rPr>
              <a:t>백엔드·데이터</a:t>
            </a:r>
            <a:endParaRPr lang="en-US" sz="1650" dirty="0"/>
          </a:p>
        </p:txBody>
      </p:sp>
      <p:sp>
        <p:nvSpPr>
          <p:cNvPr id="9" name="Text 7"/>
          <p:cNvSpPr/>
          <p:nvPr/>
        </p:nvSpPr>
        <p:spPr>
          <a:xfrm>
            <a:off x="13096875" y="9220200"/>
            <a:ext cx="4348163" cy="3429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Pretendard" pitchFamily="34" charset="0"/>
                <a:ea typeface="Pretendard" pitchFamily="34" charset="-122"/>
                <a:cs typeface="Pretendard" pitchFamily="34" charset="-120"/>
              </a:rPr>
              <a:t>양록빈 </a:t>
            </a:r>
            <a:r>
              <a:rPr lang="en-US" sz="1575" dirty="0">
                <a:solidFill>
                  <a:srgbClr val="FFFFFF">
                    <a:alpha val="70000"/>
                  </a:srgbClr>
                </a:solidFill>
                <a:latin typeface="Pretendard" pitchFamily="34" charset="0"/>
                <a:ea typeface="Pretendard" pitchFamily="34" charset="-122"/>
                <a:cs typeface="Pretendard" pitchFamily="34" charset="-120"/>
              </a:rPr>
              <a:t>QA·릴리즈</a:t>
            </a:r>
            <a:endParaRPr lang="en-US" sz="1650" dirty="0"/>
          </a:p>
        </p:txBody>
      </p:sp>
    </p:spTree>
    <p:extLst>
      <p:ext uri="{BB962C8B-B14F-4D97-AF65-F5344CB8AC3E}">
        <p14:creationId xmlns:p14="http://schemas.microsoft.com/office/powerpoint/2010/main" val="3014358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데이터 모델 · ERD</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3780606" y="1868760"/>
            <a:ext cx="10726713" cy="7608540"/>
          </a:xfrm>
          <a:prstGeom prst="rect">
            <a:avLst/>
          </a:prstGeom>
        </p:spPr>
      </p:pic>
    </p:spTree>
    <p:extLst>
      <p:ext uri="{BB962C8B-B14F-4D97-AF65-F5344CB8AC3E}">
        <p14:creationId xmlns:p14="http://schemas.microsoft.com/office/powerpoint/2010/main" val="2575305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배포 인프라 구성도</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2733749" y="1868760"/>
            <a:ext cx="12820501" cy="7608540"/>
          </a:xfrm>
          <a:prstGeom prst="rect">
            <a:avLst/>
          </a:prstGeom>
        </p:spPr>
      </p:pic>
    </p:spTree>
    <p:extLst>
      <p:ext uri="{BB962C8B-B14F-4D97-AF65-F5344CB8AC3E}">
        <p14:creationId xmlns:p14="http://schemas.microsoft.com/office/powerpoint/2010/main" val="2092305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신뢰경계 데이터 흐름 · DFD</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2090738" y="1963043"/>
            <a:ext cx="14106525" cy="7419975"/>
          </a:xfrm>
          <a:prstGeom prst="rect">
            <a:avLst/>
          </a:prstGeom>
        </p:spPr>
      </p:pic>
    </p:spTree>
    <p:extLst>
      <p:ext uri="{BB962C8B-B14F-4D97-AF65-F5344CB8AC3E}">
        <p14:creationId xmlns:p14="http://schemas.microsoft.com/office/powerpoint/2010/main" val="4117780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합주 공유 서비스 흐름도</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3238872" y="1868760"/>
            <a:ext cx="11810256" cy="7608540"/>
          </a:xfrm>
          <a:prstGeom prst="rect">
            <a:avLst/>
          </a:prstGeom>
        </p:spPr>
      </p:pic>
    </p:spTree>
    <p:extLst>
      <p:ext uri="{BB962C8B-B14F-4D97-AF65-F5344CB8AC3E}">
        <p14:creationId xmlns:p14="http://schemas.microsoft.com/office/powerpoint/2010/main" val="891406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라이프사이클 상태도</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3424238" y="2115443"/>
            <a:ext cx="11439525" cy="7115175"/>
          </a:xfrm>
          <a:prstGeom prst="rect">
            <a:avLst/>
          </a:prstGeom>
        </p:spPr>
      </p:pic>
    </p:spTree>
    <p:extLst>
      <p:ext uri="{BB962C8B-B14F-4D97-AF65-F5344CB8AC3E}">
        <p14:creationId xmlns:p14="http://schemas.microsoft.com/office/powerpoint/2010/main" val="3905178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AWS 배포 아키텍처</a:t>
            </a:r>
            <a:endParaRPr lang="en-US" sz="3000" dirty="0"/>
          </a:p>
        </p:txBody>
      </p:sp>
      <p:sp>
        <p:nvSpPr>
          <p:cNvPr id="5" name="Shape 3"/>
          <p:cNvSpPr/>
          <p:nvPr/>
        </p:nvSpPr>
        <p:spPr>
          <a:xfrm>
            <a:off x="800100" y="1630635"/>
            <a:ext cx="16687800" cy="8084865"/>
          </a:xfrm>
          <a:prstGeom prst="roundRect">
            <a:avLst>
              <a:gd name="adj" fmla="val 1885"/>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a:stretch/>
        </p:blipFill>
        <p:spPr>
          <a:xfrm>
            <a:off x="2706886" y="1868760"/>
            <a:ext cx="12874154" cy="7608540"/>
          </a:xfrm>
          <a:prstGeom prst="rect">
            <a:avLst/>
          </a:prstGeom>
        </p:spPr>
      </p:pic>
    </p:spTree>
    <p:extLst>
      <p:ext uri="{BB962C8B-B14F-4D97-AF65-F5344CB8AC3E}">
        <p14:creationId xmlns:p14="http://schemas.microsoft.com/office/powerpoint/2010/main" val="4158123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p:spPr>
        <p:txBody>
          <a:bodyPr/>
          <a:lstStyle/>
          <a:p>
            <a:endParaRPr lang="ko-KR" altLang="en-US"/>
          </a:p>
        </p:txBody>
      </p:sp>
      <p:sp>
        <p:nvSpPr>
          <p:cNvPr id="3" name="Text 1"/>
          <p:cNvSpPr/>
          <p:nvPr/>
        </p:nvSpPr>
        <p:spPr>
          <a:xfrm>
            <a:off x="800100" y="571500"/>
            <a:ext cx="18356580" cy="381000"/>
          </a:xfrm>
          <a:prstGeom prst="rect">
            <a:avLst/>
          </a:prstGeom>
          <a:noFill/>
          <a:ln/>
        </p:spPr>
        <p:txBody>
          <a:bodyPr wrap="square" lIns="25400" tIns="25400" rIns="25400" bIns="25400" rtlCol="0" anchor="t">
            <a:normAutofit/>
          </a:bodyPr>
          <a:lstStyle/>
          <a:p>
            <a:pPr marL="0" indent="0" algn="l">
              <a:buNone/>
            </a:pPr>
            <a:r>
              <a:rPr lang="en-US" sz="1875" b="1" kern="0" spc="56" dirty="0">
                <a:solidFill>
                  <a:srgbClr val="3182F6"/>
                </a:solidFill>
                <a:latin typeface="Pretendard" pitchFamily="34" charset="0"/>
                <a:ea typeface="Pretendard" pitchFamily="34" charset="-122"/>
                <a:cs typeface="Pretendard" pitchFamily="34" charset="-120"/>
              </a:rPr>
              <a:t>부록 · Q&amp;A 대비</a:t>
            </a:r>
            <a:endParaRPr lang="en-US" sz="1875" dirty="0"/>
          </a:p>
        </p:txBody>
      </p:sp>
      <p:sp>
        <p:nvSpPr>
          <p:cNvPr id="4" name="Text 2"/>
          <p:cNvSpPr/>
          <p:nvPr/>
        </p:nvSpPr>
        <p:spPr>
          <a:xfrm>
            <a:off x="800100" y="1009650"/>
            <a:ext cx="18356580" cy="449535"/>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000" b="1" kern="0" spc="-90" dirty="0">
                <a:solidFill>
                  <a:srgbClr val="191F28"/>
                </a:solidFill>
                <a:latin typeface="Pretendard" pitchFamily="34" charset="0"/>
                <a:ea typeface="Pretendard" pitchFamily="34" charset="-122"/>
                <a:cs typeface="Pretendard" pitchFamily="34" charset="-120"/>
              </a:rPr>
              <a:t>기획 손 와이어프레임</a:t>
            </a:r>
            <a:endParaRPr lang="en-US" sz="3000" dirty="0"/>
          </a:p>
        </p:txBody>
      </p:sp>
      <p:sp>
        <p:nvSpPr>
          <p:cNvPr id="5" name="Shape 3"/>
          <p:cNvSpPr/>
          <p:nvPr/>
        </p:nvSpPr>
        <p:spPr>
          <a:xfrm>
            <a:off x="800100" y="1630635"/>
            <a:ext cx="5448300" cy="3956670"/>
          </a:xfrm>
          <a:prstGeom prst="roundRect">
            <a:avLst>
              <a:gd name="adj" fmla="val 3370"/>
            </a:avLst>
          </a:prstGeom>
          <a:solidFill>
            <a:srgbClr val="FFFFFF"/>
          </a:solidFill>
          <a:ln w="9525">
            <a:solidFill>
              <a:srgbClr val="E5E8EB"/>
            </a:solidFill>
            <a:prstDash val="solid"/>
          </a:ln>
        </p:spPr>
        <p:txBody>
          <a:bodyPr/>
          <a:lstStyle/>
          <a:p>
            <a:endParaRPr lang="ko-KR" altLang="en-US"/>
          </a:p>
        </p:txBody>
      </p:sp>
      <p:pic>
        <p:nvPicPr>
          <p:cNvPr id="6" name="Image 0" descr="preencoded.png"/>
          <p:cNvPicPr>
            <a:picLocks noChangeAspect="1"/>
          </p:cNvPicPr>
          <p:nvPr/>
        </p:nvPicPr>
        <p:blipFill>
          <a:blip r:embed="rId3"/>
          <a:srcRect l="-1" r="-1"/>
          <a:stretch/>
        </p:blipFill>
        <p:spPr>
          <a:xfrm>
            <a:off x="1076995" y="1773510"/>
            <a:ext cx="4894511" cy="3670846"/>
          </a:xfrm>
          <a:prstGeom prst="rect">
            <a:avLst/>
          </a:prstGeom>
        </p:spPr>
      </p:pic>
      <p:sp>
        <p:nvSpPr>
          <p:cNvPr id="7" name="Shape 4"/>
          <p:cNvSpPr/>
          <p:nvPr/>
        </p:nvSpPr>
        <p:spPr>
          <a:xfrm>
            <a:off x="6419850" y="1630635"/>
            <a:ext cx="5448300" cy="3956670"/>
          </a:xfrm>
          <a:prstGeom prst="roundRect">
            <a:avLst>
              <a:gd name="adj" fmla="val 3370"/>
            </a:avLst>
          </a:prstGeom>
          <a:solidFill>
            <a:srgbClr val="FFFFFF"/>
          </a:solidFill>
          <a:ln w="9525">
            <a:solidFill>
              <a:srgbClr val="E5E8EB"/>
            </a:solidFill>
            <a:prstDash val="solid"/>
          </a:ln>
        </p:spPr>
        <p:txBody>
          <a:bodyPr/>
          <a:lstStyle/>
          <a:p>
            <a:endParaRPr lang="ko-KR" altLang="en-US"/>
          </a:p>
        </p:txBody>
      </p:sp>
      <p:pic>
        <p:nvPicPr>
          <p:cNvPr id="8" name="Image 1" descr="preencoded.png"/>
          <p:cNvPicPr>
            <a:picLocks noChangeAspect="1"/>
          </p:cNvPicPr>
          <p:nvPr/>
        </p:nvPicPr>
        <p:blipFill>
          <a:blip r:embed="rId4"/>
          <a:srcRect l="-1" r="-1"/>
          <a:stretch/>
        </p:blipFill>
        <p:spPr>
          <a:xfrm>
            <a:off x="6696745" y="1773510"/>
            <a:ext cx="4894511" cy="3670846"/>
          </a:xfrm>
          <a:prstGeom prst="rect">
            <a:avLst/>
          </a:prstGeom>
        </p:spPr>
      </p:pic>
      <p:sp>
        <p:nvSpPr>
          <p:cNvPr id="9" name="Shape 5"/>
          <p:cNvSpPr/>
          <p:nvPr/>
        </p:nvSpPr>
        <p:spPr>
          <a:xfrm>
            <a:off x="12039600" y="1630635"/>
            <a:ext cx="5448300" cy="3956670"/>
          </a:xfrm>
          <a:prstGeom prst="roundRect">
            <a:avLst>
              <a:gd name="adj" fmla="val 3370"/>
            </a:avLst>
          </a:prstGeom>
          <a:solidFill>
            <a:srgbClr val="FFFFFF"/>
          </a:solidFill>
          <a:ln w="9525">
            <a:solidFill>
              <a:srgbClr val="E5E8EB"/>
            </a:solidFill>
            <a:prstDash val="solid"/>
          </a:ln>
        </p:spPr>
        <p:txBody>
          <a:bodyPr/>
          <a:lstStyle/>
          <a:p>
            <a:endParaRPr lang="ko-KR" altLang="en-US"/>
          </a:p>
        </p:txBody>
      </p:sp>
      <p:sp>
        <p:nvSpPr>
          <p:cNvPr id="11" name="Shape 6"/>
          <p:cNvSpPr/>
          <p:nvPr/>
        </p:nvSpPr>
        <p:spPr>
          <a:xfrm>
            <a:off x="800100" y="5758755"/>
            <a:ext cx="5448300" cy="3956745"/>
          </a:xfrm>
          <a:prstGeom prst="roundRect">
            <a:avLst>
              <a:gd name="adj" fmla="val 3370"/>
            </a:avLst>
          </a:prstGeom>
          <a:solidFill>
            <a:srgbClr val="FFFFFF"/>
          </a:solidFill>
          <a:ln w="9525">
            <a:solidFill>
              <a:srgbClr val="E5E8EB"/>
            </a:solidFill>
            <a:prstDash val="solid"/>
          </a:ln>
        </p:spPr>
        <p:txBody>
          <a:bodyPr/>
          <a:lstStyle/>
          <a:p>
            <a:endParaRPr lang="ko-KR" altLang="en-US"/>
          </a:p>
        </p:txBody>
      </p:sp>
      <p:pic>
        <p:nvPicPr>
          <p:cNvPr id="12" name="Image 3" descr="preencoded.png"/>
          <p:cNvPicPr>
            <a:picLocks noChangeAspect="1"/>
          </p:cNvPicPr>
          <p:nvPr/>
        </p:nvPicPr>
        <p:blipFill>
          <a:blip r:embed="rId5"/>
          <a:srcRect/>
          <a:stretch/>
        </p:blipFill>
        <p:spPr>
          <a:xfrm>
            <a:off x="1076920" y="5901630"/>
            <a:ext cx="4894659" cy="3670995"/>
          </a:xfrm>
          <a:prstGeom prst="rect">
            <a:avLst/>
          </a:prstGeom>
        </p:spPr>
      </p:pic>
      <p:sp>
        <p:nvSpPr>
          <p:cNvPr id="13" name="Shape 7"/>
          <p:cNvSpPr/>
          <p:nvPr/>
        </p:nvSpPr>
        <p:spPr>
          <a:xfrm>
            <a:off x="6419850" y="5758755"/>
            <a:ext cx="5448300" cy="3956745"/>
          </a:xfrm>
          <a:prstGeom prst="roundRect">
            <a:avLst>
              <a:gd name="adj" fmla="val 3370"/>
            </a:avLst>
          </a:prstGeom>
          <a:solidFill>
            <a:srgbClr val="FFFFFF"/>
          </a:solidFill>
          <a:ln w="9525">
            <a:solidFill>
              <a:srgbClr val="E5E8EB"/>
            </a:solidFill>
            <a:prstDash val="solid"/>
          </a:ln>
        </p:spPr>
        <p:txBody>
          <a:bodyPr/>
          <a:lstStyle/>
          <a:p>
            <a:endParaRPr lang="ko-KR" altLang="en-US"/>
          </a:p>
        </p:txBody>
      </p:sp>
      <p:pic>
        <p:nvPicPr>
          <p:cNvPr id="14" name="Image 4" descr="preencoded.png"/>
          <p:cNvPicPr>
            <a:picLocks noChangeAspect="1"/>
          </p:cNvPicPr>
          <p:nvPr/>
        </p:nvPicPr>
        <p:blipFill>
          <a:blip r:embed="rId6"/>
          <a:srcRect/>
          <a:stretch/>
        </p:blipFill>
        <p:spPr>
          <a:xfrm>
            <a:off x="6696670" y="5901630"/>
            <a:ext cx="4894659" cy="3670995"/>
          </a:xfrm>
          <a:prstGeom prst="rect">
            <a:avLst/>
          </a:prstGeom>
        </p:spPr>
      </p:pic>
      <p:sp>
        <p:nvSpPr>
          <p:cNvPr id="15" name="Shape 8"/>
          <p:cNvSpPr/>
          <p:nvPr/>
        </p:nvSpPr>
        <p:spPr>
          <a:xfrm>
            <a:off x="12039600" y="5758755"/>
            <a:ext cx="5448300" cy="3956745"/>
          </a:xfrm>
          <a:prstGeom prst="roundRect">
            <a:avLst>
              <a:gd name="adj" fmla="val 3370"/>
            </a:avLst>
          </a:prstGeom>
          <a:solidFill>
            <a:srgbClr val="F7F8FA"/>
          </a:solidFill>
          <a:ln/>
        </p:spPr>
        <p:txBody>
          <a:bodyPr/>
          <a:lstStyle/>
          <a:p>
            <a:endParaRPr lang="ko-KR" altLang="en-US"/>
          </a:p>
        </p:txBody>
      </p:sp>
      <p:sp>
        <p:nvSpPr>
          <p:cNvPr id="16" name="Text 9"/>
          <p:cNvSpPr/>
          <p:nvPr/>
        </p:nvSpPr>
        <p:spPr>
          <a:xfrm>
            <a:off x="14362844" y="7382320"/>
            <a:ext cx="801812" cy="709613"/>
          </a:xfrm>
          <a:prstGeom prst="rect">
            <a:avLst/>
          </a:prstGeom>
          <a:noFill/>
          <a:ln/>
        </p:spPr>
        <p:txBody>
          <a:bodyPr wrap="square" lIns="25400" tIns="25400" rIns="25400" bIns="25400" rtlCol="0" anchor="t">
            <a:normAutofit/>
          </a:bodyPr>
          <a:lstStyle/>
          <a:p>
            <a:pPr marL="0" indent="0" algn="ctr">
              <a:buNone/>
            </a:pPr>
            <a:r>
              <a:rPr lang="en-US" sz="3600" b="1" dirty="0">
                <a:solidFill>
                  <a:srgbClr val="3182F6"/>
                </a:solidFill>
                <a:latin typeface="Pretendard" pitchFamily="34" charset="0"/>
                <a:ea typeface="Pretendard" pitchFamily="34" charset="-122"/>
                <a:cs typeface="Pretendard" pitchFamily="34" charset="-120"/>
              </a:rPr>
              <a:t>5장</a:t>
            </a:r>
            <a:endParaRPr lang="en-US" sz="3600" dirty="0"/>
          </a:p>
        </p:txBody>
      </p:sp>
      <p:pic>
        <p:nvPicPr>
          <p:cNvPr id="18" name="그림 17">
            <a:extLst>
              <a:ext uri="{FF2B5EF4-FFF2-40B4-BE49-F238E27FC236}">
                <a16:creationId xmlns:a16="http://schemas.microsoft.com/office/drawing/2014/main" id="{FE061203-2B77-A825-9151-FB32CCF31564}"/>
              </a:ext>
            </a:extLst>
          </p:cNvPr>
          <p:cNvPicPr>
            <a:picLocks noChangeAspect="1"/>
          </p:cNvPicPr>
          <p:nvPr/>
        </p:nvPicPr>
        <p:blipFill>
          <a:blip r:embed="rId7"/>
          <a:stretch>
            <a:fillRect/>
          </a:stretch>
        </p:blipFill>
        <p:spPr>
          <a:xfrm>
            <a:off x="12335440" y="1709733"/>
            <a:ext cx="4875565" cy="3656674"/>
          </a:xfrm>
          <a:prstGeom prst="rect">
            <a:avLst/>
          </a:prstGeom>
        </p:spPr>
      </p:pic>
    </p:spTree>
    <p:extLst>
      <p:ext uri="{BB962C8B-B14F-4D97-AF65-F5344CB8AC3E}">
        <p14:creationId xmlns:p14="http://schemas.microsoft.com/office/powerpoint/2010/main" val="3858445185"/>
      </p:ext>
    </p:extLst>
  </p:cSld>
  <p:clrMapOvr>
    <a:masterClrMapping/>
  </p:clrMapOvr>
</p:sld>
</file>

<file path=ppt/theme/theme1.xml><?xml version="1.0" encoding="utf-8"?>
<a:theme xmlns:a="http://schemas.openxmlformats.org/drawingml/2006/main" name="Office Theme [1782434645800]">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panose="020F0302020204030204"/>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ajorFont>
      <a:minorFont>
        <a:latin typeface="Pretendard" panose="020F0502020204030204"/>
        <a:ea typeface="Pretendard"/>
        <a:cs typeface="Pretendard"/>
        <a:font script="Jpan" typeface="Pretendard"/>
        <a:font script="Hang" typeface="Pretendard"/>
        <a:font script="Hans" typeface="Pretendard"/>
        <a:font script="Hant" typeface="Pretendard"/>
        <a:font script="Arab" typeface="Pretendard"/>
        <a:font script="Hebr" typeface="Pretendard"/>
        <a:font script="Thai" typeface="Pretendard"/>
        <a:font script="Ethi" typeface="Pretendard"/>
        <a:font script="Beng" typeface="Pretendard"/>
        <a:font script="Gujr" typeface="Pretendard"/>
        <a:font script="Khmr" typeface="Pretendard"/>
        <a:font script="Knda" typeface="Pretendard"/>
        <a:font script="Guru" typeface="Pretendard"/>
        <a:font script="Cans" typeface="Pretendard"/>
        <a:font script="Cher" typeface="Pretendard"/>
        <a:font script="Yiii" typeface="Pretendard"/>
        <a:font script="Tibt" typeface="Pretendard"/>
        <a:font script="Thaa" typeface="Pretendard"/>
        <a:font script="Deva" typeface="Pretendard"/>
        <a:font script="Telu" typeface="Pretendard"/>
        <a:font script="Taml" typeface="Pretendard"/>
        <a:font script="Syrc" typeface="Pretendard"/>
        <a:font script="Orya" typeface="Pretendard"/>
        <a:font script="Mlym" typeface="Pretendard"/>
        <a:font script="Laoo" typeface="Pretendard"/>
        <a:font script="Sinh" typeface="Pretendard"/>
        <a:font script="Mong" typeface="Pretendard"/>
        <a:font script="Viet" typeface="Pretendard"/>
        <a:font script="Uigh" typeface="Pretendard"/>
        <a:font script="Geor" typeface="Pretendard"/>
        <a:font script="Armn" typeface="Pretendard"/>
        <a:font script="Bugi" typeface="Pretendard"/>
        <a:font script="Bopo" typeface="Pretendard"/>
        <a:font script="Java" typeface="Pretendard"/>
        <a:font script="Lisu" typeface="Pretendard"/>
        <a:font script="Mymr" typeface="Pretendard"/>
        <a:font script="Nkoo" typeface="Pretendard"/>
        <a:font script="Olck" typeface="Pretendard"/>
        <a:font script="Osma" typeface="Pretendard"/>
        <a:font script="Phag" typeface="Pretendard"/>
        <a:font script="Syrn" typeface="Pretendard"/>
        <a:font script="Syrj" typeface="Pretendard"/>
        <a:font script="Syre" typeface="Pretendard"/>
        <a:font script="Sora" typeface="Pretendard"/>
        <a:font script="Tale" typeface="Pretendard"/>
        <a:font script="Talu" typeface="Pretendard"/>
        <a:font script="Tfng" typeface="Pretendard"/>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FF9911-7F2F-401D-8CEE-AF529ADB882C}">
  <we:reference id="11d7cf85-ae5a-43b8-bc58-1e1a151cce24" version="1.0.0.1" store="EXCatalog" storeType="EXCatalog"/>
  <we:alternateReferences>
    <we:reference id="WA200010725" version="1.0.0.1" store="ko-KR" storeType="OMEX"/>
  </we:alternateReferences>
  <we:properties>
    <we:property name="claude.fileId" value="&quot;fe42c923-59fb-4801-a181-78ba8e21195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190</TotalTime>
  <Words>4214</Words>
  <Application>Microsoft Office PowerPoint</Application>
  <PresentationFormat>사용자 지정</PresentationFormat>
  <Paragraphs>547</Paragraphs>
  <Slides>39</Slides>
  <Notes>38</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Pretendard</vt:lpstr>
      <vt:lpstr>Pretendard Black</vt:lpstr>
      <vt:lpstr>Pretendard ExtraBold</vt:lpstr>
      <vt:lpstr>Pretendard SemiBold</vt:lpstr>
      <vt:lpstr>Pretendard Thin</vt:lpstr>
      <vt:lpstr>Arial</vt:lpstr>
      <vt:lpstr>Consolas</vt:lpstr>
      <vt:lpstr>Office Theme [1782434645800]</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곽 소정</cp:lastModifiedBy>
  <cp:revision>14</cp:revision>
  <dcterms:created xsi:type="dcterms:W3CDTF">2026-06-25T16:07:31Z</dcterms:created>
  <dcterms:modified xsi:type="dcterms:W3CDTF">2026-06-26T04:38:55Z</dcterms:modified>
</cp:coreProperties>
</file>